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6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8"/>
    <p:restoredTop sz="94706"/>
  </p:normalViewPr>
  <p:slideViewPr>
    <p:cSldViewPr snapToGrid="0" snapToObjects="1">
      <p:cViewPr varScale="1">
        <p:scale>
          <a:sx n="111" d="100"/>
          <a:sy n="111" d="100"/>
        </p:scale>
        <p:origin x="568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56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FDBFE"/>
                </a:solidFill>
              </a:defRPr>
            </a:pPr>
            <a:r>
              <a:t>第二周工作进展汇报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</a:defRPr>
            </a:pPr>
            <a:r>
              <a:t>毕业要求达成度计算平台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FDBFE"/>
                </a:solidFill>
              </a:defRPr>
            </a:pPr>
            <a:r>
              <a:t>模块A第一阶段开发周 - 从认证骨架到真实业务落地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FDBFE"/>
                </a:solidFill>
              </a:defRPr>
            </a:pPr>
            <a:r>
              <a:t>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56DB"/>
                </a:solidFill>
              </a:defRPr>
            </a:pPr>
            <a:r>
              <a:t>汇报目录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</a:defRPr>
            </a:pPr>
            <a:r>
              <a:t>CONTENTS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45489"/>
            <a:ext cx="5029200" cy="9144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1A56DB"/>
                </a:solidFill>
              </a:rPr>
              <a:t>01  </a:t>
            </a:r>
            <a:r>
              <a:rPr sz="1800" b="1" dirty="0" err="1">
                <a:solidFill>
                  <a:srgbClr val="1E293B"/>
                </a:solidFill>
              </a:rPr>
              <a:t>本周目标与定位</a:t>
            </a:r>
            <a:endParaRPr sz="1800" b="1" dirty="0">
              <a:solidFill>
                <a:srgbClr val="1E293B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17920" y="2245489"/>
            <a:ext cx="5029200" cy="9144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1A56DB"/>
                </a:solidFill>
              </a:rPr>
              <a:t>02  </a:t>
            </a:r>
            <a:r>
              <a:rPr sz="1800" b="1" dirty="0" err="1">
                <a:solidFill>
                  <a:srgbClr val="1E293B"/>
                </a:solidFill>
              </a:rPr>
              <a:t>第一周工作回顾</a:t>
            </a:r>
            <a:endParaRPr sz="1800" b="1" dirty="0">
              <a:solidFill>
                <a:srgbClr val="1E293B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3342769"/>
            <a:ext cx="5029200" cy="9144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1A56DB"/>
                </a:solidFill>
              </a:rPr>
              <a:t>03  </a:t>
            </a:r>
            <a:r>
              <a:rPr sz="1800" b="1" dirty="0" err="1">
                <a:solidFill>
                  <a:srgbClr val="1E293B"/>
                </a:solidFill>
              </a:rPr>
              <a:t>第二周任务总览</a:t>
            </a:r>
            <a:endParaRPr sz="1800" b="1" dirty="0">
              <a:solidFill>
                <a:srgbClr val="1E293B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0" y="3342769"/>
            <a:ext cx="5029200" cy="9144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1A56DB"/>
                </a:solidFill>
              </a:rPr>
              <a:t>04  </a:t>
            </a:r>
            <a:r>
              <a:rPr sz="1800" b="1" dirty="0" err="1">
                <a:solidFill>
                  <a:srgbClr val="1E293B"/>
                </a:solidFill>
              </a:rPr>
              <a:t>前端开发进展</a:t>
            </a:r>
            <a:endParaRPr sz="1800" b="1" dirty="0">
              <a:solidFill>
                <a:srgbClr val="1E293B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31520" y="4440049"/>
            <a:ext cx="5029200" cy="9144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1A56DB"/>
                </a:solidFill>
              </a:rPr>
              <a:t>05  </a:t>
            </a:r>
            <a:r>
              <a:rPr sz="1800" b="1" dirty="0" err="1">
                <a:solidFill>
                  <a:srgbClr val="1E293B"/>
                </a:solidFill>
              </a:rPr>
              <a:t>后端开发进展</a:t>
            </a:r>
            <a:endParaRPr sz="1800" b="1" dirty="0">
              <a:solidFill>
                <a:srgbClr val="1E293B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17920" y="4440049"/>
            <a:ext cx="5029200" cy="9144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1A56DB"/>
                </a:solidFill>
              </a:rPr>
              <a:t>06  </a:t>
            </a:r>
            <a:r>
              <a:rPr sz="1800" b="1" dirty="0" err="1">
                <a:solidFill>
                  <a:srgbClr val="1E293B"/>
                </a:solidFill>
              </a:rPr>
              <a:t>成员成果展示</a:t>
            </a:r>
            <a:endParaRPr sz="1800" b="1" dirty="0">
              <a:solidFill>
                <a:srgbClr val="1E293B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6DB"/>
                </a:solidFill>
              </a:defRPr>
            </a:pPr>
            <a:r>
              <a:t>01 本周目标与定位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515600" cy="109728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1A56DB"/>
                </a:solidFill>
              </a:defRPr>
            </a:pPr>
            <a:r>
              <a:rPr dirty="0" err="1"/>
              <a:t>核心定位</a:t>
            </a:r>
            <a:endParaRPr dirty="0"/>
          </a:p>
          <a:p>
            <a:pPr algn="ctr">
              <a:defRPr sz="1600">
                <a:solidFill>
                  <a:srgbClr val="1E293B"/>
                </a:solidFill>
              </a:defRPr>
            </a:pPr>
            <a:r>
              <a:rPr dirty="0" err="1"/>
              <a:t>从认证骨架周进入真实业务落地周，不再以占位页和基础框架为目标</a:t>
            </a:r>
            <a:r>
              <a:rPr dirty="0"/>
              <a:t>，</a:t>
            </a:r>
            <a:endParaRPr lang="en-US" dirty="0"/>
          </a:p>
          <a:p>
            <a:pPr algn="ctr">
              <a:defRPr sz="1600">
                <a:solidFill>
                  <a:srgbClr val="1E293B"/>
                </a:solidFill>
              </a:defRPr>
            </a:pPr>
            <a:r>
              <a:rPr dirty="0" err="1"/>
              <a:t>正式把模块A的第一批真实业务能力做出来</a:t>
            </a:r>
            <a:r>
              <a:rPr lang="zh-CN" altLang="en-US" dirty="0"/>
              <a:t>。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5029200" cy="16459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A56DB"/>
                </a:solidFill>
              </a:defRPr>
            </a:pPr>
            <a:r>
              <a:rPr dirty="0"/>
              <a:t>核心目标1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rPr sz="1600" dirty="0" err="1"/>
              <a:t>把基础字典、毕业要求、指标点做成可用的前后端闭环</a:t>
            </a:r>
            <a:endParaRPr sz="1600" dirty="0"/>
          </a:p>
        </p:txBody>
      </p:sp>
      <p:sp>
        <p:nvSpPr>
          <p:cNvPr id="5" name="Rounded Rectangle 4"/>
          <p:cNvSpPr/>
          <p:nvPr/>
        </p:nvSpPr>
        <p:spPr>
          <a:xfrm>
            <a:off x="6217920" y="2743200"/>
            <a:ext cx="5029200" cy="16459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A56DB"/>
                </a:solidFill>
              </a:defRPr>
            </a:pPr>
            <a:r>
              <a:rPr dirty="0"/>
              <a:t>核心目标2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rPr sz="1600" dirty="0" err="1">
                <a:solidFill>
                  <a:srgbClr val="1E293B"/>
                </a:solidFill>
              </a:rPr>
              <a:t>把管理员账号与角色管理稳定下来，作为后续全角色联调入口</a:t>
            </a:r>
            <a:endParaRPr sz="1600" dirty="0">
              <a:solidFill>
                <a:srgbClr val="1E293B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4572000"/>
            <a:ext cx="5029200" cy="16459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A56DB"/>
                </a:solidFill>
              </a:defRPr>
            </a:pPr>
            <a:r>
              <a:rPr dirty="0" err="1"/>
              <a:t>验收标准</a:t>
            </a:r>
            <a:endParaRPr dirty="0"/>
          </a:p>
          <a:p>
            <a:pPr>
              <a:defRPr sz="1400">
                <a:solidFill>
                  <a:srgbClr val="1E293B"/>
                </a:solidFill>
              </a:defRPr>
            </a:pPr>
            <a:r>
              <a:rPr sz="1600" dirty="0">
                <a:solidFill>
                  <a:srgbClr val="1E293B"/>
                </a:solidFill>
              </a:rPr>
              <a:t>- 至少4类基础数据对象实现真实CRUD</a:t>
            </a:r>
            <a:br>
              <a:rPr sz="1600" dirty="0">
                <a:solidFill>
                  <a:srgbClr val="1E293B"/>
                </a:solidFill>
              </a:rPr>
            </a:br>
            <a:r>
              <a:rPr sz="1600" dirty="0">
                <a:solidFill>
                  <a:srgbClr val="1E293B"/>
                </a:solidFill>
              </a:rPr>
              <a:t>- </a:t>
            </a:r>
            <a:r>
              <a:rPr sz="1600" dirty="0" err="1">
                <a:solidFill>
                  <a:srgbClr val="1E293B"/>
                </a:solidFill>
              </a:rPr>
              <a:t>毕业要求与指标点实现真实CRUD</a:t>
            </a:r>
            <a:br>
              <a:rPr sz="1600" dirty="0">
                <a:solidFill>
                  <a:srgbClr val="1E293B"/>
                </a:solidFill>
              </a:rPr>
            </a:br>
            <a:r>
              <a:rPr sz="1600" dirty="0">
                <a:solidFill>
                  <a:srgbClr val="1E293B"/>
                </a:solidFill>
              </a:rPr>
              <a:t>- </a:t>
            </a:r>
            <a:r>
              <a:rPr sz="1600" dirty="0" err="1">
                <a:solidFill>
                  <a:srgbClr val="1E293B"/>
                </a:solidFill>
              </a:rPr>
              <a:t>管理员功能联调完成</a:t>
            </a:r>
            <a:endParaRPr sz="1600" dirty="0">
              <a:solidFill>
                <a:srgbClr val="1E293B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17920" y="4572000"/>
            <a:ext cx="5029200" cy="16459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A56DB"/>
                </a:solidFill>
              </a:defRPr>
            </a:pPr>
            <a:r>
              <a:rPr dirty="0" err="1"/>
              <a:t>并行策略</a:t>
            </a:r>
            <a:endParaRPr dirty="0"/>
          </a:p>
          <a:p>
            <a:pPr>
              <a:defRPr sz="1400">
                <a:solidFill>
                  <a:srgbClr val="1E293B"/>
                </a:solidFill>
              </a:defRPr>
            </a:pPr>
            <a:r>
              <a:rPr sz="1600" dirty="0">
                <a:solidFill>
                  <a:srgbClr val="1E293B"/>
                </a:solidFill>
              </a:rPr>
              <a:t>- 前端3人并行推进3组页面</a:t>
            </a:r>
            <a:br>
              <a:rPr sz="1600" dirty="0">
                <a:solidFill>
                  <a:srgbClr val="1E293B"/>
                </a:solidFill>
              </a:rPr>
            </a:br>
            <a:r>
              <a:rPr sz="1600" dirty="0">
                <a:solidFill>
                  <a:srgbClr val="1E293B"/>
                </a:solidFill>
              </a:rPr>
              <a:t>- 后端3人并行推进3组接口</a:t>
            </a:r>
            <a:br>
              <a:rPr sz="1600" dirty="0">
                <a:solidFill>
                  <a:srgbClr val="1E293B"/>
                </a:solidFill>
              </a:rPr>
            </a:br>
            <a:r>
              <a:rPr sz="1600" dirty="0">
                <a:solidFill>
                  <a:srgbClr val="1E293B"/>
                </a:solidFill>
              </a:rPr>
              <a:t>- 数据库1人统一收口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6DB"/>
                </a:solidFill>
              </a:defRPr>
            </a:pPr>
            <a:r>
              <a:t>02 第一周工作回顾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22860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A56DB"/>
                </a:solidFill>
              </a:defRPr>
            </a:pPr>
            <a:r>
              <a:rPr dirty="0" err="1"/>
              <a:t>前端已完成</a:t>
            </a:r>
            <a:endParaRPr dirty="0"/>
          </a:p>
          <a:p>
            <a:pPr>
              <a:defRPr sz="1400">
                <a:solidFill>
                  <a:srgbClr val="1E293B"/>
                </a:solidFill>
              </a:defRPr>
            </a:pPr>
            <a:r>
              <a:rPr sz="1600" dirty="0">
                <a:solidFill>
                  <a:srgbClr val="1E293B"/>
                </a:solidFill>
              </a:rPr>
              <a:t>- </a:t>
            </a:r>
            <a:r>
              <a:rPr sz="1600" dirty="0" err="1">
                <a:solidFill>
                  <a:srgbClr val="1E293B"/>
                </a:solidFill>
              </a:rPr>
              <a:t>基础工程搭建完成</a:t>
            </a:r>
            <a:br>
              <a:rPr sz="1600" dirty="0">
                <a:solidFill>
                  <a:srgbClr val="1E293B"/>
                </a:solidFill>
              </a:rPr>
            </a:br>
            <a:r>
              <a:rPr sz="1600" dirty="0">
                <a:solidFill>
                  <a:srgbClr val="1E293B"/>
                </a:solidFill>
              </a:rPr>
              <a:t>- 登录页、后台Layout、首页、404页面</a:t>
            </a:r>
            <a:br>
              <a:rPr sz="1600" dirty="0">
                <a:solidFill>
                  <a:srgbClr val="1E293B"/>
                </a:solidFill>
              </a:rPr>
            </a:br>
            <a:r>
              <a:rPr sz="1600" dirty="0">
                <a:solidFill>
                  <a:srgbClr val="1E293B"/>
                </a:solidFill>
              </a:rPr>
              <a:t>- </a:t>
            </a:r>
            <a:r>
              <a:rPr sz="1600" dirty="0" err="1">
                <a:solidFill>
                  <a:srgbClr val="1E293B"/>
                </a:solidFill>
              </a:rPr>
              <a:t>token存储与用户信息恢复</a:t>
            </a:r>
            <a:br>
              <a:rPr sz="1600" dirty="0">
                <a:solidFill>
                  <a:srgbClr val="1E293B"/>
                </a:solidFill>
              </a:rPr>
            </a:br>
            <a:r>
              <a:rPr sz="1600" dirty="0">
                <a:solidFill>
                  <a:srgbClr val="1E293B"/>
                </a:solidFill>
              </a:rPr>
              <a:t>- </a:t>
            </a:r>
            <a:r>
              <a:rPr sz="1600" dirty="0" err="1">
                <a:solidFill>
                  <a:srgbClr val="1E293B"/>
                </a:solidFill>
              </a:rPr>
              <a:t>左侧菜单按角色动态显示</a:t>
            </a:r>
            <a:endParaRPr sz="1600" dirty="0">
              <a:solidFill>
                <a:srgbClr val="1E293B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029200" cy="22860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A56DB"/>
                </a:solidFill>
              </a:defRPr>
            </a:pPr>
            <a:r>
              <a:rPr dirty="0" err="1"/>
              <a:t>后端已完成</a:t>
            </a:r>
            <a:endParaRPr dirty="0"/>
          </a:p>
          <a:p>
            <a:pPr>
              <a:defRPr sz="1400">
                <a:solidFill>
                  <a:srgbClr val="1E293B"/>
                </a:solidFill>
              </a:defRPr>
            </a:pPr>
            <a:r>
              <a:rPr sz="1600" dirty="0">
                <a:solidFill>
                  <a:srgbClr val="1E293B"/>
                </a:solidFill>
              </a:rPr>
              <a:t>- </a:t>
            </a:r>
            <a:r>
              <a:rPr sz="1600" dirty="0" err="1">
                <a:solidFill>
                  <a:srgbClr val="1E293B"/>
                </a:solidFill>
              </a:rPr>
              <a:t>JWT登录鉴权</a:t>
            </a:r>
            <a:br>
              <a:rPr sz="1600" dirty="0">
                <a:solidFill>
                  <a:srgbClr val="1E293B"/>
                </a:solidFill>
              </a:rPr>
            </a:br>
            <a:r>
              <a:rPr sz="1600" dirty="0">
                <a:solidFill>
                  <a:srgbClr val="1E293B"/>
                </a:solidFill>
              </a:rPr>
              <a:t>- </a:t>
            </a:r>
            <a:r>
              <a:rPr sz="1600" dirty="0" err="1">
                <a:solidFill>
                  <a:srgbClr val="1E293B"/>
                </a:solidFill>
              </a:rPr>
              <a:t>统一返回格式、全局异常处理</a:t>
            </a:r>
            <a:br>
              <a:rPr sz="1600" dirty="0">
                <a:solidFill>
                  <a:srgbClr val="1E293B"/>
                </a:solidFill>
              </a:rPr>
            </a:br>
            <a:r>
              <a:rPr sz="1600" dirty="0">
                <a:solidFill>
                  <a:srgbClr val="1E293B"/>
                </a:solidFill>
              </a:rPr>
              <a:t>- </a:t>
            </a:r>
            <a:r>
              <a:rPr sz="1600" dirty="0" err="1">
                <a:solidFill>
                  <a:srgbClr val="1E293B"/>
                </a:solidFill>
              </a:rPr>
              <a:t>健康检查接口</a:t>
            </a:r>
            <a:br>
              <a:rPr sz="1600" dirty="0">
                <a:solidFill>
                  <a:srgbClr val="1E293B"/>
                </a:solidFill>
              </a:rPr>
            </a:br>
            <a:r>
              <a:rPr sz="1600" dirty="0">
                <a:solidFill>
                  <a:srgbClr val="1E293B"/>
                </a:solidFill>
              </a:rPr>
              <a:t>- </a:t>
            </a:r>
            <a:r>
              <a:rPr sz="1600" dirty="0" err="1">
                <a:solidFill>
                  <a:srgbClr val="1E293B"/>
                </a:solidFill>
              </a:rPr>
              <a:t>管理员账号管理接口</a:t>
            </a:r>
            <a:endParaRPr sz="1600" dirty="0">
              <a:solidFill>
                <a:srgbClr val="1E293B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029200" cy="22860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A56DB"/>
                </a:solidFill>
              </a:defRPr>
            </a:pPr>
            <a:r>
              <a:rPr dirty="0" err="1"/>
              <a:t>数据库已完成</a:t>
            </a:r>
            <a:endParaRPr dirty="0"/>
          </a:p>
          <a:p>
            <a:pPr>
              <a:defRPr sz="1400">
                <a:solidFill>
                  <a:srgbClr val="1E293B"/>
                </a:solidFill>
              </a:defRPr>
            </a:pPr>
            <a:r>
              <a:rPr sz="1600" dirty="0">
                <a:solidFill>
                  <a:srgbClr val="1E293B"/>
                </a:solidFill>
              </a:rPr>
              <a:t>- </a:t>
            </a:r>
            <a:r>
              <a:rPr sz="1600" dirty="0" err="1">
                <a:solidFill>
                  <a:srgbClr val="1E293B"/>
                </a:solidFill>
              </a:rPr>
              <a:t>MySQL配置接入</a:t>
            </a:r>
            <a:br>
              <a:rPr sz="1600" dirty="0">
                <a:solidFill>
                  <a:srgbClr val="1E293B"/>
                </a:solidFill>
              </a:rPr>
            </a:br>
            <a:r>
              <a:rPr sz="1600" dirty="0">
                <a:solidFill>
                  <a:srgbClr val="1E293B"/>
                </a:solidFill>
              </a:rPr>
              <a:t>- </a:t>
            </a:r>
            <a:r>
              <a:rPr sz="1600" dirty="0" err="1">
                <a:solidFill>
                  <a:srgbClr val="1E293B"/>
                </a:solidFill>
              </a:rPr>
              <a:t>较完整业务表设计稿</a:t>
            </a:r>
            <a:br>
              <a:rPr sz="1600" dirty="0">
                <a:solidFill>
                  <a:srgbClr val="1E293B"/>
                </a:solidFill>
              </a:rPr>
            </a:br>
            <a:r>
              <a:rPr sz="1600" dirty="0">
                <a:solidFill>
                  <a:srgbClr val="1E293B"/>
                </a:solidFill>
              </a:rPr>
              <a:t>- </a:t>
            </a:r>
            <a:r>
              <a:rPr sz="1600" dirty="0" err="1">
                <a:solidFill>
                  <a:srgbClr val="1E293B"/>
                </a:solidFill>
              </a:rPr>
              <a:t>RBAC相关表结构</a:t>
            </a:r>
            <a:endParaRPr sz="1600" dirty="0">
              <a:solidFill>
                <a:srgbClr val="1E293B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17920" y="3931920"/>
            <a:ext cx="5029200" cy="22860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A56DB"/>
                </a:solidFill>
              </a:defRPr>
            </a:pPr>
            <a:r>
              <a:rPr dirty="0" err="1"/>
              <a:t>技术栈确认</a:t>
            </a:r>
            <a:endParaRPr dirty="0"/>
          </a:p>
          <a:p>
            <a:pPr>
              <a:defRPr sz="1400">
                <a:solidFill>
                  <a:srgbClr val="1E293B"/>
                </a:solidFill>
              </a:defRPr>
            </a:pPr>
            <a:r>
              <a:rPr sz="1600" dirty="0">
                <a:solidFill>
                  <a:srgbClr val="1E293B"/>
                </a:solidFill>
              </a:rPr>
              <a:t>- </a:t>
            </a:r>
            <a:r>
              <a:rPr sz="1600" dirty="0" err="1">
                <a:solidFill>
                  <a:srgbClr val="1E293B"/>
                </a:solidFill>
              </a:rPr>
              <a:t>前端：Vue</a:t>
            </a:r>
            <a:r>
              <a:rPr sz="1600" dirty="0">
                <a:solidFill>
                  <a:srgbClr val="1E293B"/>
                </a:solidFill>
              </a:rPr>
              <a:t> 3 + Element Plus</a:t>
            </a:r>
            <a:br>
              <a:rPr sz="1600" dirty="0">
                <a:solidFill>
                  <a:srgbClr val="1E293B"/>
                </a:solidFill>
              </a:rPr>
            </a:br>
            <a:r>
              <a:rPr sz="1600" dirty="0">
                <a:solidFill>
                  <a:srgbClr val="1E293B"/>
                </a:solidFill>
              </a:rPr>
              <a:t>- </a:t>
            </a:r>
            <a:r>
              <a:rPr sz="1600" dirty="0" err="1">
                <a:solidFill>
                  <a:srgbClr val="1E293B"/>
                </a:solidFill>
              </a:rPr>
              <a:t>后端：Java</a:t>
            </a:r>
            <a:r>
              <a:rPr sz="1600" dirty="0">
                <a:solidFill>
                  <a:srgbClr val="1E293B"/>
                </a:solidFill>
              </a:rPr>
              <a:t> Spring Boot</a:t>
            </a:r>
            <a:br>
              <a:rPr sz="1600" dirty="0">
                <a:solidFill>
                  <a:srgbClr val="1E293B"/>
                </a:solidFill>
              </a:rPr>
            </a:br>
            <a:r>
              <a:rPr sz="1600" dirty="0">
                <a:solidFill>
                  <a:srgbClr val="1E293B"/>
                </a:solidFill>
              </a:rPr>
              <a:t>- </a:t>
            </a:r>
            <a:r>
              <a:rPr sz="1600" dirty="0" err="1">
                <a:solidFill>
                  <a:srgbClr val="1E293B"/>
                </a:solidFill>
              </a:rPr>
              <a:t>数据库：MySQL</a:t>
            </a:r>
            <a:r>
              <a:rPr sz="1600" dirty="0">
                <a:solidFill>
                  <a:srgbClr val="1E293B"/>
                </a:solidFill>
              </a:rPr>
              <a:t> 8.0+</a:t>
            </a:r>
            <a:br>
              <a:rPr sz="1600" dirty="0">
                <a:solidFill>
                  <a:srgbClr val="1E293B"/>
                </a:solidFill>
              </a:rPr>
            </a:br>
            <a:r>
              <a:rPr sz="1600" dirty="0">
                <a:solidFill>
                  <a:srgbClr val="1E293B"/>
                </a:solidFill>
              </a:rPr>
              <a:t>- </a:t>
            </a:r>
            <a:r>
              <a:rPr sz="1600" dirty="0" err="1">
                <a:solidFill>
                  <a:srgbClr val="1E293B"/>
                </a:solidFill>
              </a:rPr>
              <a:t>版本控制：Git</a:t>
            </a:r>
            <a:r>
              <a:rPr sz="1600" dirty="0">
                <a:solidFill>
                  <a:srgbClr val="1E293B"/>
                </a:solidFill>
              </a:rPr>
              <a:t> + GitHub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6DB"/>
                </a:solidFill>
              </a:defRPr>
            </a:pPr>
            <a:r>
              <a:t>03 第二周任务总览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22860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A56DB"/>
                </a:solidFill>
              </a:defRPr>
            </a:pPr>
            <a:r>
              <a:rPr dirty="0" err="1"/>
              <a:t>必须完成</a:t>
            </a:r>
            <a:endParaRPr dirty="0"/>
          </a:p>
          <a:p>
            <a:pPr>
              <a:defRPr sz="1400">
                <a:solidFill>
                  <a:srgbClr val="1E293B"/>
                </a:solidFill>
              </a:defRPr>
            </a:pPr>
            <a:r>
              <a:rPr sz="1600" dirty="0">
                <a:solidFill>
                  <a:srgbClr val="1E293B"/>
                </a:solidFill>
              </a:rPr>
              <a:t>- </a:t>
            </a:r>
            <a:r>
              <a:rPr sz="1600" dirty="0" err="1">
                <a:solidFill>
                  <a:srgbClr val="1E293B"/>
                </a:solidFill>
              </a:rPr>
              <a:t>学年学期管理</a:t>
            </a:r>
            <a:br>
              <a:rPr sz="1600" dirty="0">
                <a:solidFill>
                  <a:srgbClr val="1E293B"/>
                </a:solidFill>
              </a:rPr>
            </a:br>
            <a:r>
              <a:rPr sz="1600" dirty="0">
                <a:solidFill>
                  <a:srgbClr val="1E293B"/>
                </a:solidFill>
              </a:rPr>
              <a:t>- </a:t>
            </a:r>
            <a:r>
              <a:rPr sz="1600" dirty="0" err="1">
                <a:solidFill>
                  <a:srgbClr val="1E293B"/>
                </a:solidFill>
              </a:rPr>
              <a:t>学院管理</a:t>
            </a:r>
            <a:br>
              <a:rPr sz="1600" dirty="0">
                <a:solidFill>
                  <a:srgbClr val="1E293B"/>
                </a:solidFill>
              </a:rPr>
            </a:br>
            <a:r>
              <a:rPr sz="1600" dirty="0">
                <a:solidFill>
                  <a:srgbClr val="1E293B"/>
                </a:solidFill>
              </a:rPr>
              <a:t>- </a:t>
            </a:r>
            <a:r>
              <a:rPr sz="1600" dirty="0" err="1">
                <a:solidFill>
                  <a:srgbClr val="1E293B"/>
                </a:solidFill>
              </a:rPr>
              <a:t>专业管理</a:t>
            </a:r>
            <a:br>
              <a:rPr sz="1600" dirty="0">
                <a:solidFill>
                  <a:srgbClr val="1E293B"/>
                </a:solidFill>
              </a:rPr>
            </a:br>
            <a:r>
              <a:rPr sz="1600" dirty="0">
                <a:solidFill>
                  <a:srgbClr val="1E293B"/>
                </a:solidFill>
              </a:rPr>
              <a:t>- </a:t>
            </a:r>
            <a:r>
              <a:rPr sz="1600" dirty="0" err="1">
                <a:solidFill>
                  <a:srgbClr val="1E293B"/>
                </a:solidFill>
              </a:rPr>
              <a:t>课程基础信息管理</a:t>
            </a:r>
            <a:br>
              <a:rPr sz="1600" dirty="0">
                <a:solidFill>
                  <a:srgbClr val="1E293B"/>
                </a:solidFill>
              </a:rPr>
            </a:br>
            <a:r>
              <a:rPr sz="1600" dirty="0">
                <a:solidFill>
                  <a:srgbClr val="1E293B"/>
                </a:solidFill>
              </a:rPr>
              <a:t>- </a:t>
            </a:r>
            <a:r>
              <a:rPr sz="1600" dirty="0" err="1">
                <a:solidFill>
                  <a:srgbClr val="1E293B"/>
                </a:solidFill>
              </a:rPr>
              <a:t>毕业要求管理</a:t>
            </a:r>
            <a:br>
              <a:rPr sz="1600" dirty="0">
                <a:solidFill>
                  <a:srgbClr val="1E293B"/>
                </a:solidFill>
              </a:rPr>
            </a:br>
            <a:r>
              <a:rPr sz="1600" dirty="0">
                <a:solidFill>
                  <a:srgbClr val="1E293B"/>
                </a:solidFill>
              </a:rPr>
              <a:t>- </a:t>
            </a:r>
            <a:r>
              <a:rPr sz="1600" dirty="0" err="1">
                <a:solidFill>
                  <a:srgbClr val="1E293B"/>
                </a:solidFill>
              </a:rPr>
              <a:t>指标点管理</a:t>
            </a:r>
            <a:endParaRPr sz="1600" dirty="0">
              <a:solidFill>
                <a:srgbClr val="1E293B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029200" cy="22860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A56DB"/>
                </a:solidFill>
              </a:defRPr>
            </a:pPr>
            <a:r>
              <a:rPr dirty="0" err="1"/>
              <a:t>可以启动</a:t>
            </a:r>
            <a:endParaRPr dirty="0"/>
          </a:p>
          <a:p>
            <a:pPr>
              <a:defRPr sz="1400">
                <a:solidFill>
                  <a:srgbClr val="1E293B"/>
                </a:solidFill>
              </a:defRPr>
            </a:pPr>
            <a:r>
              <a:rPr sz="1600" dirty="0">
                <a:solidFill>
                  <a:srgbClr val="1E293B"/>
                </a:solidFill>
              </a:rPr>
              <a:t>- </a:t>
            </a:r>
            <a:r>
              <a:rPr sz="1600" dirty="0" err="1">
                <a:solidFill>
                  <a:srgbClr val="1E293B"/>
                </a:solidFill>
              </a:rPr>
              <a:t>模块A通用表格与弹窗表单组件抽象</a:t>
            </a:r>
            <a:br>
              <a:rPr sz="1600" dirty="0">
                <a:solidFill>
                  <a:srgbClr val="1E293B"/>
                </a:solidFill>
              </a:rPr>
            </a:br>
            <a:r>
              <a:rPr sz="1600" dirty="0">
                <a:solidFill>
                  <a:srgbClr val="1E293B"/>
                </a:solidFill>
              </a:rPr>
              <a:t>- </a:t>
            </a:r>
            <a:r>
              <a:rPr sz="1600" dirty="0" err="1">
                <a:solidFill>
                  <a:srgbClr val="1E293B"/>
                </a:solidFill>
              </a:rPr>
              <a:t>第三周宏观支撑矩阵的页面原型</a:t>
            </a:r>
            <a:br>
              <a:rPr sz="1600" dirty="0">
                <a:solidFill>
                  <a:srgbClr val="1E293B"/>
                </a:solidFill>
              </a:rPr>
            </a:br>
            <a:r>
              <a:rPr sz="1600" dirty="0">
                <a:solidFill>
                  <a:srgbClr val="1E293B"/>
                </a:solidFill>
              </a:rPr>
              <a:t>- </a:t>
            </a:r>
            <a:r>
              <a:rPr sz="1600" dirty="0" err="1">
                <a:solidFill>
                  <a:srgbClr val="1E293B"/>
                </a:solidFill>
              </a:rPr>
              <a:t>班级</a:t>
            </a:r>
            <a:r>
              <a:rPr sz="1600" dirty="0">
                <a:solidFill>
                  <a:srgbClr val="1E293B"/>
                </a:solidFill>
              </a:rPr>
              <a:t>/</a:t>
            </a:r>
            <a:r>
              <a:rPr sz="1600" dirty="0" err="1">
                <a:solidFill>
                  <a:srgbClr val="1E293B"/>
                </a:solidFill>
              </a:rPr>
              <a:t>学生数据结构预留</a:t>
            </a:r>
            <a:endParaRPr sz="1600" dirty="0">
              <a:solidFill>
                <a:srgbClr val="1E293B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3931920"/>
            <a:ext cx="5029200" cy="22860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A56DB"/>
                </a:solidFill>
              </a:defRPr>
            </a:pPr>
            <a:r>
              <a:rPr dirty="0" err="1"/>
              <a:t>前端分工</a:t>
            </a:r>
            <a:endParaRPr dirty="0"/>
          </a:p>
          <a:p>
            <a:pPr>
              <a:defRPr sz="1400">
                <a:solidFill>
                  <a:srgbClr val="1E293B"/>
                </a:solidFill>
              </a:defRPr>
            </a:pPr>
            <a:r>
              <a:rPr sz="1600" dirty="0">
                <a:solidFill>
                  <a:srgbClr val="1E293B"/>
                </a:solidFill>
              </a:rPr>
              <a:t>- </a:t>
            </a:r>
            <a:r>
              <a:rPr sz="1600" dirty="0" err="1">
                <a:solidFill>
                  <a:srgbClr val="1E293B"/>
                </a:solidFill>
              </a:rPr>
              <a:t>王子嘉：学年学期、学院页面</a:t>
            </a:r>
            <a:br>
              <a:rPr sz="1600" dirty="0">
                <a:solidFill>
                  <a:srgbClr val="1E293B"/>
                </a:solidFill>
              </a:rPr>
            </a:br>
            <a:r>
              <a:rPr sz="1600" dirty="0">
                <a:solidFill>
                  <a:srgbClr val="1E293B"/>
                </a:solidFill>
              </a:rPr>
              <a:t>- </a:t>
            </a:r>
            <a:r>
              <a:rPr sz="1600" dirty="0" err="1">
                <a:solidFill>
                  <a:srgbClr val="1E293B"/>
                </a:solidFill>
              </a:rPr>
              <a:t>支梦林：专业、课程页面</a:t>
            </a:r>
            <a:br>
              <a:rPr sz="1600" dirty="0">
                <a:solidFill>
                  <a:srgbClr val="1E293B"/>
                </a:solidFill>
              </a:rPr>
            </a:br>
            <a:r>
              <a:rPr sz="1600" dirty="0">
                <a:solidFill>
                  <a:srgbClr val="1E293B"/>
                </a:solidFill>
              </a:rPr>
              <a:t>- </a:t>
            </a:r>
            <a:r>
              <a:rPr sz="1600" dirty="0" err="1">
                <a:solidFill>
                  <a:srgbClr val="1E293B"/>
                </a:solidFill>
              </a:rPr>
              <a:t>陈思远：毕业要求、指标点页面</a:t>
            </a:r>
            <a:endParaRPr sz="1600" dirty="0">
              <a:solidFill>
                <a:srgbClr val="1E293B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17920" y="3931920"/>
            <a:ext cx="5029200" cy="22860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A56DB"/>
                </a:solidFill>
              </a:defRPr>
            </a:pPr>
            <a:r>
              <a:rPr dirty="0" err="1"/>
              <a:t>后端分工</a:t>
            </a:r>
            <a:endParaRPr dirty="0"/>
          </a:p>
          <a:p>
            <a:pPr>
              <a:defRPr sz="1400">
                <a:solidFill>
                  <a:srgbClr val="1E293B"/>
                </a:solidFill>
              </a:defRPr>
            </a:pPr>
            <a:r>
              <a:rPr sz="1600" dirty="0">
                <a:solidFill>
                  <a:srgbClr val="1E293B"/>
                </a:solidFill>
              </a:rPr>
              <a:t>- </a:t>
            </a:r>
            <a:r>
              <a:rPr sz="1600" dirty="0" err="1">
                <a:solidFill>
                  <a:srgbClr val="1E293B"/>
                </a:solidFill>
              </a:rPr>
              <a:t>王子儒：AcademicTerm、College接口</a:t>
            </a:r>
            <a:br>
              <a:rPr sz="1600" dirty="0">
                <a:solidFill>
                  <a:srgbClr val="1E293B"/>
                </a:solidFill>
              </a:rPr>
            </a:br>
            <a:r>
              <a:rPr sz="1600" dirty="0">
                <a:solidFill>
                  <a:srgbClr val="1E293B"/>
                </a:solidFill>
              </a:rPr>
              <a:t>- </a:t>
            </a:r>
            <a:r>
              <a:rPr sz="1600" dirty="0" err="1">
                <a:solidFill>
                  <a:srgbClr val="1E293B"/>
                </a:solidFill>
              </a:rPr>
              <a:t>毛小斌：Major、Course接口</a:t>
            </a:r>
            <a:br>
              <a:rPr sz="1600" dirty="0">
                <a:solidFill>
                  <a:srgbClr val="1E293B"/>
                </a:solidFill>
              </a:rPr>
            </a:br>
            <a:r>
              <a:rPr sz="1600" dirty="0">
                <a:solidFill>
                  <a:srgbClr val="1E293B"/>
                </a:solidFill>
              </a:rPr>
              <a:t>- </a:t>
            </a:r>
            <a:r>
              <a:rPr sz="1600" dirty="0" err="1">
                <a:solidFill>
                  <a:srgbClr val="1E293B"/>
                </a:solidFill>
              </a:rPr>
              <a:t>叶高平：GraduationRequirement、IndicatorPoint接口</a:t>
            </a:r>
            <a:endParaRPr sz="1600" dirty="0">
              <a:solidFill>
                <a:srgbClr val="1E293B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6DB"/>
                </a:solidFill>
              </a:defRPr>
            </a:pPr>
            <a:r>
              <a:t>04 前端开发进展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0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负责人</a:t>
            </a:r>
          </a:p>
        </p:txBody>
      </p:sp>
      <p:sp>
        <p:nvSpPr>
          <p:cNvPr id="4" name="Rectangle 3"/>
          <p:cNvSpPr/>
          <p:nvPr/>
        </p:nvSpPr>
        <p:spPr>
          <a:xfrm>
            <a:off x="2103120" y="1371600"/>
            <a:ext cx="1645920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分支</a:t>
            </a:r>
          </a:p>
        </p:txBody>
      </p:sp>
      <p:sp>
        <p:nvSpPr>
          <p:cNvPr id="5" name="Rectangle 4"/>
          <p:cNvSpPr/>
          <p:nvPr/>
        </p:nvSpPr>
        <p:spPr>
          <a:xfrm>
            <a:off x="3749040" y="1371600"/>
            <a:ext cx="2286000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负责页面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371600"/>
            <a:ext cx="4114800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完成内容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49840" y="1371600"/>
            <a:ext cx="1097280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状态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1371600" cy="640080"/>
          </a:xfrm>
          <a:prstGeom prst="rect">
            <a:avLst/>
          </a:prstGeom>
          <a:solidFill>
            <a:srgbClr val="E8F0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王子嘉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1920240"/>
            <a:ext cx="1645920" cy="640080"/>
          </a:xfrm>
          <a:prstGeom prst="rect">
            <a:avLst/>
          </a:prstGeom>
          <a:solidFill>
            <a:srgbClr val="E8F0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293B"/>
                </a:solidFill>
              </a:defRPr>
            </a:pPr>
            <a:r>
              <a:t>member/wzj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40" y="1920240"/>
            <a:ext cx="2286000" cy="640080"/>
          </a:xfrm>
          <a:prstGeom prst="rect">
            <a:avLst/>
          </a:prstGeom>
          <a:solidFill>
            <a:srgbClr val="E8F0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293B"/>
                </a:solidFill>
              </a:defRPr>
            </a:pPr>
            <a:r>
              <a:t>页面组A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920240"/>
            <a:ext cx="4114800" cy="640080"/>
          </a:xfrm>
          <a:prstGeom prst="rect">
            <a:avLst/>
          </a:prstGeom>
          <a:solidFill>
            <a:srgbClr val="E8F0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293B"/>
                </a:solidFill>
              </a:defRPr>
            </a:pPr>
            <a:r>
              <a:t>学年学期子页、学院子页、通用查询栏、通用弹窗表单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49840" y="1920240"/>
            <a:ext cx="1097280" cy="640080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66534"/>
                </a:solidFill>
              </a:defRPr>
            </a:pPr>
            <a:r>
              <a:t>已完成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51760"/>
            <a:ext cx="1371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支梦林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03120" y="2651760"/>
            <a:ext cx="1645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293B"/>
                </a:solidFill>
              </a:defRPr>
            </a:pPr>
            <a:r>
              <a:t>member/zml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40" y="2651760"/>
            <a:ext cx="2286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293B"/>
                </a:solidFill>
              </a:defRPr>
            </a:pPr>
            <a:r>
              <a:t>页面组B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2651760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293B"/>
                </a:solidFill>
              </a:defRPr>
            </a:pPr>
            <a:r>
              <a:t>专业子页、课程子页、关联字段展示、字典下拉绑定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49840" y="2651760"/>
            <a:ext cx="1097280" cy="640080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66534"/>
                </a:solidFill>
              </a:defRPr>
            </a:pPr>
            <a:r>
              <a:t>已完成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383280"/>
            <a:ext cx="1371600" cy="640080"/>
          </a:xfrm>
          <a:prstGeom prst="rect">
            <a:avLst/>
          </a:prstGeom>
          <a:solidFill>
            <a:srgbClr val="E8F0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陈思远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03120" y="3383280"/>
            <a:ext cx="1645920" cy="640080"/>
          </a:xfrm>
          <a:prstGeom prst="rect">
            <a:avLst/>
          </a:prstGeom>
          <a:solidFill>
            <a:srgbClr val="E8F0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293B"/>
                </a:solidFill>
              </a:defRPr>
            </a:pPr>
            <a:r>
              <a:t>member/csy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9040" y="3383280"/>
            <a:ext cx="2286000" cy="640080"/>
          </a:xfrm>
          <a:prstGeom prst="rect">
            <a:avLst/>
          </a:prstGeom>
          <a:solidFill>
            <a:srgbClr val="E8F0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293B"/>
                </a:solidFill>
              </a:defRPr>
            </a:pPr>
            <a:r>
              <a:t>页面组C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3383280"/>
            <a:ext cx="4114800" cy="640080"/>
          </a:xfrm>
          <a:prstGeom prst="rect">
            <a:avLst/>
          </a:prstGeom>
          <a:solidFill>
            <a:srgbClr val="E8F0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293B"/>
                </a:solidFill>
              </a:defRPr>
            </a:pPr>
            <a:r>
              <a:t>毕业要求页面、指标点页面、关系展示区、空状态提示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49840" y="3383280"/>
            <a:ext cx="1097280" cy="640080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66534"/>
                </a:solidFill>
              </a:defRPr>
            </a:pPr>
            <a:r>
              <a:t>已完成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572000"/>
            <a:ext cx="2743200" cy="13716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1A56DB"/>
                </a:solidFill>
              </a:defRPr>
            </a:pPr>
            <a:r>
              <a:t>9</a:t>
            </a:r>
          </a:p>
          <a:p>
            <a:pPr algn="ctr">
              <a:defRPr sz="1400">
                <a:solidFill>
                  <a:srgbClr val="64748B"/>
                </a:solidFill>
              </a:defRPr>
            </a:pPr>
            <a:r>
              <a:t>页面完成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4572000"/>
            <a:ext cx="2743200" cy="13716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1A56DB"/>
                </a:solidFill>
              </a:defRPr>
            </a:pPr>
            <a:r>
              <a:t>4</a:t>
            </a:r>
          </a:p>
          <a:p>
            <a:pPr algn="ctr">
              <a:defRPr sz="1400">
                <a:solidFill>
                  <a:srgbClr val="64748B"/>
                </a:solidFill>
              </a:defRPr>
            </a:pPr>
            <a:r>
              <a:t>通用组件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572000"/>
            <a:ext cx="2743200" cy="13716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1A56DB"/>
                </a:solidFill>
              </a:defRPr>
            </a:pPr>
            <a:r>
              <a:t>100%</a:t>
            </a:r>
          </a:p>
          <a:p>
            <a:pPr algn="ctr">
              <a:defRPr sz="1400">
                <a:solidFill>
                  <a:srgbClr val="64748B"/>
                </a:solidFill>
              </a:defRPr>
            </a:pPr>
            <a:r>
              <a:t>接口接入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6DB"/>
                </a:solidFill>
              </a:defRPr>
            </a:pPr>
            <a:r>
              <a:t>05 后端开发进展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0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负责人</a:t>
            </a:r>
          </a:p>
        </p:txBody>
      </p:sp>
      <p:sp>
        <p:nvSpPr>
          <p:cNvPr id="4" name="Rectangle 3"/>
          <p:cNvSpPr/>
          <p:nvPr/>
        </p:nvSpPr>
        <p:spPr>
          <a:xfrm>
            <a:off x="2103120" y="1371600"/>
            <a:ext cx="1645920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分支</a:t>
            </a:r>
          </a:p>
        </p:txBody>
      </p:sp>
      <p:sp>
        <p:nvSpPr>
          <p:cNvPr id="5" name="Rectangle 4"/>
          <p:cNvSpPr/>
          <p:nvPr/>
        </p:nvSpPr>
        <p:spPr>
          <a:xfrm>
            <a:off x="3749040" y="1371600"/>
            <a:ext cx="2286000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负责对象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1371600"/>
            <a:ext cx="4114800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完成内容</a:t>
            </a:r>
          </a:p>
        </p:txBody>
      </p:sp>
      <p:sp>
        <p:nvSpPr>
          <p:cNvPr id="7" name="Rectangle 6"/>
          <p:cNvSpPr/>
          <p:nvPr/>
        </p:nvSpPr>
        <p:spPr>
          <a:xfrm>
            <a:off x="10149840" y="1371600"/>
            <a:ext cx="1097280" cy="457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状态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1371600" cy="640080"/>
          </a:xfrm>
          <a:prstGeom prst="rect">
            <a:avLst/>
          </a:prstGeom>
          <a:solidFill>
            <a:srgbClr val="E8F0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王子儒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1920240"/>
            <a:ext cx="1645920" cy="640080"/>
          </a:xfrm>
          <a:prstGeom prst="rect">
            <a:avLst/>
          </a:prstGeom>
          <a:solidFill>
            <a:srgbClr val="E8F0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293B"/>
                </a:solidFill>
              </a:defRPr>
            </a:pPr>
            <a:r>
              <a:t>member/wzr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40" y="1920240"/>
            <a:ext cx="2286000" cy="640080"/>
          </a:xfrm>
          <a:prstGeom prst="rect">
            <a:avLst/>
          </a:prstGeom>
          <a:solidFill>
            <a:srgbClr val="E8F0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293B"/>
                </a:solidFill>
              </a:defRPr>
            </a:pPr>
            <a:r>
              <a:t>AcademicTerm、College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920240"/>
            <a:ext cx="4114800" cy="640080"/>
          </a:xfrm>
          <a:prstGeom prst="rect">
            <a:avLst/>
          </a:prstGeom>
          <a:solidFill>
            <a:srgbClr val="E8F0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293B"/>
                </a:solidFill>
              </a:defRPr>
            </a:pPr>
            <a:r>
              <a:t>列表、查询、新增、更新、删除/停用、DTO/VO、Swagger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49840" y="1920240"/>
            <a:ext cx="1097280" cy="640080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66534"/>
                </a:solidFill>
              </a:defRPr>
            </a:pPr>
            <a:r>
              <a:t>已完成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51760"/>
            <a:ext cx="1371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毛小斌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03120" y="2651760"/>
            <a:ext cx="1645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293B"/>
                </a:solidFill>
              </a:defRPr>
            </a:pPr>
            <a:r>
              <a:t>member/mxb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40" y="2651760"/>
            <a:ext cx="22860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293B"/>
                </a:solidFill>
              </a:defRPr>
            </a:pPr>
            <a:r>
              <a:t>Major、Course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2651760"/>
            <a:ext cx="4114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293B"/>
                </a:solidFill>
              </a:defRPr>
            </a:pPr>
            <a:r>
              <a:t>列表、查询、新增、更新、删除/停用、DTO/VO、Swagger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149840" y="2651760"/>
            <a:ext cx="1097280" cy="640080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66534"/>
                </a:solidFill>
              </a:defRPr>
            </a:pPr>
            <a:r>
              <a:t>已完成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383280"/>
            <a:ext cx="1371600" cy="640080"/>
          </a:xfrm>
          <a:prstGeom prst="rect">
            <a:avLst/>
          </a:prstGeom>
          <a:solidFill>
            <a:srgbClr val="E8F0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E293B"/>
                </a:solidFill>
              </a:defRPr>
            </a:pPr>
            <a:r>
              <a:t>叶高平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03120" y="3383280"/>
            <a:ext cx="1645920" cy="640080"/>
          </a:xfrm>
          <a:prstGeom prst="rect">
            <a:avLst/>
          </a:prstGeom>
          <a:solidFill>
            <a:srgbClr val="E8F0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293B"/>
                </a:solidFill>
              </a:defRPr>
            </a:pPr>
            <a:r>
              <a:t>member/ygp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9040" y="3383280"/>
            <a:ext cx="2286000" cy="640080"/>
          </a:xfrm>
          <a:prstGeom prst="rect">
            <a:avLst/>
          </a:prstGeom>
          <a:solidFill>
            <a:srgbClr val="E8F0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293B"/>
                </a:solidFill>
              </a:defRPr>
            </a:pPr>
            <a:r>
              <a:t>GraduationRequirement、IndicatorPoint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3383280"/>
            <a:ext cx="4114800" cy="640080"/>
          </a:xfrm>
          <a:prstGeom prst="rect">
            <a:avLst/>
          </a:prstGeom>
          <a:solidFill>
            <a:srgbClr val="E8F0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E293B"/>
                </a:solidFill>
              </a:defRPr>
            </a:pPr>
            <a:r>
              <a:t>列表、查询、新增、更新、删除/停用、DTO/VO、Swagger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49840" y="3383280"/>
            <a:ext cx="1097280" cy="640080"/>
          </a:xfrm>
          <a:prstGeom prst="rect">
            <a:avLst/>
          </a:prstGeom>
          <a:solidFill>
            <a:srgbClr val="DCFCE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66534"/>
                </a:solidFill>
              </a:defRPr>
            </a:pPr>
            <a:r>
              <a:t>已完成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572000"/>
            <a:ext cx="2743200" cy="13716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1A56DB"/>
                </a:solidFill>
              </a:defRPr>
            </a:pPr>
            <a:r>
              <a:t>6</a:t>
            </a:r>
          </a:p>
          <a:p>
            <a:pPr algn="ctr">
              <a:defRPr sz="1400">
                <a:solidFill>
                  <a:srgbClr val="64748B"/>
                </a:solidFill>
              </a:defRPr>
            </a:pPr>
            <a:r>
              <a:t>业务对象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4572000"/>
            <a:ext cx="2743200" cy="13716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1A56DB"/>
                </a:solidFill>
              </a:defRPr>
            </a:pPr>
            <a:r>
              <a:t>30+</a:t>
            </a:r>
          </a:p>
          <a:p>
            <a:pPr algn="ctr">
              <a:defRPr sz="1400">
                <a:solidFill>
                  <a:srgbClr val="64748B"/>
                </a:solidFill>
              </a:defRPr>
            </a:pPr>
            <a:r>
              <a:t>API接口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572000"/>
            <a:ext cx="2743200" cy="13716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3600" b="1">
                <a:solidFill>
                  <a:srgbClr val="1A56DB"/>
                </a:solidFill>
              </a:defRPr>
            </a:pPr>
            <a:r>
              <a:t>100%</a:t>
            </a:r>
          </a:p>
          <a:p>
            <a:pPr algn="ctr">
              <a:defRPr sz="1400">
                <a:solidFill>
                  <a:srgbClr val="64748B"/>
                </a:solidFill>
              </a:defRPr>
            </a:pPr>
            <a:r>
              <a:t>Swagger覆盖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56DB"/>
                </a:solidFill>
              </a:defRPr>
            </a:pPr>
            <a:r>
              <a:t>05 数据库工作进展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515600" cy="73152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A56DB"/>
                </a:solidFill>
              </a:defRPr>
            </a:pPr>
            <a:r>
              <a:t>负责人：支佳璇 | 分支：member/zjx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负责第二周全部数据库工作，包含模块A与毕业要求/指标点相关表的数据字典、约束核查、SQL调整和初始化脚本补充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5029200" cy="36576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A56DB"/>
                </a:solidFill>
              </a:defRPr>
            </a:pPr>
            <a:r>
              <a:rPr dirty="0" err="1"/>
              <a:t>数据字典整理</a:t>
            </a:r>
            <a:endParaRPr dirty="0"/>
          </a:p>
          <a:p>
            <a:pPr>
              <a:defRPr sz="1400">
                <a:solidFill>
                  <a:srgbClr val="1E293B"/>
                </a:solidFill>
              </a:defRPr>
            </a:pPr>
            <a:r>
              <a:rPr sz="1600" dirty="0"/>
              <a:t>- </a:t>
            </a:r>
            <a:r>
              <a:rPr sz="1600" dirty="0" err="1"/>
              <a:t>学年学期表字段定义</a:t>
            </a:r>
            <a:br>
              <a:rPr sz="1600" dirty="0"/>
            </a:br>
            <a:r>
              <a:rPr sz="1600" dirty="0"/>
              <a:t>- </a:t>
            </a:r>
            <a:r>
              <a:rPr sz="1600" dirty="0" err="1"/>
              <a:t>学院表字段定义</a:t>
            </a:r>
            <a:br>
              <a:rPr sz="1600" dirty="0"/>
            </a:br>
            <a:r>
              <a:rPr sz="1600" dirty="0"/>
              <a:t>- </a:t>
            </a:r>
            <a:r>
              <a:rPr sz="1600" dirty="0" err="1"/>
              <a:t>专业表字段定义</a:t>
            </a:r>
            <a:br>
              <a:rPr sz="1600" dirty="0"/>
            </a:br>
            <a:r>
              <a:rPr sz="1600" dirty="0"/>
              <a:t>- </a:t>
            </a:r>
            <a:r>
              <a:rPr sz="1600" dirty="0" err="1"/>
              <a:t>课程表字段定义</a:t>
            </a:r>
            <a:br>
              <a:rPr sz="1600" dirty="0"/>
            </a:br>
            <a:r>
              <a:rPr sz="1600" dirty="0"/>
              <a:t>- </a:t>
            </a:r>
            <a:r>
              <a:rPr sz="1600" dirty="0" err="1"/>
              <a:t>毕业要求表字段定义</a:t>
            </a:r>
            <a:br>
              <a:rPr sz="1600" dirty="0"/>
            </a:br>
            <a:r>
              <a:rPr sz="1600" dirty="0"/>
              <a:t>- </a:t>
            </a:r>
            <a:r>
              <a:rPr sz="1600" dirty="0" err="1"/>
              <a:t>指标点表字段定义</a:t>
            </a:r>
            <a:endParaRPr sz="1600" dirty="0"/>
          </a:p>
        </p:txBody>
      </p:sp>
      <p:sp>
        <p:nvSpPr>
          <p:cNvPr id="5" name="Rounded Rectangle 4"/>
          <p:cNvSpPr/>
          <p:nvPr/>
        </p:nvSpPr>
        <p:spPr>
          <a:xfrm>
            <a:off x="6217920" y="2286000"/>
            <a:ext cx="5029200" cy="36576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A56DB"/>
                </a:solidFill>
              </a:defRPr>
            </a:pPr>
            <a:r>
              <a:rPr dirty="0" err="1"/>
              <a:t>约束核查与SQL调整</a:t>
            </a:r>
            <a:endParaRPr dirty="0"/>
          </a:p>
          <a:p>
            <a:pPr>
              <a:defRPr sz="1400">
                <a:solidFill>
                  <a:srgbClr val="1E293B"/>
                </a:solidFill>
              </a:defRPr>
            </a:pPr>
            <a:r>
              <a:rPr sz="1600" dirty="0"/>
              <a:t>- </a:t>
            </a:r>
            <a:r>
              <a:rPr sz="1600" dirty="0" err="1"/>
              <a:t>检查外键约束设计</a:t>
            </a:r>
            <a:br>
              <a:rPr sz="1600" dirty="0"/>
            </a:br>
            <a:r>
              <a:rPr sz="1600" dirty="0"/>
              <a:t>- </a:t>
            </a:r>
            <a:r>
              <a:rPr sz="1600" dirty="0" err="1"/>
              <a:t>检查唯一约束设计</a:t>
            </a:r>
            <a:br>
              <a:rPr sz="1600" dirty="0"/>
            </a:br>
            <a:r>
              <a:rPr sz="1600" dirty="0"/>
              <a:t>- </a:t>
            </a:r>
            <a:r>
              <a:rPr sz="1600" dirty="0" err="1"/>
              <a:t>检查索引设计</a:t>
            </a:r>
            <a:br>
              <a:rPr sz="1600" dirty="0"/>
            </a:br>
            <a:r>
              <a:rPr sz="1600" dirty="0"/>
              <a:t>- </a:t>
            </a:r>
            <a:r>
              <a:rPr sz="1600" dirty="0" err="1"/>
              <a:t>输出SQL调整建议</a:t>
            </a:r>
            <a:br>
              <a:rPr sz="1600" dirty="0"/>
            </a:br>
            <a:r>
              <a:rPr sz="1600" dirty="0"/>
              <a:t>- </a:t>
            </a:r>
            <a:r>
              <a:rPr sz="1600" dirty="0" err="1"/>
              <a:t>补充初始化数据脚本</a:t>
            </a:r>
            <a:endParaRPr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</a:defRPr>
            </a:pPr>
            <a:r>
              <a:t>06 成员成果展示 - 孔文峰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0" y="365760"/>
            <a:ext cx="320040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56DB"/>
                </a:solidFill>
              </a:defRPr>
            </a:pPr>
            <a:r>
              <a:t>组长/架构统筹 | member/kwf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029200" cy="2743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A56DB"/>
                </a:solidFill>
              </a:defRPr>
            </a:pPr>
            <a:r>
              <a:t>核心任务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- 负责第二周模块A的统筹推进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- 整理接口清单与字段对齐表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- 组织联调检查与验收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- 输出环境运行说明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5029200" cy="22860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A56DB"/>
                </a:solidFill>
              </a:defRPr>
            </a:pPr>
            <a:r>
              <a:t>关键成果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✓ 联调记录与问题清单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✓ 环境运行说明文档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✓ 第二周验收结论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097280"/>
            <a:ext cx="5029200" cy="91440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92400E"/>
                </a:solidFill>
              </a:defRPr>
            </a:pPr>
            <a:r>
              <a:t>成果亮点：统筹协调与联调收口</a:t>
            </a:r>
          </a:p>
        </p:txBody>
      </p:sp>
      <p:pic>
        <p:nvPicPr>
          <p:cNvPr id="8" name="Picture 7" descr="孔文峰成果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2286000"/>
            <a:ext cx="5710176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</a:defRPr>
            </a:pPr>
            <a:r>
              <a:t>06 成员成果展示 - 王子嘉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0" y="365760"/>
            <a:ext cx="320040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56DB"/>
                </a:solidFill>
              </a:defRPr>
            </a:pPr>
            <a:r>
              <a:t>前端1 | member/wzj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029200" cy="2743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A56DB"/>
                </a:solidFill>
              </a:defRPr>
            </a:pPr>
            <a:r>
              <a:t>核心任务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- 完成学年学期子页开发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- 完成学院子页开发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- 抽出通用查询栏组件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- 抽出通用弹窗表单组件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5029200" cy="22860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A56DB"/>
                </a:solidFill>
              </a:defRPr>
            </a:pPr>
            <a:r>
              <a:t>关键成果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✓ 学年学期CRUD页面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✓ 学院CRUD页面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✓ 通用查询栏组件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✓ 通用弹窗表单组件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097280"/>
            <a:ext cx="5029200" cy="91440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92400E"/>
                </a:solidFill>
              </a:defRPr>
            </a:pPr>
            <a:r>
              <a:t>成果亮点：页面组A与通用组件抽象</a:t>
            </a:r>
          </a:p>
        </p:txBody>
      </p:sp>
      <p:pic>
        <p:nvPicPr>
          <p:cNvPr id="8" name="Picture 7" descr="王子嘉成果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1" y="2285999"/>
            <a:ext cx="5849072" cy="40305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</a:defRPr>
            </a:pPr>
            <a:r>
              <a:t>06 成员成果展示 - 支梦林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0" y="365760"/>
            <a:ext cx="320040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56DB"/>
                </a:solidFill>
              </a:defRPr>
            </a:pPr>
            <a:r>
              <a:t>前端2 | member/zml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029200" cy="2743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A56DB"/>
                </a:solidFill>
              </a:defRPr>
            </a:pPr>
            <a:r>
              <a:t>核心任务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- 完成专业子页开发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- 完成课程子页开发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- 处理关联字段展示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- 完成字典下拉绑定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5029200" cy="22860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A56DB"/>
                </a:solidFill>
              </a:defRPr>
            </a:pPr>
            <a:r>
              <a:t>关键成果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✓ 专业CRUD页面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✓ 课程CRUD页面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✓ 关联字段展示逻辑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✓ 表单回显与提交反馈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097280"/>
            <a:ext cx="5029200" cy="91440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92400E"/>
                </a:solidFill>
              </a:defRPr>
            </a:pPr>
            <a:r>
              <a:t>成果亮点：页面组B与关联数据处理</a:t>
            </a:r>
          </a:p>
        </p:txBody>
      </p:sp>
      <p:pic>
        <p:nvPicPr>
          <p:cNvPr id="8" name="Picture 7" descr="支梦林成果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86000"/>
            <a:ext cx="50292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</a:defRPr>
            </a:pPr>
            <a:r>
              <a:t>06 成员成果展示 - 陈思远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0" y="365760"/>
            <a:ext cx="320040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56DB"/>
                </a:solidFill>
              </a:defRPr>
            </a:pPr>
            <a:r>
              <a:t>前端3 | member/csy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029200" cy="2743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A56DB"/>
                </a:solidFill>
              </a:defRPr>
            </a:pPr>
            <a:r>
              <a:t>核心任务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- 完成毕业要求主页面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- 完成指标点子页开发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- 展示指标点与毕业要求关系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- 补充空状态与错误提示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5029200" cy="22860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A56DB"/>
                </a:solidFill>
              </a:defRPr>
            </a:pPr>
            <a:r>
              <a:t>关键成果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✓ 毕业要求CRUD页面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✓ 指标点CRUD页面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✓ 关系展示区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✓ 统一空状态与错误提示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097280"/>
            <a:ext cx="5029200" cy="91440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92400E"/>
                </a:solidFill>
              </a:defRPr>
            </a:pPr>
            <a:r>
              <a:t>成果亮点：页面组C与用户体验完善</a:t>
            </a:r>
          </a:p>
        </p:txBody>
      </p:sp>
      <p:pic>
        <p:nvPicPr>
          <p:cNvPr id="8" name="Picture 7" descr="陈思远成果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86000"/>
            <a:ext cx="50292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</a:defRPr>
            </a:pPr>
            <a:r>
              <a:t>06 成员成果展示 - 王子儒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0" y="365760"/>
            <a:ext cx="320040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56DB"/>
                </a:solidFill>
              </a:defRPr>
            </a:pPr>
            <a:r>
              <a:t>后端1 | member/wzr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029200" cy="2743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A56DB"/>
                </a:solidFill>
              </a:defRPr>
            </a:pPr>
            <a:r>
              <a:t>核心任务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- 完成AcademicTerm接口开发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- 完成College接口开发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- 补DTO/VO与参数校验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- 补Swagger文档与自测样例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5029200" cy="22860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A56DB"/>
                </a:solidFill>
              </a:defRPr>
            </a:pPr>
            <a:r>
              <a:t>关键成果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✓ AcademicTerm完整接口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✓ College完整接口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✓ DTO/VO结构定义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✓ Swagger文档与自测记录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097280"/>
            <a:ext cx="5029200" cy="91440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92400E"/>
                </a:solidFill>
              </a:defRPr>
            </a:pPr>
            <a:r>
              <a:t>成果亮点：接口组A完整闭环</a:t>
            </a:r>
          </a:p>
        </p:txBody>
      </p:sp>
      <p:pic>
        <p:nvPicPr>
          <p:cNvPr id="8" name="Picture 7" descr="王子儒成果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5455" y="2286000"/>
            <a:ext cx="3159889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</a:defRPr>
            </a:pPr>
            <a:r>
              <a:t>06 成员成果展示 - 毛小斌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0" y="365760"/>
            <a:ext cx="320040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56DB"/>
                </a:solidFill>
              </a:defRPr>
            </a:pPr>
            <a:r>
              <a:t>后端2 | member/mxb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029200" cy="2743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A56DB"/>
                </a:solidFill>
              </a:defRPr>
            </a:pPr>
            <a:r>
              <a:t>核心任务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- 完成Major接口开发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- 完成Course接口开发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- 保证字段与前端一致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- 补参数校验和Swagger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5029200" cy="22860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A56DB"/>
                </a:solidFill>
              </a:defRPr>
            </a:pPr>
            <a:r>
              <a:t>关键成果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✓ Major完整接口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✓ Course完整接口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✓ 参数校验与Swagger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✓ 自测样例记录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097280"/>
            <a:ext cx="5029200" cy="91440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92400E"/>
                </a:solidFill>
              </a:defRPr>
            </a:pPr>
            <a:r>
              <a:t>成果亮点：接口组B完整闭环</a:t>
            </a:r>
          </a:p>
        </p:txBody>
      </p:sp>
      <p:pic>
        <p:nvPicPr>
          <p:cNvPr id="8" name="Picture 7" descr="毛小斌成果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86000"/>
            <a:ext cx="50292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</a:defRPr>
            </a:pPr>
            <a:r>
              <a:t>06 成员成果展示 - 叶高平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0" y="365760"/>
            <a:ext cx="320040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56DB"/>
                </a:solidFill>
              </a:defRPr>
            </a:pPr>
            <a:r>
              <a:t>后端3 | member/ygp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029200" cy="2743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A56DB"/>
                </a:solidFill>
              </a:defRPr>
            </a:pPr>
            <a:r>
              <a:t>核心任务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- 完成GraduationRequirement接口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- 完成IndicatorPoint接口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- 修复联调字段与状态问题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- 补Swagger与自测样例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5029200" cy="22860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A56DB"/>
                </a:solidFill>
              </a:defRPr>
            </a:pPr>
            <a:r>
              <a:t>关键成果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✓ GraduationRequirement接口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✓ IndicatorPoint接口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✓ 联调修复记录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✓ Swagger与自测样例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097280"/>
            <a:ext cx="5029200" cy="91440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92400E"/>
                </a:solidFill>
              </a:defRPr>
            </a:pPr>
            <a:r>
              <a:t>成果亮点：接口组C完整闭环</a:t>
            </a:r>
          </a:p>
        </p:txBody>
      </p:sp>
      <p:pic>
        <p:nvPicPr>
          <p:cNvPr id="8" name="Picture 7" descr="叶高平成果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86000"/>
            <a:ext cx="50292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56DB"/>
                </a:solidFill>
              </a:defRPr>
            </a:pPr>
            <a:r>
              <a:t>06 成员成果展示 - 支佳璇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0" y="365760"/>
            <a:ext cx="3200400" cy="457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56DB"/>
                </a:solidFill>
              </a:defRPr>
            </a:pPr>
            <a:r>
              <a:t>数据库 | member/zjx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029200" cy="27432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A56DB"/>
                </a:solidFill>
              </a:defRPr>
            </a:pPr>
            <a:r>
              <a:t>核心任务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- 整理6类对象数据字典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- 检查外键与唯一约束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- 输出SQL调整建议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- 补充初始化数据脚本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5029200" cy="2286000"/>
          </a:xfrm>
          <a:prstGeom prst="round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A56DB"/>
                </a:solidFill>
              </a:defRPr>
            </a:pPr>
            <a:r>
              <a:t>关键成果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✓ 数据字典文档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✓ SQL调整建议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✓ 约束检查表</a:t>
            </a:r>
          </a:p>
          <a:p>
            <a:pPr>
              <a:defRPr sz="1400">
                <a:solidFill>
                  <a:srgbClr val="1E293B"/>
                </a:solidFill>
              </a:defRPr>
            </a:pPr>
            <a:r>
              <a:t>✓ 初始化数据脚本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097280"/>
            <a:ext cx="5029200" cy="91440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92400E"/>
                </a:solidFill>
              </a:defRPr>
            </a:pPr>
            <a:r>
              <a:t>成果亮点：数据支撑与字段对齐</a:t>
            </a:r>
          </a:p>
        </p:txBody>
      </p:sp>
      <p:pic>
        <p:nvPicPr>
          <p:cNvPr id="8" name="Picture 7" descr="支佳璇成果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86000"/>
            <a:ext cx="502920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56D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感谢聆听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756</Words>
  <Application>Microsoft Macintosh PowerPoint</Application>
  <PresentationFormat>宽屏</PresentationFormat>
  <Paragraphs>207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Ziru Wang</cp:lastModifiedBy>
  <cp:revision>10</cp:revision>
  <dcterms:created xsi:type="dcterms:W3CDTF">2013-01-27T09:14:16Z</dcterms:created>
  <dcterms:modified xsi:type="dcterms:W3CDTF">2026-05-26T10:11:14Z</dcterms:modified>
  <cp:category/>
</cp:coreProperties>
</file>