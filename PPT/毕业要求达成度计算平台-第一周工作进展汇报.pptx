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21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7" r:id="rId10"/>
    <p:sldId id="268" r:id="rId11"/>
    <p:sldId id="265" r:id="rId12"/>
    <p:sldId id="266" r:id="rId13"/>
    <p:sldId id="263" r:id="rId14"/>
    <p:sldId id="264" r:id="rId15"/>
    <p:sldId id="269" r:id="rId16"/>
    <p:sldId id="273" r:id="rId17"/>
    <p:sldId id="274" r:id="rId18"/>
    <p:sldId id="271" r:id="rId19"/>
    <p:sldId id="272" r:id="rId2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96" y="5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19.05.2026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我是王子嘉。今天非常荣幸能在这里向大家汇报我们“面向专业认证的毕业要求达成度统一计算平台”项目第一周的进展情况。在过去的一周里，我们团队紧密协作，完成了项目的基础搭建工作。接下来，我将详细介绍我们的工作成果和未来规划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汇报将分为九个部分。首先，我会介绍项目的背景和本周的核心目标。接着，展示项目的整体规划和团队架构。然后，将详细介绍每位团队成员的具体工作和成果。之后，会对本周的工作质量进行复盘，并梳理存在的问题。最后，对下周的工作进行规划，并总结展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首先，让我们了解一下项目的背景。我们的目标是构建一个自动化平台，来解决当前专业认证工作中存在的痛点。本周的核心目标是完成项目的前期筹备和基础搭建工作，为后续的开发打下坚实的基础。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我们将项目分为四个主要阶段。本周我们处于第一阶段——启动筹备期。接下来，我们将进入核心开发期、测试优化期，最终完成上线部署。这个清晰的规划将指导我们后续的工作。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我们的团队架构清晰，分为项目总负责、前端开发组、后端开发组、数据库设计组和运维配置组。我作为汇报统筹，负责本周工作的汇总和汇报。每个小组各司其职，共同推进项目。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我们采用模块化分工模式，确保每位成员的工作既独立又相互衔接。我们制定了明确的分工原则和交付标准，并建立了每日同步、每周汇总的协作模式，以保证项目高效推进。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是我们的组长孔文峰。他主要负责整体架构设计和协作流程的建立。本周他完成了系统架构图的设计，并成功搭建了CI/CD流水线，这张截图展示了我们的自动化构建流程。同时，他还负责任务管理和组织协调，确保了团队高效协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接下来是我自己的工作。我负责前端基础构建，成功初始化了Vue3项目，并完成了路由、状态管理和网络请求的封装。这张截图展示了我开发的登录页面，非常简洁美观。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前端团队的另一位成员支梦林负责后台界面搭建。他实现了后台的整体布局和首页、404等基础页面。这张截图展示了登录成功后跳转的后台首页，布局清晰合理。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后端团队的王子儒负责后端基础框架的搭建。他完成了项目初始化，并实现了统一返回体、全局异常处理、API文档和健康检查等基础功能。这张截图展示了他搭建的清晰的项目目录结构。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后端团队的另一位成员毛小斌负责核心业务链路。他开发了登录接口，集成了JWT认证，并准备了测试账号。这张代码截图展示了他编写的认证服务核心逻辑，成功打通了前后端的登录链路。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接下来是数据库团队的陈思远。他负责概念模型设计，梳理了所有核心业务对象，并绘制了这张详细的ER图，为我们后续的数据库设计奠定了坚实的基础。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数据库团队的另一位成员是支佳璇。她负责物理模型设计，根据ER图完成了核心表的结构设计和DDL脚本编写。这张截图展示了她整理的核心表字段说明文档，非常详细。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最后是服务器部署方面的叶高平。他成功申请了云服务器，并安装了所有必要的基础软件。这张截图展示了他在服务器上验证的各个软件版本，所有环境均已就绪，为我们后续的部署工作做好了准备。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接下来，我们对本周核心任务的完成质量进行复盘。总体来看，基础框架搭建、数据库设计、功能开发和环境部署都达到了预期目标，交付物的质量也符合要求。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在肯定成绩的同时，我们也发现了一些问题。主要包括技术层面的接口参数偏差、协作层面的任务衔接时间差、文档层面的描述简略以及测试层面的不充分。这些问题需要我们在后续工作中重点关注和解决。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下周，我们将继续推进核心功能的开发。前端团队将优化页面和开发交互，后端团队将开发计算接口和优化认证逻辑。数据库和部署团队也有相应的任务。我们的目标是在第二周末完成核心功能60%的开发，并交付测试版本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总结本周的工作，我们的亮点在于高效的协作、合理的技术选型和扎实的基础工作。我们也总结出了一些经验，比如规范先行、沟通的重要性以及文档的重要性。这些经验将指导我们后续的工作。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2.jpe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Relationship Id="rId9" Type="http://schemas.openxmlformats.org/officeDocument/2006/relationships/image" Target="../media/image15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.svg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.png"/><Relationship Id="rId5" Type="http://schemas.openxmlformats.org/officeDocument/2006/relationships/image" Target="../media/image20.svg"/><Relationship Id="rId4" Type="http://schemas.openxmlformats.org/officeDocument/2006/relationships/image" Target="../media/image5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.png"/><Relationship Id="rId5" Type="http://schemas.openxmlformats.org/officeDocument/2006/relationships/image" Target="../media/image20.svg"/><Relationship Id="rId4" Type="http://schemas.openxmlformats.org/officeDocument/2006/relationships/image" Target="../media/image6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7.jpeg"/><Relationship Id="rId5" Type="http://schemas.openxmlformats.org/officeDocument/2006/relationships/image" Target="../media/image23.svg"/><Relationship Id="rId4" Type="http://schemas.openxmlformats.org/officeDocument/2006/relationships/image" Target="../media/image5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9.png"/><Relationship Id="rId5" Type="http://schemas.openxmlformats.org/officeDocument/2006/relationships/image" Target="../media/image20.svg"/><Relationship Id="rId4" Type="http://schemas.openxmlformats.org/officeDocument/2006/relationships/image" Target="../media/image28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0.png"/><Relationship Id="rId5" Type="http://schemas.openxmlformats.org/officeDocument/2006/relationships/image" Target="../media/image20.svg"/><Relationship Id="rId4" Type="http://schemas.openxmlformats.org/officeDocument/2006/relationships/image" Target="../media/image5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2.jpeg"/><Relationship Id="rId5" Type="http://schemas.openxmlformats.org/officeDocument/2006/relationships/image" Target="../media/image20.svg"/><Relationship Id="rId4" Type="http://schemas.openxmlformats.org/officeDocument/2006/relationships/image" Target="../media/image31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3" Type="http://schemas.openxmlformats.org/officeDocument/2006/relationships/image" Target="../media/image2.jpeg"/><Relationship Id="rId7" Type="http://schemas.openxmlformats.org/officeDocument/2006/relationships/image" Target="../media/image34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svg"/><Relationship Id="rId5" Type="http://schemas.openxmlformats.org/officeDocument/2006/relationships/image" Target="../media/image13.svg"/><Relationship Id="rId4" Type="http://schemas.openxmlformats.org/officeDocument/2006/relationships/image" Target="../media/image33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svg"/><Relationship Id="rId5" Type="http://schemas.openxmlformats.org/officeDocument/2006/relationships/image" Target="../media/image37.svg"/><Relationship Id="rId4" Type="http://schemas.openxmlformats.org/officeDocument/2006/relationships/image" Target="../media/image36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3" Type="http://schemas.openxmlformats.org/officeDocument/2006/relationships/image" Target="../media/image2.jpeg"/><Relationship Id="rId7" Type="http://schemas.openxmlformats.org/officeDocument/2006/relationships/image" Target="../media/image39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6.svg"/><Relationship Id="rId5" Type="http://schemas.openxmlformats.org/officeDocument/2006/relationships/image" Target="../media/image38.svg"/><Relationship Id="rId10" Type="http://schemas.openxmlformats.org/officeDocument/2006/relationships/image" Target="../media/image41.svg"/><Relationship Id="rId4" Type="http://schemas.openxmlformats.org/officeDocument/2006/relationships/image" Target="../media/image3.svg"/><Relationship Id="rId9" Type="http://schemas.openxmlformats.org/officeDocument/2006/relationships/image" Target="../media/image40.sv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svg"/><Relationship Id="rId3" Type="http://schemas.openxmlformats.org/officeDocument/2006/relationships/image" Target="../media/image2.jpeg"/><Relationship Id="rId7" Type="http://schemas.openxmlformats.org/officeDocument/2006/relationships/image" Target="../media/image44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3.svg"/><Relationship Id="rId11" Type="http://schemas.openxmlformats.org/officeDocument/2006/relationships/image" Target="../media/image15.svg"/><Relationship Id="rId5" Type="http://schemas.openxmlformats.org/officeDocument/2006/relationships/image" Target="../media/image40.svg"/><Relationship Id="rId10" Type="http://schemas.openxmlformats.org/officeDocument/2006/relationships/image" Target="../media/image47.svg"/><Relationship Id="rId4" Type="http://schemas.openxmlformats.org/officeDocument/2006/relationships/image" Target="../media/image42.svg"/><Relationship Id="rId9" Type="http://schemas.openxmlformats.org/officeDocument/2006/relationships/image" Target="../media/image4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016000" y="2032000"/>
            <a:ext cx="10160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面向专业认证的毕业要求达成度</a:t>
            </a:r>
            <a:br>
              <a:rPr lang="en-US" sz="4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4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统一计算平台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3683000"/>
            <a:ext cx="1016000" cy="762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4064000"/>
            <a:ext cx="1016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4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第一周工作进展汇报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5461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0" i="0" u="none" strike="noStrike" dirty="0" err="1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汇报人：王子嘉</a:t>
            </a:r>
            <a:r>
              <a:rPr lang="zh-CN" altLang="en-US" sz="2000" b="0" i="0" u="none" strike="noStrike" dirty="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，毛小斌                                    </a:t>
            </a:r>
            <a:r>
              <a:rPr lang="en-US" sz="2000" b="0" i="0" u="none" strike="noStrike" dirty="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|                                   </a:t>
            </a:r>
            <a:r>
              <a:rPr lang="en-US" sz="2000" b="0" i="0" u="none" strike="noStrike" dirty="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日期：2026年5月</a:t>
            </a:r>
            <a:r>
              <a:rPr lang="en-US" sz="2000" dirty="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20</a:t>
            </a:r>
            <a:r>
              <a:rPr lang="en-US" sz="2000" b="0" i="0" u="none" strike="noStrike" dirty="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日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381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汇报目录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270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CONTENTS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286000"/>
            <a:ext cx="3302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3F4F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952500" y="2476500"/>
            <a:ext cx="76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841500" y="2476500"/>
            <a:ext cx="203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项目背景与</a:t>
            </a:r>
            <a:b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本周核心目标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445000" y="2286000"/>
            <a:ext cx="3302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3F4F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4635500" y="2476500"/>
            <a:ext cx="76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5524500" y="2476500"/>
            <a:ext cx="203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项目整体规划</a:t>
            </a:r>
            <a:b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与阶段划分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128000" y="2286000"/>
            <a:ext cx="3302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3F4F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8318500" y="2476500"/>
            <a:ext cx="76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9207500" y="2476500"/>
            <a:ext cx="203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团队组织架构介绍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3746500"/>
            <a:ext cx="3302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3F4F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952500" y="4000500"/>
            <a:ext cx="76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841500" y="4000500"/>
            <a:ext cx="203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团队分工总览概述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445000" y="3746500"/>
            <a:ext cx="3302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3F4F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4635500" y="4000500"/>
            <a:ext cx="76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5524500" y="4000500"/>
            <a:ext cx="203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成员任务详情</a:t>
            </a:r>
            <a:br>
              <a:rPr lang="en-US" sz="1600" b="1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600" b="1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与成果展示</a:t>
            </a:r>
            <a:endParaRPr lang="en-US" sz="1100" dirty="0"/>
          </a:p>
        </p:txBody>
      </p:sp>
      <p:sp>
        <p:nvSpPr>
          <p:cNvPr id="20" name="AutoShape 20"/>
          <p:cNvSpPr/>
          <p:nvPr/>
        </p:nvSpPr>
        <p:spPr>
          <a:xfrm>
            <a:off x="8128000" y="3746500"/>
            <a:ext cx="3302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3F4F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8318500" y="4000500"/>
            <a:ext cx="76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06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9207500" y="4000500"/>
            <a:ext cx="203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核心任务完成</a:t>
            </a:r>
            <a:br>
              <a:rPr lang="en-US" sz="1600" b="1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600" b="1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质量复盘</a:t>
            </a:r>
            <a:endParaRPr lang="en-US" sz="1100" dirty="0"/>
          </a:p>
        </p:txBody>
      </p:sp>
      <p:sp>
        <p:nvSpPr>
          <p:cNvPr id="23" name="AutoShape 23"/>
          <p:cNvSpPr/>
          <p:nvPr/>
        </p:nvSpPr>
        <p:spPr>
          <a:xfrm>
            <a:off x="762000" y="5207000"/>
            <a:ext cx="3302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3F4F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952500" y="5397500"/>
            <a:ext cx="76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07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1841500" y="5397500"/>
            <a:ext cx="203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项目开发现存</a:t>
            </a:r>
            <a:b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问题梳理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4445000" y="5207000"/>
            <a:ext cx="3302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3F4F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4635500" y="5397500"/>
            <a:ext cx="76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08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5524500" y="5397500"/>
            <a:ext cx="203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第二周细分</a:t>
            </a:r>
            <a:b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工作任务规划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8128000" y="5207000"/>
            <a:ext cx="3302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3F4F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30"/>
          <p:cNvSpPr/>
          <p:nvPr/>
        </p:nvSpPr>
        <p:spPr>
          <a:xfrm>
            <a:off x="8318500" y="5397500"/>
            <a:ext cx="76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09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9207500" y="5397500"/>
            <a:ext cx="203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总结致谢与</a:t>
            </a:r>
            <a:b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后续展望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01 项目背景与本周核心目标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44700" y="2159000"/>
            <a:ext cx="736600" cy="736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952500" y="3175000"/>
            <a:ext cx="2921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项目定位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397000" y="3937000"/>
            <a:ext cx="20320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952500" y="4191000"/>
            <a:ext cx="2921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为高校专业认证打造毕业要求达成度自动化计算平台，替代人工统计，提升数据精准度与工作效率</a:t>
            </a:r>
            <a:r>
              <a:rPr lang="en-US" sz="12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9" name="AutoShape 9"/>
          <p:cNvSpPr/>
          <p:nvPr/>
        </p:nvSpPr>
        <p:spPr>
          <a:xfrm>
            <a:off x="4445000" y="177800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27700" y="2159000"/>
            <a:ext cx="736600" cy="736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4635500" y="3175000"/>
            <a:ext cx="2921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核心价值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5080000" y="3937000"/>
            <a:ext cx="20320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4635500" y="4191000"/>
            <a:ext cx="2921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解决传统毕业要求达成度计算流程繁琐、数据易出错、统计周期长的行业痛点。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128000" y="177800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410700" y="2159000"/>
            <a:ext cx="736600" cy="7366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8318500" y="3175000"/>
            <a:ext cx="2921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本周核心目标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763000" y="3937000"/>
            <a:ext cx="20320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8318500" y="4191000"/>
            <a:ext cx="2921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完成项目前期筹备、技术选型、基础框架搭建、数据库设计、分工落地及核心模块初步开发，确保项目启动阶段无偏差，为后续开发筑牢基础。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02 项目整体规划与阶段划分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905000"/>
            <a:ext cx="2590800" cy="4191000"/>
          </a:xfrm>
          <a:prstGeom prst="roundRect">
            <a:avLst>
              <a:gd name="adj" fmla="val 588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2590800" cy="762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286000"/>
            <a:ext cx="508000" cy="508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016000" y="3048000"/>
            <a:ext cx="20828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启动筹备期</a:t>
            </a:r>
            <a:r>
              <a:rPr lang="en-US" sz="16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（本周）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16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需求梳理与分析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技术架构选型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团队分工确认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基础环境搭建</a:t>
            </a:r>
          </a:p>
        </p:txBody>
      </p:sp>
      <p:sp>
        <p:nvSpPr>
          <p:cNvPr id="7" name="AutoShape 7"/>
          <p:cNvSpPr/>
          <p:nvPr/>
        </p:nvSpPr>
        <p:spPr>
          <a:xfrm>
            <a:off x="3505200" y="1905000"/>
            <a:ext cx="2590800" cy="4191000"/>
          </a:xfrm>
          <a:prstGeom prst="roundRect">
            <a:avLst>
              <a:gd name="adj" fmla="val 588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3505200" y="1905000"/>
            <a:ext cx="2590800" cy="762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59200" y="2286000"/>
            <a:ext cx="508000" cy="508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3759200" y="3048000"/>
            <a:ext cx="20828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核心开发期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16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功能模块开发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前后端接口联调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数据库设计与调试</a:t>
            </a:r>
          </a:p>
        </p:txBody>
      </p:sp>
      <p:sp>
        <p:nvSpPr>
          <p:cNvPr id="11" name="AutoShape 11"/>
          <p:cNvSpPr/>
          <p:nvPr/>
        </p:nvSpPr>
        <p:spPr>
          <a:xfrm>
            <a:off x="6248400" y="1905000"/>
            <a:ext cx="2590800" cy="4191000"/>
          </a:xfrm>
          <a:prstGeom prst="roundRect">
            <a:avLst>
              <a:gd name="adj" fmla="val 588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6248400" y="1905000"/>
            <a:ext cx="2590800" cy="762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02400" y="2286000"/>
            <a:ext cx="508000" cy="508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6502400" y="3048000"/>
            <a:ext cx="20828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测试优化期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16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功能完整性测试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关键Bug修复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系统性能优化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用户体验与交互调整</a:t>
            </a:r>
          </a:p>
        </p:txBody>
      </p:sp>
      <p:sp>
        <p:nvSpPr>
          <p:cNvPr id="15" name="AutoShape 15"/>
          <p:cNvSpPr/>
          <p:nvPr/>
        </p:nvSpPr>
        <p:spPr>
          <a:xfrm>
            <a:off x="8991600" y="1905000"/>
            <a:ext cx="2590800" cy="4191000"/>
          </a:xfrm>
          <a:prstGeom prst="roundRect">
            <a:avLst>
              <a:gd name="adj" fmla="val 588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8991600" y="1905000"/>
            <a:ext cx="2590800" cy="762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245600" y="2286000"/>
            <a:ext cx="508000" cy="5080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9245600" y="3048000"/>
            <a:ext cx="20828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上线部署期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16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服务器环境部署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产品全流程试运行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技术与使用文档完善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最终交付与验收确认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03 团队组织架构介绍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302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76200" cy="1397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2200" y="1905000"/>
            <a:ext cx="457200" cy="4572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676400" y="1905000"/>
            <a:ext cx="215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项目总负责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92200" y="2476500"/>
            <a:ext cx="27178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08333"/>
              </a:lnSpc>
              <a:defRPr/>
            </a:pPr>
            <a:r>
              <a:rPr lang="zh-CN" altLang="en-US" sz="1200" dirty="0"/>
              <a:t>负责系统架构顶层设计（</a:t>
            </a:r>
            <a:r>
              <a:rPr lang="en-US" altLang="zh-CN" sz="1200" dirty="0"/>
              <a:t>v1</a:t>
            </a:r>
            <a:r>
              <a:rPr lang="zh-CN" altLang="en-US" sz="1200" dirty="0"/>
              <a:t>）与模块边界划分；主持团队代码评审（</a:t>
            </a:r>
            <a:r>
              <a:rPr lang="en-US" altLang="zh-CN" sz="1200" dirty="0"/>
              <a:t>PR Review</a:t>
            </a:r>
            <a:r>
              <a:rPr lang="zh-CN" altLang="en-US" sz="1200" dirty="0"/>
              <a:t>），制定 </a:t>
            </a:r>
            <a:r>
              <a:rPr lang="en-US" altLang="zh-CN" sz="1200" dirty="0"/>
              <a:t>Git </a:t>
            </a:r>
            <a:r>
              <a:rPr lang="zh-CN" altLang="en-US" sz="1200" dirty="0"/>
              <a:t>分支保护规范；主导构建 </a:t>
            </a:r>
            <a:r>
              <a:rPr lang="en-US" altLang="zh-CN" sz="1200" dirty="0"/>
              <a:t>CI/CD </a:t>
            </a:r>
            <a:r>
              <a:rPr lang="zh-CN" altLang="en-US" sz="1200" dirty="0"/>
              <a:t>自动化集成流水线与 </a:t>
            </a:r>
            <a:r>
              <a:rPr lang="en-US" altLang="zh-CN" sz="1200" dirty="0"/>
              <a:t>Issue </a:t>
            </a:r>
            <a:r>
              <a:rPr lang="zh-CN" altLang="en-US" sz="1200" dirty="0"/>
              <a:t>生命周期管理。</a:t>
            </a:r>
            <a:endParaRPr lang="en-US" sz="1100" dirty="0"/>
          </a:p>
        </p:txBody>
      </p:sp>
      <p:sp>
        <p:nvSpPr>
          <p:cNvPr id="9" name="AutoShape 9"/>
          <p:cNvSpPr/>
          <p:nvPr/>
        </p:nvSpPr>
        <p:spPr>
          <a:xfrm>
            <a:off x="4445000" y="1651000"/>
            <a:ext cx="3302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4445000" y="2032000"/>
            <a:ext cx="76200" cy="1397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75200" y="1905000"/>
            <a:ext cx="457200" cy="4572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5359400" y="1905000"/>
            <a:ext cx="215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前端开发组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775200" y="2476500"/>
            <a:ext cx="27178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08333"/>
              </a:lnSpc>
              <a:defRPr/>
            </a:pPr>
            <a:r>
              <a:rPr lang="zh-CN" altLang="en-US" sz="1200" dirty="0"/>
              <a:t>负责 </a:t>
            </a:r>
            <a:r>
              <a:rPr lang="en-US" altLang="zh-CN" sz="1200" dirty="0"/>
              <a:t>Vue 3.5 + Vite 7 </a:t>
            </a:r>
            <a:r>
              <a:rPr lang="zh-CN" altLang="en-US" sz="1200" dirty="0"/>
              <a:t>工程初始化及底层目录规范；完成 </a:t>
            </a:r>
            <a:r>
              <a:rPr lang="en-US" altLang="zh-CN" sz="1200" dirty="0"/>
              <a:t>Axios </a:t>
            </a:r>
            <a:r>
              <a:rPr lang="zh-CN" altLang="en-US" sz="1200" dirty="0"/>
              <a:t>请求高内聚封装、路由拦截与 </a:t>
            </a:r>
            <a:r>
              <a:rPr lang="en-US" altLang="zh-CN" sz="1200" dirty="0" err="1"/>
              <a:t>Pinia</a:t>
            </a:r>
            <a:r>
              <a:rPr lang="en-US" altLang="zh-CN" sz="1200" dirty="0"/>
              <a:t> </a:t>
            </a:r>
            <a:r>
              <a:rPr lang="zh-CN" altLang="en-US" sz="1200" dirty="0"/>
              <a:t>全局状态管理；主导基础 </a:t>
            </a:r>
            <a:r>
              <a:rPr lang="en-US" altLang="zh-CN" sz="1200" dirty="0"/>
              <a:t>Layout </a:t>
            </a:r>
            <a:r>
              <a:rPr lang="zh-CN" altLang="en-US" sz="1200" dirty="0"/>
              <a:t>响应式布局与标准登录页研发。</a:t>
            </a:r>
            <a:endParaRPr lang="en-US" sz="1100" dirty="0"/>
          </a:p>
        </p:txBody>
      </p:sp>
      <p:sp>
        <p:nvSpPr>
          <p:cNvPr id="14" name="AutoShape 14"/>
          <p:cNvSpPr/>
          <p:nvPr/>
        </p:nvSpPr>
        <p:spPr>
          <a:xfrm>
            <a:off x="8128000" y="1651000"/>
            <a:ext cx="3302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8128000" y="2032000"/>
            <a:ext cx="76200" cy="1397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58200" y="1905000"/>
            <a:ext cx="457200" cy="4572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9042400" y="1905000"/>
            <a:ext cx="215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后端开发组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458200" y="2476500"/>
            <a:ext cx="27178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08333"/>
              </a:lnSpc>
              <a:defRPr/>
            </a:pPr>
            <a:r>
              <a:rPr lang="zh-CN" altLang="en-US" sz="1200" dirty="0"/>
              <a:t>负责 </a:t>
            </a:r>
            <a:r>
              <a:rPr lang="en-US" altLang="zh-CN" sz="1200" dirty="0"/>
              <a:t>Spring Boot 3 </a:t>
            </a:r>
            <a:r>
              <a:rPr lang="zh-CN" altLang="en-US" sz="1200" dirty="0"/>
              <a:t>工程初始化，规范统一响应体（</a:t>
            </a:r>
            <a:r>
              <a:rPr lang="en-US" altLang="zh-CN" sz="1200" dirty="0"/>
              <a:t>Result</a:t>
            </a:r>
            <a:r>
              <a:rPr lang="zh-CN" altLang="en-US" sz="1200" dirty="0"/>
              <a:t>）与全局异常处理链路；接入 </a:t>
            </a:r>
            <a:r>
              <a:rPr lang="en-US" altLang="zh-CN" sz="1200" dirty="0"/>
              <a:t>Swagger/</a:t>
            </a:r>
            <a:r>
              <a:rPr lang="en-US" altLang="zh-CN" sz="1200" dirty="0" err="1"/>
              <a:t>OpenAPI</a:t>
            </a:r>
            <a:r>
              <a:rPr lang="en-US" altLang="zh-CN" sz="1200" dirty="0"/>
              <a:t> 3.0 </a:t>
            </a:r>
            <a:r>
              <a:rPr lang="zh-CN" altLang="en-US" sz="1200" dirty="0"/>
              <a:t>标准文档；打通 </a:t>
            </a:r>
            <a:r>
              <a:rPr lang="en-US" altLang="zh-CN" sz="1200" dirty="0"/>
              <a:t>JWT </a:t>
            </a:r>
            <a:r>
              <a:rPr lang="zh-CN" altLang="en-US" sz="1200" dirty="0"/>
              <a:t>认证与 </a:t>
            </a:r>
            <a:r>
              <a:rPr lang="en-US" altLang="zh-CN" sz="1200" dirty="0"/>
              <a:t>/login </a:t>
            </a:r>
            <a:r>
              <a:rPr lang="zh-CN" altLang="en-US" sz="1200" dirty="0"/>
              <a:t>最小闭环</a:t>
            </a:r>
            <a:r>
              <a:rPr lang="en-US" sz="12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19" name="AutoShape 19"/>
          <p:cNvSpPr/>
          <p:nvPr/>
        </p:nvSpPr>
        <p:spPr>
          <a:xfrm>
            <a:off x="762000" y="4191000"/>
            <a:ext cx="3302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762000" y="4572000"/>
            <a:ext cx="76200" cy="1397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92200" y="4445000"/>
            <a:ext cx="457200" cy="4572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1676400" y="4445000"/>
            <a:ext cx="215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数据库设计组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1092200" y="5022893"/>
            <a:ext cx="27178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08333"/>
              </a:lnSpc>
              <a:defRPr/>
            </a:pPr>
            <a:r>
              <a:rPr lang="zh-CN" altLang="en-US" sz="1200" dirty="0"/>
              <a:t>研读需求规格书，梳理“考核点</a:t>
            </a:r>
            <a:r>
              <a:rPr lang="en-US" altLang="zh-CN" sz="1200" dirty="0"/>
              <a:t>-</a:t>
            </a:r>
            <a:r>
              <a:rPr lang="zh-CN" altLang="en-US" sz="1200" dirty="0"/>
              <a:t>目标</a:t>
            </a:r>
            <a:r>
              <a:rPr lang="en-US" altLang="zh-CN" sz="1200" dirty="0"/>
              <a:t>-</a:t>
            </a:r>
            <a:r>
              <a:rPr lang="zh-CN" altLang="en-US" sz="1200" dirty="0"/>
              <a:t>指标点”核心实体映射；设计输出物理 </a:t>
            </a:r>
            <a:r>
              <a:rPr lang="en-US" altLang="zh-CN" sz="1200" dirty="0"/>
              <a:t>ER </a:t>
            </a:r>
            <a:r>
              <a:rPr lang="zh-CN" altLang="en-US" sz="1200" dirty="0"/>
              <a:t>图（</a:t>
            </a:r>
            <a:r>
              <a:rPr lang="en-US" altLang="zh-CN" sz="1200" dirty="0"/>
              <a:t>v1</a:t>
            </a:r>
            <a:r>
              <a:rPr lang="zh-CN" altLang="en-US" sz="1200" dirty="0"/>
              <a:t>）并落地核心建表 </a:t>
            </a:r>
            <a:r>
              <a:rPr lang="en-US" altLang="zh-CN" sz="1200" dirty="0"/>
              <a:t>DDL</a:t>
            </a:r>
            <a:r>
              <a:rPr lang="zh-CN" altLang="en-US" sz="1200" dirty="0"/>
              <a:t>；针对复杂权重矩阵计算，设计多表联合索引与字段约束。</a:t>
            </a:r>
            <a:endParaRPr lang="en-US" sz="1100" dirty="0"/>
          </a:p>
        </p:txBody>
      </p:sp>
      <p:sp>
        <p:nvSpPr>
          <p:cNvPr id="24" name="AutoShape 24"/>
          <p:cNvSpPr/>
          <p:nvPr/>
        </p:nvSpPr>
        <p:spPr>
          <a:xfrm>
            <a:off x="4445000" y="4191000"/>
            <a:ext cx="3302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4445000" y="4572000"/>
            <a:ext cx="76200" cy="1397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75200" y="4445000"/>
            <a:ext cx="457200" cy="4572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5359400" y="4445000"/>
            <a:ext cx="215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运维配置组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4775200" y="4902200"/>
            <a:ext cx="27178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08333"/>
              </a:lnSpc>
              <a:defRPr/>
            </a:pPr>
            <a:r>
              <a:rPr lang="zh-CN" altLang="en-US" sz="1100" dirty="0"/>
              <a:t>申请并初始化云服务器实例；配置 </a:t>
            </a:r>
            <a:r>
              <a:rPr lang="en-US" altLang="zh-CN" sz="1100" dirty="0"/>
              <a:t>Java 21</a:t>
            </a:r>
            <a:r>
              <a:rPr lang="zh-CN" altLang="en-US" sz="1100" dirty="0"/>
              <a:t>、</a:t>
            </a:r>
            <a:r>
              <a:rPr lang="en-US" altLang="zh-CN" sz="1100" dirty="0"/>
              <a:t>MySQL 8.4 </a:t>
            </a:r>
            <a:r>
              <a:rPr lang="zh-CN" altLang="en-US" sz="1100" dirty="0"/>
              <a:t>等高版本开发环境；编写首版 </a:t>
            </a:r>
            <a:r>
              <a:rPr lang="en-US" altLang="zh-CN" sz="1100" dirty="0"/>
              <a:t>Docker Compose </a:t>
            </a:r>
            <a:r>
              <a:rPr lang="zh-CN" altLang="en-US" sz="1100" dirty="0"/>
              <a:t>编排脚本，打通 </a:t>
            </a:r>
            <a:r>
              <a:rPr lang="en-US" altLang="zh-CN" sz="1100" dirty="0"/>
              <a:t>Nginx </a:t>
            </a:r>
            <a:r>
              <a:rPr lang="zh-CN" altLang="en-US" sz="1100" dirty="0"/>
              <a:t>反向代理与静态资源托管。</a:t>
            </a:r>
            <a:endParaRPr lang="en-US" sz="1100" dirty="0"/>
          </a:p>
        </p:txBody>
      </p:sp>
      <p:sp>
        <p:nvSpPr>
          <p:cNvPr id="29" name="AutoShape 29"/>
          <p:cNvSpPr/>
          <p:nvPr/>
        </p:nvSpPr>
        <p:spPr>
          <a:xfrm>
            <a:off x="8128000" y="4191000"/>
            <a:ext cx="3302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30"/>
          <p:cNvSpPr/>
          <p:nvPr/>
        </p:nvSpPr>
        <p:spPr>
          <a:xfrm>
            <a:off x="8128000" y="4572000"/>
            <a:ext cx="76200" cy="1397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1" name="Picture 3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458200" y="4445000"/>
            <a:ext cx="457200" cy="457200"/>
          </a:xfrm>
          <a:prstGeom prst="rect">
            <a:avLst/>
          </a:prstGeom>
        </p:spPr>
      </p:pic>
      <p:sp>
        <p:nvSpPr>
          <p:cNvPr id="32" name="AutoShape 32"/>
          <p:cNvSpPr/>
          <p:nvPr/>
        </p:nvSpPr>
        <p:spPr>
          <a:xfrm>
            <a:off x="9042400" y="4445000"/>
            <a:ext cx="215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汇报统筹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8458200" y="4699000"/>
            <a:ext cx="27178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2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王子嘉</a:t>
            </a:r>
            <a:r>
              <a:rPr lang="zh-CN" altLang="en-US" sz="12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，毛小斌</a:t>
            </a:r>
            <a:r>
              <a:rPr lang="en-US" sz="12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en-US" sz="12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负责本周工作汇总、成果整理、汇报输出</a:t>
            </a:r>
            <a:r>
              <a:rPr lang="en-US" sz="12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04 团队分工总览概述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2222500"/>
          </a:xfrm>
          <a:prstGeom prst="roundRect">
            <a:avLst>
              <a:gd name="adj" fmla="val 6857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9500" y="2349500"/>
            <a:ext cx="609600" cy="609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968500" y="2095500"/>
            <a:ext cx="3683000" cy="158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000" b="1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分工模式</a:t>
            </a:r>
            <a:endParaRPr lang="en-US" sz="1100" dirty="0"/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lang="en-US" altLang="zh-CN" sz="1200" b="1" dirty="0"/>
              <a:t>【</a:t>
            </a:r>
            <a:r>
              <a:rPr lang="zh-CN" altLang="en-US" sz="1200" b="1" dirty="0"/>
              <a:t>敏捷迭代与 </a:t>
            </a:r>
            <a:r>
              <a:rPr lang="en-US" altLang="zh-CN" sz="1200" b="1" dirty="0"/>
              <a:t>Issues </a:t>
            </a:r>
            <a:r>
              <a:rPr lang="zh-CN" altLang="en-US" sz="1200" b="1" dirty="0"/>
              <a:t>驱动模式</a:t>
            </a:r>
            <a:r>
              <a:rPr lang="en-US" altLang="zh-CN" sz="1200" b="1" dirty="0"/>
              <a:t>】</a:t>
            </a:r>
            <a:r>
              <a:rPr lang="zh-CN" altLang="en-US" sz="1200" dirty="0"/>
              <a:t>将系统解耦为微型 </a:t>
            </a:r>
            <a:r>
              <a:rPr lang="en-US" altLang="zh-CN" sz="1200" dirty="0"/>
              <a:t>Sprint</a:t>
            </a:r>
            <a:r>
              <a:rPr lang="zh-CN" altLang="en-US" sz="1200" dirty="0"/>
              <a:t>，通过 </a:t>
            </a:r>
            <a:r>
              <a:rPr lang="en-US" altLang="zh-CN" sz="1200" dirty="0"/>
              <a:t>GitHub Issues </a:t>
            </a:r>
            <a:r>
              <a:rPr lang="zh-CN" altLang="en-US" sz="1200" dirty="0"/>
              <a:t>进行细粒度原子化任务指派；全员采用独立的 </a:t>
            </a:r>
            <a:r>
              <a:rPr lang="en-US" altLang="zh-CN" dirty="0"/>
              <a:t>member/xxx</a:t>
            </a:r>
            <a:r>
              <a:rPr lang="zh-CN" altLang="en-US" sz="1200" dirty="0"/>
              <a:t> 固定分支并行开发，通过强内聚、低耦合的模块化设计，实现各工种无缝衔接，杜绝代码冲突与职能重叠。</a:t>
            </a:r>
            <a:endParaRPr lang="en-US" sz="1300" b="0" i="0" u="none" strike="noStrike" dirty="0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6223000" y="1778000"/>
            <a:ext cx="5207000" cy="2222500"/>
          </a:xfrm>
          <a:prstGeom prst="roundRect">
            <a:avLst>
              <a:gd name="adj" fmla="val 6857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40500" y="2349500"/>
            <a:ext cx="609600" cy="6096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7429500" y="2095500"/>
            <a:ext cx="3683000" cy="158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000" b="1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分工原则</a:t>
            </a:r>
            <a:endParaRPr lang="en-US" sz="1100" dirty="0"/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lang="en-US" altLang="zh-CN" sz="1200" b="1" dirty="0"/>
              <a:t>【</a:t>
            </a:r>
            <a:r>
              <a:rPr lang="zh-CN" altLang="en-US" sz="1200" b="1" dirty="0"/>
              <a:t>领域专精与工作量可量化原则</a:t>
            </a:r>
            <a:r>
              <a:rPr lang="en-US" altLang="zh-CN" sz="1200" b="1" dirty="0"/>
              <a:t>】</a:t>
            </a:r>
            <a:r>
              <a:rPr lang="zh-CN" altLang="en-US" sz="1200" dirty="0"/>
              <a:t>严格匹配全员技术栈优势（如前端、后端、数据建模、</a:t>
            </a:r>
            <a:r>
              <a:rPr lang="en-US" altLang="zh-CN" sz="1200" dirty="0"/>
              <a:t>DevOps</a:t>
            </a:r>
            <a:r>
              <a:rPr lang="zh-CN" altLang="en-US" sz="1200" dirty="0"/>
              <a:t>）进行专业化定向分工；依托任务故事点（</a:t>
            </a:r>
            <a:r>
              <a:rPr lang="en-US" altLang="zh-CN" sz="1200" dirty="0"/>
              <a:t>Story Points</a:t>
            </a:r>
            <a:r>
              <a:rPr lang="zh-CN" altLang="en-US" sz="1200" dirty="0"/>
              <a:t>）评估机制兼顾工作量绝对均衡，确保每一项交付指标均具备高落地性、高可核查性。</a:t>
            </a:r>
            <a:endParaRPr lang="en-US" sz="1300" b="0" i="0" u="none" strike="noStrike" dirty="0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762000" y="4254500"/>
            <a:ext cx="5207000" cy="2222500"/>
          </a:xfrm>
          <a:prstGeom prst="roundRect">
            <a:avLst>
              <a:gd name="adj" fmla="val 6857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79500" y="4826000"/>
            <a:ext cx="609600" cy="609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968500" y="4572000"/>
            <a:ext cx="3683000" cy="158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000" b="1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交付标准</a:t>
            </a:r>
            <a:endParaRPr lang="en-US" sz="1100" dirty="0"/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lang="en-US" altLang="zh-CN" sz="1200" b="1" dirty="0"/>
              <a:t>【</a:t>
            </a:r>
            <a:r>
              <a:rPr lang="zh-CN" altLang="en-US" sz="1200" b="1" dirty="0"/>
              <a:t>代码资产与三重交付物审计标准</a:t>
            </a:r>
            <a:r>
              <a:rPr lang="en-US" altLang="zh-CN" sz="1200" b="1" dirty="0"/>
              <a:t>】</a:t>
            </a:r>
            <a:r>
              <a:rPr lang="zh-CN" altLang="en-US" sz="1200" b="1" dirty="0"/>
              <a:t> </a:t>
            </a:r>
            <a:r>
              <a:rPr lang="zh-CN" altLang="en-US" sz="1200" dirty="0"/>
              <a:t>建立严格的质量红线，所有任务必须包含：高质量代码源文件、完备的技术设计文档</a:t>
            </a:r>
            <a:r>
              <a:rPr lang="en-US" altLang="zh-CN" sz="1200" dirty="0"/>
              <a:t>/</a:t>
            </a:r>
            <a:r>
              <a:rPr lang="zh-CN" altLang="en-US" sz="1200" dirty="0"/>
              <a:t>接口说明、以及联调成果运行截图；合并分支需通过 </a:t>
            </a:r>
            <a:r>
              <a:rPr lang="en-US" altLang="zh-CN" sz="1200" dirty="0"/>
              <a:t>CI </a:t>
            </a:r>
            <a:r>
              <a:rPr lang="zh-CN" altLang="en-US" sz="1200" dirty="0"/>
              <a:t>构建检查及至少 </a:t>
            </a:r>
            <a:r>
              <a:rPr lang="en-US" altLang="zh-CN" sz="1200" dirty="0"/>
              <a:t>1 </a:t>
            </a:r>
            <a:r>
              <a:rPr lang="zh-CN" altLang="en-US" sz="1200" dirty="0"/>
              <a:t>人的 </a:t>
            </a:r>
            <a:r>
              <a:rPr lang="en-US" altLang="zh-CN" sz="1200" dirty="0"/>
              <a:t>Peer Review</a:t>
            </a:r>
            <a:r>
              <a:rPr lang="zh-CN" altLang="en-US" sz="1200" dirty="0"/>
              <a:t>，保障每行代码均可回溯。</a:t>
            </a:r>
            <a:endParaRPr lang="en-US" sz="1300" b="0" i="0" u="none" strike="noStrike" dirty="0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6269935" y="4254500"/>
            <a:ext cx="5207000" cy="2222500"/>
          </a:xfrm>
          <a:prstGeom prst="roundRect">
            <a:avLst>
              <a:gd name="adj" fmla="val 6857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40500" y="4826000"/>
            <a:ext cx="609600" cy="6096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7429500" y="4572000"/>
            <a:ext cx="3683000" cy="158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000" b="1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协作模式</a:t>
            </a:r>
            <a:endParaRPr lang="en-US" sz="1100" dirty="0"/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lang="en-US" altLang="zh-CN" sz="1200" b="1" dirty="0"/>
              <a:t>【</a:t>
            </a:r>
            <a:r>
              <a:rPr lang="zh-CN" altLang="en-US" sz="1200" b="1" dirty="0"/>
              <a:t>分布式异步协作与周度 </a:t>
            </a:r>
            <a:r>
              <a:rPr lang="en-US" altLang="zh-CN" sz="1200" b="1" dirty="0"/>
              <a:t>Sprint </a:t>
            </a:r>
            <a:r>
              <a:rPr lang="zh-CN" altLang="en-US" sz="1200" b="1" dirty="0"/>
              <a:t>评审</a:t>
            </a:r>
            <a:r>
              <a:rPr lang="en-US" altLang="zh-CN" sz="1200" b="1" dirty="0"/>
              <a:t>】</a:t>
            </a:r>
            <a:r>
              <a:rPr lang="zh-CN" altLang="en-US" sz="1200" b="1" dirty="0"/>
              <a:t> </a:t>
            </a:r>
            <a:r>
              <a:rPr lang="zh-CN" altLang="en-US" sz="1200" dirty="0"/>
              <a:t>采用 </a:t>
            </a:r>
            <a:r>
              <a:rPr lang="en-US" altLang="zh-CN" sz="1200" dirty="0"/>
              <a:t>GitHub Project </a:t>
            </a:r>
            <a:r>
              <a:rPr lang="zh-CN" altLang="en-US" sz="1200" dirty="0"/>
              <a:t>看板管理日常进度，利用异步沟通机制每日对齐技术暗礁；每周组织 </a:t>
            </a:r>
            <a:r>
              <a:rPr lang="en-US" altLang="zh-CN" sz="1200" dirty="0"/>
              <a:t>1 </a:t>
            </a:r>
            <a:r>
              <a:rPr lang="zh-CN" altLang="en-US" sz="1200" dirty="0"/>
              <a:t>次线上</a:t>
            </a:r>
            <a:r>
              <a:rPr lang="en-US" altLang="zh-CN" sz="1200" dirty="0"/>
              <a:t>/</a:t>
            </a:r>
            <a:r>
              <a:rPr lang="zh-CN" altLang="en-US" sz="1200" dirty="0"/>
              <a:t>线下架构评审与联调检查，聚焦“前端登录 </a:t>
            </a:r>
            <a:r>
              <a:rPr lang="en-US" altLang="zh-CN" dirty="0"/>
              <a:t>$\</a:t>
            </a:r>
            <a:r>
              <a:rPr lang="en-US" altLang="zh-CN" dirty="0" err="1"/>
              <a:t>rightarrow</a:t>
            </a:r>
            <a:r>
              <a:rPr lang="en-US" altLang="zh-CN" dirty="0"/>
              <a:t>$</a:t>
            </a:r>
            <a:r>
              <a:rPr lang="zh-CN" altLang="en-US" sz="1200" dirty="0"/>
              <a:t> 后端 </a:t>
            </a:r>
            <a:r>
              <a:rPr lang="en-US" altLang="zh-CN" dirty="0"/>
              <a:t>/login</a:t>
            </a:r>
            <a:r>
              <a:rPr lang="zh-CN" altLang="en-US" sz="1200" dirty="0"/>
              <a:t>”等最小闭环链路，动态清除分工衔接瓶颈。</a:t>
            </a:r>
            <a:endParaRPr lang="en-US" sz="1300" b="0" i="0" u="none" strike="noStrike" dirty="0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05 成员任务详情与成果展示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2200" b="1" i="0" u="none" strike="noStrike" dirty="0" err="1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组长</a:t>
            </a:r>
            <a:r>
              <a:rPr lang="en-US" sz="2200" b="1" i="0" u="none" strike="noStrike" dirty="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 (</a:t>
            </a:r>
            <a:r>
              <a:rPr lang="zh-CN" altLang="en-US" sz="2200" b="1" dirty="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孔文峰</a:t>
            </a:r>
            <a:r>
              <a:rPr lang="en-US" sz="2200" b="1" i="0" u="none" strike="noStrike" dirty="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) - </a:t>
            </a:r>
            <a:r>
              <a:rPr lang="en-US" sz="2200" b="1" i="0" u="none" strike="noStrike" dirty="0" err="1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架构与流程总览</a:t>
            </a: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>
            <a:off x="762000" y="2159000"/>
            <a:ext cx="5207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3495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460500" y="23114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核心任务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2692400"/>
            <a:ext cx="4699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</a:t>
            </a:r>
            <a:r>
              <a:rPr lang="en-US" sz="13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负责系统架构设计，输出架构图与模块边界定义</a:t>
            </a:r>
            <a:endParaRPr lang="en-US" sz="1100" dirty="0"/>
          </a:p>
          <a:p>
            <a:pPr indent="0" algn="l">
              <a:lnSpc>
                <a:spcPct val="116666"/>
              </a:lnSpc>
            </a:pP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</a:t>
            </a:r>
            <a:r>
              <a:rPr lang="en-US" sz="13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统筹项目任务管理，完成所有</a:t>
            </a: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 Issue </a:t>
            </a:r>
            <a:r>
              <a:rPr lang="en-US" sz="13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的创建与分配</a:t>
            </a:r>
            <a:endParaRPr lang="en-US" sz="1300" b="0" i="0" u="none" strike="noStrike" dirty="0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16666"/>
              </a:lnSpc>
            </a:pP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</a:t>
            </a:r>
            <a:r>
              <a:rPr lang="en-US" sz="13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组织并主持</a:t>
            </a: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 1 次技术架构评审、1 </a:t>
            </a:r>
            <a:r>
              <a:rPr lang="en-US" sz="13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次系统联调检查</a:t>
            </a:r>
            <a:endParaRPr lang="en-US" sz="1300" b="0" i="0" u="none" strike="noStrike" dirty="0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16666"/>
              </a:lnSpc>
            </a:pP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</a:t>
            </a:r>
            <a:r>
              <a:rPr lang="en-US" sz="13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推动代码规范落地，确保</a:t>
            </a: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 PR/Issue </a:t>
            </a:r>
            <a:r>
              <a:rPr lang="en-US" sz="13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模板与</a:t>
            </a: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 CI </a:t>
            </a:r>
            <a:r>
              <a:rPr lang="en-US" sz="13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流水线生效</a:t>
            </a:r>
            <a:endParaRPr lang="en-US" sz="1300" b="0" i="0" u="none" strike="noStrike" dirty="0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762000" y="4445000"/>
            <a:ext cx="5207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46355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460500" y="45974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关键成果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016000" y="5114648"/>
            <a:ext cx="4699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300" b="1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架构基石：</a:t>
            </a:r>
            <a:r>
              <a:rPr lang="en-US" sz="13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输出架构图</a:t>
            </a: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 v1 </a:t>
            </a:r>
            <a:r>
              <a:rPr lang="en-US" sz="13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并顺利通过团队全员技术评审</a:t>
            </a:r>
            <a:endParaRPr lang="en-US" sz="1100" dirty="0"/>
          </a:p>
          <a:p>
            <a:pPr indent="0" algn="l">
              <a:lnSpc>
                <a:spcPct val="116666"/>
              </a:lnSpc>
            </a:pP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300" b="1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效能提升：</a:t>
            </a:r>
            <a:r>
              <a:rPr lang="en-US" sz="13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CI</a:t>
            </a: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/CD </a:t>
            </a:r>
            <a:r>
              <a:rPr lang="en-US" sz="13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流水线成功搭建，实现项目代码自动化构建与测试</a:t>
            </a:r>
            <a:endParaRPr lang="en-US" sz="1300" b="0" i="0" u="none" strike="noStrike" dirty="0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16666"/>
              </a:lnSpc>
            </a:pP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300" b="1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任务落地：</a:t>
            </a: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12个关键任务 Issue </a:t>
            </a:r>
            <a:r>
              <a:rPr lang="en-US" sz="13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已全部分配，责任到人，按期推进</a:t>
            </a:r>
            <a:endParaRPr lang="en-US" sz="1300" b="0" i="0" u="none" strike="noStrike" dirty="0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16666"/>
              </a:lnSpc>
            </a:pP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300" b="1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团队协同：</a:t>
            </a: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高效组织3次全体进度同步会及多场小组技术讨论</a:t>
            </a: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/>
          <a:srcRect t="13756" b="13756"/>
          <a:stretch>
            <a:fillRect/>
          </a:stretch>
        </p:blipFill>
        <p:spPr>
          <a:xfrm>
            <a:off x="6223000" y="2159000"/>
            <a:ext cx="5207000" cy="2540000"/>
          </a:xfrm>
          <a:prstGeom prst="roundRect">
            <a:avLst>
              <a:gd name="adj" fmla="val 6000"/>
            </a:avLst>
          </a:prstGeom>
          <a:noFill/>
          <a:ln w="254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14" name="AutoShape 14"/>
          <p:cNvSpPr/>
          <p:nvPr/>
        </p:nvSpPr>
        <p:spPr>
          <a:xfrm>
            <a:off x="6223000" y="4953000"/>
            <a:ext cx="5207000" cy="1651000"/>
          </a:xfrm>
          <a:prstGeom prst="roundRect">
            <a:avLst>
              <a:gd name="adj" fmla="val 9230"/>
            </a:avLst>
          </a:prstGeom>
          <a:solidFill>
            <a:srgbClr val="F0FDF4">
              <a:alpha val="100000"/>
            </a:srgbClr>
          </a:solidFill>
          <a:ln w="12700" cap="flat" cmpd="sng">
            <a:solidFill>
              <a:srgbClr val="BBF7D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6477000" y="52070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 dirty="0" err="1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成果亮点：自动化流水线落地</a:t>
            </a:r>
            <a:endParaRPr lang="en-US" sz="1100" dirty="0"/>
          </a:p>
          <a:p>
            <a:pPr indent="0" algn="l">
              <a:lnSpc>
                <a:spcPct val="116666"/>
              </a:lnSpc>
            </a:pPr>
            <a:r>
              <a:rPr lang="en-US" sz="1200" b="0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截图展示了我们搭建的</a:t>
            </a:r>
            <a:r>
              <a:rPr lang="en-US" sz="12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 GitHub Actions 自动化构建与测试流水线。这一成果将代码从提交到合并的人工审核与构建环节自动化，显著减少了重复劳动，提升了交付效率，同时通过标准化流程保障了系统的代码质量与稳定性。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05 成员任务详情与成果展示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811095" y="1612900"/>
            <a:ext cx="533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 dirty="0" err="1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前端团队</a:t>
            </a:r>
            <a:r>
              <a:rPr lang="en-US" sz="2400" b="1" i="0" u="none" strike="noStrike" dirty="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 1(</a:t>
            </a:r>
            <a:r>
              <a:rPr lang="zh-CN" altLang="en-US" sz="2400" b="1" dirty="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王子嘉</a:t>
            </a:r>
            <a:r>
              <a:rPr lang="en-US" sz="2400" b="1" i="0" u="none" strike="noStrike" dirty="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) · </a:t>
            </a:r>
            <a:r>
              <a:rPr lang="en-US" sz="2400" b="1" i="0" u="none" strike="noStrike" dirty="0" err="1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前端基础构建</a:t>
            </a: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>
            <a:off x="762000" y="2158999"/>
            <a:ext cx="5334000" cy="2281654"/>
          </a:xfrm>
          <a:prstGeom prst="roundRect">
            <a:avLst>
              <a:gd name="adj" fmla="val 827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0776" y="2349500"/>
            <a:ext cx="279400" cy="279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460500" y="22987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核心任务</a:t>
            </a:r>
            <a:endParaRPr lang="en-US" sz="1100" dirty="0"/>
          </a:p>
        </p:txBody>
      </p:sp>
      <p:sp>
        <p:nvSpPr>
          <p:cNvPr id="8" name="AutoShape 8"/>
          <p:cNvSpPr/>
          <p:nvPr/>
        </p:nvSpPr>
        <p:spPr>
          <a:xfrm>
            <a:off x="952500" y="3052176"/>
            <a:ext cx="482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08333"/>
              </a:lnSpc>
            </a:pPr>
            <a:r>
              <a:rPr lang="zh-CN" altLang="en-US" sz="1200" dirty="0">
                <a:solidFill>
                  <a:srgbClr val="4B5563"/>
                </a:solidFill>
                <a:latin typeface="Noto Sans SC"/>
                <a:ea typeface="Noto Sans SC"/>
              </a:rPr>
              <a:t>企业级前端脚手架搭建： 基于 </a:t>
            </a:r>
            <a:r>
              <a:rPr lang="en-US" altLang="zh-CN" sz="1200" dirty="0">
                <a:solidFill>
                  <a:srgbClr val="4B5563"/>
                </a:solidFill>
                <a:latin typeface="Noto Sans SC"/>
                <a:ea typeface="Noto Sans SC"/>
              </a:rPr>
              <a:t>Vite 7 </a:t>
            </a:r>
            <a:r>
              <a:rPr lang="zh-CN" altLang="en-US" sz="1200" dirty="0">
                <a:solidFill>
                  <a:srgbClr val="4B5563"/>
                </a:solidFill>
                <a:latin typeface="Noto Sans SC"/>
                <a:ea typeface="Noto Sans SC"/>
              </a:rPr>
              <a:t>规范初始化 </a:t>
            </a:r>
            <a:r>
              <a:rPr lang="en-US" altLang="zh-CN" sz="1200" dirty="0">
                <a:solidFill>
                  <a:srgbClr val="4B5563"/>
                </a:solidFill>
                <a:latin typeface="Noto Sans SC"/>
                <a:ea typeface="Noto Sans SC"/>
              </a:rPr>
              <a:t>Vue 3.5 </a:t>
            </a:r>
            <a:r>
              <a:rPr lang="zh-CN" altLang="en-US" sz="1200" dirty="0">
                <a:solidFill>
                  <a:srgbClr val="4B5563"/>
                </a:solidFill>
                <a:latin typeface="Noto Sans SC"/>
                <a:ea typeface="Noto Sans SC"/>
              </a:rPr>
              <a:t>生产环境，设计高内聚、低耦合的模块化工程目录结构。</a:t>
            </a:r>
            <a:endParaRPr lang="en-US" altLang="zh-CN" sz="1200" dirty="0">
              <a:solidFill>
                <a:srgbClr val="4B5563"/>
              </a:solidFill>
              <a:latin typeface="Noto Sans SC"/>
              <a:ea typeface="Noto Sans SC"/>
            </a:endParaRPr>
          </a:p>
          <a:p>
            <a:pPr>
              <a:lnSpc>
                <a:spcPct val="108333"/>
              </a:lnSpc>
            </a:pPr>
            <a:endParaRPr lang="zh-CN" altLang="en-US" sz="1200" dirty="0">
              <a:solidFill>
                <a:srgbClr val="4B5563"/>
              </a:solidFill>
              <a:latin typeface="Noto Sans SC"/>
              <a:ea typeface="Noto Sans SC"/>
            </a:endParaRPr>
          </a:p>
          <a:p>
            <a:pPr>
              <a:lnSpc>
                <a:spcPct val="108333"/>
              </a:lnSpc>
            </a:pPr>
            <a:r>
              <a:rPr lang="zh-CN" altLang="en-US" sz="1200" dirty="0">
                <a:solidFill>
                  <a:srgbClr val="4B5563"/>
                </a:solidFill>
                <a:latin typeface="Noto Sans SC"/>
                <a:ea typeface="Noto Sans SC"/>
              </a:rPr>
              <a:t>全局数据流与网络底座抽象： 引入 </a:t>
            </a:r>
            <a:r>
              <a:rPr lang="en-US" altLang="zh-CN" sz="1200" dirty="0" err="1">
                <a:solidFill>
                  <a:srgbClr val="4B5563"/>
                </a:solidFill>
                <a:latin typeface="Noto Sans SC"/>
                <a:ea typeface="Noto Sans SC"/>
              </a:rPr>
              <a:t>Pinia</a:t>
            </a:r>
            <a:r>
              <a:rPr lang="en-US" altLang="zh-CN" sz="1200" dirty="0">
                <a:solidFill>
                  <a:srgbClr val="4B5563"/>
                </a:solidFill>
                <a:latin typeface="Noto Sans SC"/>
                <a:ea typeface="Noto Sans SC"/>
              </a:rPr>
              <a:t> </a:t>
            </a:r>
            <a:r>
              <a:rPr lang="zh-CN" altLang="en-US" sz="1200" dirty="0">
                <a:solidFill>
                  <a:srgbClr val="4B5563"/>
                </a:solidFill>
                <a:latin typeface="Noto Sans SC"/>
                <a:ea typeface="Noto Sans SC"/>
              </a:rPr>
              <a:t>构建全局状态机，完成 </a:t>
            </a:r>
            <a:r>
              <a:rPr lang="en-US" altLang="zh-CN" sz="1200" dirty="0">
                <a:solidFill>
                  <a:srgbClr val="4B5563"/>
                </a:solidFill>
                <a:latin typeface="Noto Sans SC"/>
                <a:ea typeface="Noto Sans SC"/>
              </a:rPr>
              <a:t>Axios </a:t>
            </a:r>
            <a:r>
              <a:rPr lang="zh-CN" altLang="en-US" sz="1200" dirty="0">
                <a:solidFill>
                  <a:srgbClr val="4B5563"/>
                </a:solidFill>
                <a:latin typeface="Noto Sans SC"/>
                <a:ea typeface="Noto Sans SC"/>
              </a:rPr>
              <a:t>二次封装与拦截器设计。</a:t>
            </a:r>
            <a:endParaRPr lang="en-US" altLang="zh-CN" sz="1200" dirty="0">
              <a:solidFill>
                <a:srgbClr val="4B5563"/>
              </a:solidFill>
              <a:latin typeface="Noto Sans SC"/>
              <a:ea typeface="Noto Sans SC"/>
            </a:endParaRPr>
          </a:p>
          <a:p>
            <a:pPr>
              <a:lnSpc>
                <a:spcPct val="108333"/>
              </a:lnSpc>
            </a:pPr>
            <a:endParaRPr lang="zh-CN" altLang="en-US" sz="1200" dirty="0">
              <a:solidFill>
                <a:srgbClr val="4B5563"/>
              </a:solidFill>
              <a:latin typeface="Noto Sans SC"/>
              <a:ea typeface="Noto Sans SC"/>
            </a:endParaRPr>
          </a:p>
          <a:p>
            <a:pPr>
              <a:lnSpc>
                <a:spcPct val="108333"/>
              </a:lnSpc>
            </a:pPr>
            <a:r>
              <a:rPr lang="zh-CN" altLang="en-US" sz="1200" dirty="0">
                <a:solidFill>
                  <a:srgbClr val="4B5563"/>
                </a:solidFill>
                <a:latin typeface="Noto Sans SC"/>
                <a:ea typeface="Noto Sans SC"/>
              </a:rPr>
              <a:t>安全入口开发： 独立完成面向多角色（学生、教师、督导、管理员）的登录路由及 </a:t>
            </a:r>
            <a:r>
              <a:rPr lang="en-US" altLang="zh-CN" sz="1200" dirty="0">
                <a:solidFill>
                  <a:srgbClr val="4B5563"/>
                </a:solidFill>
                <a:latin typeface="Noto Sans SC"/>
                <a:ea typeface="Noto Sans SC"/>
              </a:rPr>
              <a:t>UI </a:t>
            </a:r>
            <a:r>
              <a:rPr lang="zh-CN" altLang="en-US" sz="1200" dirty="0">
                <a:solidFill>
                  <a:srgbClr val="4B5563"/>
                </a:solidFill>
                <a:latin typeface="Noto Sans SC"/>
                <a:ea typeface="Noto Sans SC"/>
              </a:rPr>
              <a:t>交互。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762000" y="4576006"/>
            <a:ext cx="53340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4762500"/>
            <a:ext cx="279400" cy="279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460500" y="47371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关键成果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016000" y="5253453"/>
            <a:ext cx="482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200" b="0" i="0" u="none" strike="noStrike" dirty="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✔</a:t>
            </a:r>
            <a:r>
              <a:rPr lang="en-US" sz="12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基于</a:t>
            </a:r>
            <a:r>
              <a:rPr lang="en-US" sz="12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 Vite </a:t>
            </a:r>
            <a:r>
              <a:rPr lang="en-US" sz="12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快速创建</a:t>
            </a:r>
            <a:r>
              <a:rPr lang="en-US" sz="12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 Vue3 </a:t>
            </a:r>
            <a:r>
              <a:rPr lang="en-US" sz="12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项目，无缝集成</a:t>
            </a:r>
            <a:r>
              <a:rPr lang="en-US" sz="12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 Element Plus </a:t>
            </a:r>
            <a:r>
              <a:rPr lang="en-US" sz="12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组件库</a:t>
            </a:r>
            <a:endParaRPr lang="en-US" sz="1100" dirty="0"/>
          </a:p>
          <a:p>
            <a:pPr indent="0" algn="l">
              <a:lnSpc>
                <a:spcPct val="108333"/>
              </a:lnSpc>
            </a:pPr>
            <a:r>
              <a:rPr lang="en-US" sz="1200" b="0" i="0" u="none" strike="noStrike" dirty="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✔</a:t>
            </a:r>
            <a:r>
              <a:rPr lang="en-US" sz="12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配置</a:t>
            </a:r>
            <a:r>
              <a:rPr lang="en-US" sz="12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 Vue Router </a:t>
            </a:r>
            <a:r>
              <a:rPr lang="en-US" sz="12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实现多页路由跳转，引入</a:t>
            </a:r>
            <a:r>
              <a:rPr lang="en-US" sz="12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2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Pinia</a:t>
            </a:r>
            <a:r>
              <a:rPr lang="en-US" sz="12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2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实现全局状态管理</a:t>
            </a:r>
            <a:endParaRPr lang="en-US" sz="1200" b="0" i="0" u="none" strike="noStrike" dirty="0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08333"/>
              </a:lnSpc>
            </a:pPr>
            <a:r>
              <a:rPr lang="en-US" sz="1200" b="0" i="0" u="none" strike="noStrike" dirty="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✔</a:t>
            </a:r>
            <a:r>
              <a:rPr lang="en-US" sz="12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Axios </a:t>
            </a:r>
            <a:r>
              <a:rPr lang="en-US" sz="12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二次封装，统一处理请求</a:t>
            </a:r>
            <a:r>
              <a:rPr lang="en-US" sz="12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/</a:t>
            </a:r>
            <a:r>
              <a:rPr lang="en-US" sz="12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响应拦截，实现代码复用</a:t>
            </a:r>
            <a:endParaRPr lang="en-US" sz="1200" b="0" i="0" u="none" strike="noStrike" dirty="0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08333"/>
              </a:lnSpc>
            </a:pPr>
            <a:r>
              <a:rPr lang="en-US" sz="1200" b="0" i="0" u="none" strike="noStrike" dirty="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✔</a:t>
            </a:r>
            <a:r>
              <a:rPr lang="en-US" sz="12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还原度100%完成符合 UI </a:t>
            </a:r>
            <a:r>
              <a:rPr lang="en-US" sz="12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规范的登录页面，确保交互体验流畅</a:t>
            </a:r>
            <a:endParaRPr lang="en-US" sz="1200" b="0" i="0" u="none" strike="noStrike" dirty="0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/>
          <a:srcRect l="1611" r="1611"/>
          <a:stretch>
            <a:fillRect/>
          </a:stretch>
        </p:blipFill>
        <p:spPr>
          <a:xfrm>
            <a:off x="6477000" y="2159000"/>
            <a:ext cx="4953000" cy="3048000"/>
          </a:xfrm>
          <a:prstGeom prst="roundRect">
            <a:avLst>
              <a:gd name="adj" fmla="val 6666"/>
            </a:avLst>
          </a:prstGeom>
          <a:noFill/>
          <a:ln w="38100" cap="flat" cmpd="sng">
            <a:solidFill>
              <a:srgbClr val="FFFFFF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14" name="AutoShape 14"/>
          <p:cNvSpPr/>
          <p:nvPr/>
        </p:nvSpPr>
        <p:spPr>
          <a:xfrm>
            <a:off x="6477000" y="5461000"/>
            <a:ext cx="495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登录页界面效果展示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简洁现代 · 响应式布局 · 交互友好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05 成员任务详情与成果展示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841500"/>
            <a:ext cx="50800" cy="304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16000" y="1778000"/>
            <a:ext cx="546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2400" b="1" dirty="0" err="1">
                <a:solidFill>
                  <a:srgbClr val="22C55E"/>
                </a:solidFill>
                <a:latin typeface="Noto Sans SC"/>
                <a:ea typeface="Noto Sans SC"/>
                <a:sym typeface="Noto Sans SC"/>
              </a:rPr>
              <a:t>前端团队</a:t>
            </a:r>
            <a:r>
              <a:rPr lang="en-US" sz="2400" b="1" dirty="0">
                <a:solidFill>
                  <a:srgbClr val="22C55E"/>
                </a:solidFill>
                <a:latin typeface="Noto Sans SC"/>
                <a:ea typeface="Noto Sans SC"/>
                <a:sym typeface="Noto Sans SC"/>
              </a:rPr>
              <a:t> 2(</a:t>
            </a:r>
            <a:r>
              <a:rPr lang="zh-CN" altLang="en-US" sz="2400" b="1" dirty="0">
                <a:solidFill>
                  <a:srgbClr val="22C55E"/>
                </a:solidFill>
                <a:latin typeface="Noto Sans SC"/>
                <a:ea typeface="Noto Sans SC"/>
                <a:sym typeface="Noto Sans SC"/>
              </a:rPr>
              <a:t>支梦林</a:t>
            </a:r>
            <a:r>
              <a:rPr lang="en-US" sz="2400" b="1" dirty="0">
                <a:solidFill>
                  <a:srgbClr val="22C55E"/>
                </a:solidFill>
                <a:latin typeface="Noto Sans SC"/>
                <a:ea typeface="Noto Sans SC"/>
                <a:sym typeface="Noto Sans SC"/>
              </a:rPr>
              <a:t>) · </a:t>
            </a:r>
            <a:r>
              <a:rPr lang="en-US" sz="2400" b="1" dirty="0" err="1">
                <a:solidFill>
                  <a:srgbClr val="22C55E"/>
                </a:solidFill>
                <a:latin typeface="Noto Sans SC"/>
                <a:ea typeface="Noto Sans SC"/>
                <a:sym typeface="Noto Sans SC"/>
              </a:rPr>
              <a:t>后台界面搭建</a:t>
            </a:r>
            <a:endParaRPr lang="en-US" sz="2400" b="1" dirty="0">
              <a:solidFill>
                <a:srgbClr val="22C55E"/>
              </a:solidFill>
              <a:latin typeface="Noto Sans SC"/>
              <a:ea typeface="Noto Sans SC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1016000" y="24130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核心任务：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完成后台Layout、首页占位页及404页面的开发；与后端紧密配合，完成登录接口联调，确保用户登录后能无缝跳转并访问后台首页，保证系统入口的可用性。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4064000"/>
            <a:ext cx="5207000" cy="2413000"/>
          </a:xfrm>
          <a:prstGeom prst="roundRect">
            <a:avLst>
              <a:gd name="adj" fmla="val 63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42545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397000" y="42545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关键成果交付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016000" y="4826000"/>
            <a:ext cx="4699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✔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实现经典后台布局：侧边栏导航、顶部全局栏与主内容区三栏式结构。</a:t>
            </a:r>
            <a:br>
              <a:rPr lang="en-US" sz="12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✔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完成首页搭建：包含欢迎文案及关键数据看板的骨架屏占位。</a:t>
            </a:r>
            <a:br>
              <a:rPr lang="en-US" sz="12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✔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基础页面完善：开发404错误页与通用提示页，提升用户体验一致性。</a:t>
            </a:r>
            <a:br>
              <a:rPr lang="en-US" sz="12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✔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接口联调：顺利打通登录鉴权，实现前后端交互闭环。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223000" y="1651000"/>
            <a:ext cx="5207000" cy="3302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/>
          <a:srcRect l="16857" r="16857"/>
          <a:stretch>
            <a:fillRect/>
          </a:stretch>
        </p:blipFill>
        <p:spPr>
          <a:xfrm>
            <a:off x="6350000" y="1778000"/>
            <a:ext cx="4953000" cy="2794000"/>
          </a:xfrm>
          <a:prstGeom prst="roundRect">
            <a:avLst>
              <a:gd name="adj" fmla="val 3636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4" name="AutoShape 14"/>
          <p:cNvSpPr/>
          <p:nvPr/>
        </p:nvSpPr>
        <p:spPr>
          <a:xfrm>
            <a:off x="6223000" y="5207000"/>
            <a:ext cx="5207000" cy="1270000"/>
          </a:xfrm>
          <a:prstGeom prst="roundRect">
            <a:avLst>
              <a:gd name="adj" fmla="val 12000"/>
            </a:avLst>
          </a:prstGeom>
          <a:solidFill>
            <a:srgbClr val="ECFDF5">
              <a:alpha val="100000"/>
            </a:srgbClr>
          </a:solidFill>
          <a:ln w="12700" cap="flat" cmpd="sng">
            <a:solidFill>
              <a:srgbClr val="86EFA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77000" y="54610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7112000" y="5397500"/>
            <a:ext cx="406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界面预览：后台管理首页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166534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清晰的信息层级与标准化的交互框架，为后续业务功能模块开发奠定坚实基础。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05 成员任务详情与成果展示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334000" cy="4826000"/>
          </a:xfrm>
          <a:prstGeom prst="roundRect">
            <a:avLst>
              <a:gd name="adj" fmla="val 3157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62000" y="1778000"/>
            <a:ext cx="6280789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2400" b="1" dirty="0" err="1">
                <a:solidFill>
                  <a:srgbClr val="22C55E"/>
                </a:solidFill>
                <a:latin typeface="Noto Sans SC"/>
                <a:ea typeface="Noto Sans SC"/>
                <a:sym typeface="Noto Sans SC"/>
              </a:rPr>
              <a:t>后端团队</a:t>
            </a:r>
            <a:r>
              <a:rPr lang="en-US" sz="2400" b="1" dirty="0">
                <a:solidFill>
                  <a:srgbClr val="22C55E"/>
                </a:solidFill>
                <a:latin typeface="Noto Sans SC"/>
                <a:ea typeface="Noto Sans SC"/>
                <a:sym typeface="Noto Sans SC"/>
              </a:rPr>
              <a:t> 1(</a:t>
            </a:r>
            <a:r>
              <a:rPr lang="zh-CN" altLang="en-US" sz="2400" b="1" dirty="0">
                <a:solidFill>
                  <a:srgbClr val="22C55E"/>
                </a:solidFill>
                <a:latin typeface="Noto Sans SC"/>
                <a:ea typeface="Noto Sans SC"/>
                <a:sym typeface="Noto Sans SC"/>
              </a:rPr>
              <a:t>王子儒</a:t>
            </a:r>
            <a:r>
              <a:rPr lang="en-US" sz="2400" b="1" dirty="0">
                <a:solidFill>
                  <a:srgbClr val="22C55E"/>
                </a:solidFill>
                <a:latin typeface="Noto Sans SC"/>
                <a:ea typeface="Noto Sans SC"/>
                <a:sym typeface="Noto Sans SC"/>
              </a:rPr>
              <a:t>) | </a:t>
            </a:r>
            <a:r>
              <a:rPr lang="en-US" sz="2400" b="1" dirty="0" err="1">
                <a:solidFill>
                  <a:srgbClr val="22C55E"/>
                </a:solidFill>
                <a:latin typeface="Noto Sans SC"/>
                <a:ea typeface="Noto Sans SC"/>
                <a:sym typeface="Noto Sans SC"/>
              </a:rPr>
              <a:t>后端基础框架搭建</a:t>
            </a:r>
            <a:endParaRPr lang="en-US" sz="2400" b="1" dirty="0">
              <a:solidFill>
                <a:srgbClr val="22C55E"/>
              </a:solidFill>
              <a:latin typeface="Noto Sans SC"/>
              <a:ea typeface="Noto Sans SC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1016000" y="2540000"/>
            <a:ext cx="4826000" cy="1397000"/>
          </a:xfrm>
          <a:prstGeom prst="roundRect">
            <a:avLst>
              <a:gd name="adj" fmla="val 7272"/>
            </a:avLst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219200" y="2667000"/>
            <a:ext cx="44196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▍核心任务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600"/>
              </a:spcBef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 初始化 Spring Boot 3 工程，构建项目基础骨架。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 完成统一返回体封装、全局异常处理机制及健康检查接口开发。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 集成 Swagger/OpenAPI，规范并自动生成 API 文档。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1016000" y="4191000"/>
            <a:ext cx="4826000" cy="1905000"/>
          </a:xfrm>
          <a:prstGeom prst="roundRect">
            <a:avLst>
              <a:gd name="adj" fmla="val 5333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1219200" y="4343400"/>
            <a:ext cx="44196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▍关键成果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600"/>
              </a:spcBef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✅ 搭建 Spring Boot 3 工程，集成 MyBatis-Plus、Lombok 等核心依赖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✅ 统一 API 响应格式，提升接口规范性与前后端协作效率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✅ 实现全局异常捕获，优化系统错误处理逻辑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✅ 配置完成 /actuator/health 健康检查，支持服务状态监控</a:t>
            </a:r>
          </a:p>
        </p:txBody>
      </p:sp>
      <p:sp>
        <p:nvSpPr>
          <p:cNvPr id="11" name="AutoShape 11"/>
          <p:cNvSpPr/>
          <p:nvPr/>
        </p:nvSpPr>
        <p:spPr>
          <a:xfrm>
            <a:off x="6350000" y="1524000"/>
            <a:ext cx="5080000" cy="4826000"/>
          </a:xfrm>
          <a:prstGeom prst="roundRect">
            <a:avLst>
              <a:gd name="adj" fmla="val 3157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/>
          <a:srcRect t="13549" b="13549"/>
          <a:stretch>
            <a:fillRect/>
          </a:stretch>
        </p:blipFill>
        <p:spPr>
          <a:xfrm>
            <a:off x="6604000" y="1905000"/>
            <a:ext cx="4572000" cy="3302000"/>
          </a:xfrm>
          <a:prstGeom prst="roundRect">
            <a:avLst>
              <a:gd name="adj" fmla="val 3076"/>
            </a:avLst>
          </a:prstGeom>
          <a:noFill/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</p:pic>
      <p:sp>
        <p:nvSpPr>
          <p:cNvPr id="13" name="AutoShape 13"/>
          <p:cNvSpPr/>
          <p:nvPr/>
        </p:nvSpPr>
        <p:spPr>
          <a:xfrm>
            <a:off x="6604000" y="5397500"/>
            <a:ext cx="457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工程目录结构预览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模块化设计，结构清晰，便于后续业务扩展与维护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05 成员任务详情与成果展示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20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2400" b="1" dirty="0" err="1">
                <a:solidFill>
                  <a:srgbClr val="22C55E"/>
                </a:solidFill>
                <a:latin typeface="Noto Sans SC"/>
                <a:ea typeface="Noto Sans SC"/>
                <a:sym typeface="Noto Sans SC"/>
              </a:rPr>
              <a:t>后端团队</a:t>
            </a:r>
            <a:r>
              <a:rPr lang="en-US" sz="2400" b="1" dirty="0">
                <a:solidFill>
                  <a:srgbClr val="22C55E"/>
                </a:solidFill>
                <a:latin typeface="Noto Sans SC"/>
                <a:ea typeface="Noto Sans SC"/>
                <a:sym typeface="Noto Sans SC"/>
              </a:rPr>
              <a:t> 2(</a:t>
            </a:r>
            <a:r>
              <a:rPr lang="zh-CN" altLang="en-US" sz="2400" b="1" dirty="0">
                <a:solidFill>
                  <a:srgbClr val="22C55E"/>
                </a:solidFill>
                <a:latin typeface="Noto Sans SC"/>
                <a:ea typeface="Noto Sans SC"/>
                <a:sym typeface="Noto Sans SC"/>
              </a:rPr>
              <a:t>毛小斌</a:t>
            </a:r>
            <a:r>
              <a:rPr lang="en-US" sz="2400" b="1" dirty="0">
                <a:solidFill>
                  <a:srgbClr val="22C55E"/>
                </a:solidFill>
                <a:latin typeface="Noto Sans SC"/>
                <a:ea typeface="Noto Sans SC"/>
                <a:sym typeface="Noto Sans SC"/>
              </a:rPr>
              <a:t>) · </a:t>
            </a:r>
            <a:r>
              <a:rPr lang="en-US" sz="2400" b="1" dirty="0" err="1">
                <a:solidFill>
                  <a:srgbClr val="22C55E"/>
                </a:solidFill>
                <a:latin typeface="Noto Sans SC"/>
                <a:ea typeface="Noto Sans SC"/>
                <a:sym typeface="Noto Sans SC"/>
              </a:rPr>
              <a:t>核心业务链路</a:t>
            </a:r>
            <a:endParaRPr lang="en-US" sz="2400" b="1" dirty="0">
              <a:solidFill>
                <a:srgbClr val="22C55E"/>
              </a:solidFill>
              <a:latin typeface="Noto Sans SC"/>
              <a:ea typeface="Noto Sans SC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762000" y="2286000"/>
            <a:ext cx="5207000" cy="1905000"/>
          </a:xfrm>
          <a:prstGeom prst="roundRect">
            <a:avLst>
              <a:gd name="adj" fmla="val 533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3F4F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5400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25146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核心任务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3175000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完成最小登录接口 /login；完成 JWT 基础链路搭建</a:t>
            </a:r>
            <a:b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准备 4 类业务角色 mock 账号，配合前端完成登录联调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4445000"/>
            <a:ext cx="5207000" cy="2032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3F4F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46990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524000" y="46736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关键成果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016000" y="53340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实现</a:t>
            </a:r>
            <a:r>
              <a:rPr lang="en-US" sz="13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`/api/auth/login`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接口并集成 JJWT 认证库，实现基于 Token 的鉴权机制。</a:t>
            </a:r>
            <a:br>
              <a:rPr lang="en-US" sz="13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预置多类型测试账号，成功与前端联调，打通完整登录流程。</a:t>
            </a:r>
            <a:endParaRPr lang="en-US" sz="1100"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/>
          <a:srcRect l="16260" r="16260"/>
          <a:stretch>
            <a:fillRect/>
          </a:stretch>
        </p:blipFill>
        <p:spPr>
          <a:xfrm>
            <a:off x="6223000" y="2286000"/>
            <a:ext cx="5207000" cy="4191000"/>
          </a:xfrm>
          <a:prstGeom prst="roundRect">
            <a:avLst>
              <a:gd name="adj" fmla="val 3636"/>
            </a:avLst>
          </a:prstGeom>
          <a:noFill/>
          <a:ln w="38100" cap="flat" cmpd="sng">
            <a:solidFill>
              <a:srgbClr val="FFFFFF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05 成员任务详情与成果展示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6800" y="1905000"/>
            <a:ext cx="355600" cy="355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74800" y="18796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核心任务：业务梳理与模型构建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66800" y="2540000"/>
            <a:ext cx="45974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研读需求规格说明书，深入理解系统业务逻辑，梳理出所有核心业务对象。</a:t>
            </a:r>
            <a:endParaRPr lang="en-US" sz="1100"/>
          </a:p>
          <a:p>
            <a:pPr indent="0" algn="l">
              <a:lnSpc>
                <a:spcPct val="116666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输出数据库ER图v1，明确毕业要求、指标点、课程、学生、教学班等实体间的关系，精准定义一对多、多对多映射。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762000" y="4191000"/>
            <a:ext cx="5207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6800" y="4445000"/>
            <a:ext cx="355600" cy="355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574800" y="44196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关键成果：完成数据库概念模型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066800" y="5080000"/>
            <a:ext cx="45974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成功绘制并产出了包含用户、角色、权限、专业、课程、毕业要求等核心实体的完整数据库 ER 图 v1。</a:t>
            </a:r>
            <a:endParaRPr lang="en-US" sz="1100"/>
          </a:p>
          <a:p>
            <a:pPr indent="0" algn="l">
              <a:lnSpc>
                <a:spcPct val="116666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清晰定义了实体间的关联逻辑及完整性约束，为后续的物理数据库表结构设计奠定了坚实的理论基础。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6223000" y="1651000"/>
            <a:ext cx="5207000" cy="4826000"/>
          </a:xfrm>
          <a:prstGeom prst="roundRect">
            <a:avLst>
              <a:gd name="adj" fmla="val 3157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6223000" y="1841500"/>
            <a:ext cx="520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数据库 ER 图 v1 (成果预览)</a:t>
            </a:r>
            <a:endParaRPr lang="en-US" sz="1100"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/>
          <a:srcRect l="15147" r="15147"/>
          <a:stretch>
            <a:fillRect/>
          </a:stretch>
        </p:blipFill>
        <p:spPr>
          <a:xfrm>
            <a:off x="6477000" y="2413000"/>
            <a:ext cx="4699000" cy="3429000"/>
          </a:xfrm>
          <a:prstGeom prst="rect">
            <a:avLst/>
          </a:prstGeom>
          <a:noFill/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15" name="AutoShape 15"/>
          <p:cNvSpPr/>
          <p:nvPr/>
        </p:nvSpPr>
        <p:spPr>
          <a:xfrm>
            <a:off x="6223000" y="5969000"/>
            <a:ext cx="520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团队成员：csy | 职责：概念模型设计与构建</a:t>
            </a:r>
            <a:endParaRPr lang="en-US" sz="110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A878EAD1-65ED-FD9A-C2CC-69F46EB96C03}"/>
              </a:ext>
            </a:extLst>
          </p:cNvPr>
          <p:cNvSpPr txBox="1"/>
          <p:nvPr/>
        </p:nvSpPr>
        <p:spPr>
          <a:xfrm>
            <a:off x="814675" y="1179100"/>
            <a:ext cx="6966929" cy="5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zh-CN" altLang="en-US" sz="2400" b="1" dirty="0">
                <a:solidFill>
                  <a:srgbClr val="22C55E"/>
                </a:solidFill>
                <a:latin typeface="Noto Sans SC"/>
                <a:ea typeface="Noto Sans SC"/>
                <a:sym typeface="Noto Sans SC"/>
              </a:rPr>
              <a:t>数据库</a:t>
            </a:r>
            <a:r>
              <a:rPr lang="en-US" altLang="zh-CN" sz="2400" b="1" dirty="0">
                <a:solidFill>
                  <a:srgbClr val="22C55E"/>
                </a:solidFill>
                <a:latin typeface="Noto Sans SC"/>
                <a:ea typeface="Noto Sans SC"/>
                <a:sym typeface="Noto Sans SC"/>
              </a:rPr>
              <a:t>团队1 (</a:t>
            </a:r>
            <a:r>
              <a:rPr lang="zh-CN" altLang="en-US" sz="2400" b="1" dirty="0">
                <a:solidFill>
                  <a:srgbClr val="22C55E"/>
                </a:solidFill>
                <a:latin typeface="Noto Sans SC"/>
                <a:ea typeface="Noto Sans SC"/>
                <a:sym typeface="Noto Sans SC"/>
              </a:rPr>
              <a:t>陈思远</a:t>
            </a:r>
            <a:r>
              <a:rPr lang="en-US" altLang="zh-CN" sz="2400" b="1" dirty="0">
                <a:solidFill>
                  <a:srgbClr val="22C55E"/>
                </a:solidFill>
                <a:latin typeface="Noto Sans SC"/>
                <a:ea typeface="Noto Sans SC"/>
                <a:sym typeface="Noto Sans SC"/>
              </a:rPr>
              <a:t>) | ER</a:t>
            </a:r>
            <a:r>
              <a:rPr lang="zh-CN" altLang="en-US" sz="2400" b="1" dirty="0">
                <a:solidFill>
                  <a:srgbClr val="22C55E"/>
                </a:solidFill>
                <a:latin typeface="Noto Sans SC"/>
                <a:ea typeface="Noto Sans SC"/>
                <a:sym typeface="Noto Sans SC"/>
              </a:rPr>
              <a:t>图</a:t>
            </a:r>
            <a:endParaRPr lang="en-US" altLang="zh-CN" sz="2400" b="1" dirty="0">
              <a:solidFill>
                <a:srgbClr val="22C55E"/>
              </a:solidFill>
              <a:latin typeface="Noto Sans SC"/>
              <a:ea typeface="Noto Sans SC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05 成员任务详情与成果展示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2349500"/>
          </a:xfrm>
          <a:prstGeom prst="roundRect">
            <a:avLst>
              <a:gd name="adj" fmla="val 6486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19050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460500" y="18669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核心任务 · 数据库物理模型设计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540000"/>
            <a:ext cx="4699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依据ER图梳理业务逻辑，落实核心表结构初稿，规范字段定义、主外键关联及时间、状态字段设计。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明确各字段类型与约束规则，输出项目首个版本的建表SQL脚本 (DDL v1)。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762000" y="4254500"/>
            <a:ext cx="5207000" cy="2349500"/>
          </a:xfrm>
          <a:prstGeom prst="roundRect">
            <a:avLst>
              <a:gd name="adj" fmla="val 6486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45085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460500" y="44704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59E0B"/>
                </a:solidFill>
                <a:latin typeface="Noto Sans SC"/>
                <a:ea typeface="Noto Sans SC"/>
                <a:cs typeface="Noto Sans SC"/>
                <a:sym typeface="Noto Sans SC"/>
              </a:rPr>
              <a:t>关键成果 · 核心表结构与脚本交付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016000" y="5143500"/>
            <a:ext cx="4699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完成</a:t>
            </a:r>
            <a:r>
              <a:rPr lang="en-US" sz="13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sys_user(用户)、sys_role(角色)、sys_menu(菜单)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及业务层</a:t>
            </a:r>
            <a:r>
              <a:rPr lang="en-US" sz="13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major(专业)、course(课程)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等核心表结构定义。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编写规范的CREATE TABLE脚本，包含字段注释、索引规划及存储引擎与字符集配置，为开发奠定基础。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6223000" y="1778000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/>
          <a:srcRect l="14364" r="14364"/>
          <a:stretch>
            <a:fillRect/>
          </a:stretch>
        </p:blipFill>
        <p:spPr>
          <a:xfrm>
            <a:off x="6413500" y="2032000"/>
            <a:ext cx="4826000" cy="304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4" name="AutoShape 14"/>
          <p:cNvSpPr/>
          <p:nvPr/>
        </p:nvSpPr>
        <p:spPr>
          <a:xfrm>
            <a:off x="6413500" y="5334000"/>
            <a:ext cx="482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0" i="1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▲ 核心表字段定义与脚本规范文档截图</a:t>
            </a:r>
            <a:endParaRPr lang="en-US" sz="1100"/>
          </a:p>
        </p:txBody>
      </p:sp>
      <p:sp>
        <p:nvSpPr>
          <p:cNvPr id="15" name="文本框 16">
            <a:extLst>
              <a:ext uri="{FF2B5EF4-FFF2-40B4-BE49-F238E27FC236}">
                <a16:creationId xmlns:a16="http://schemas.microsoft.com/office/drawing/2014/main" id="{A878EAD1-65ED-FD9A-C2CC-69F46EB96C03}"/>
              </a:ext>
            </a:extLst>
          </p:cNvPr>
          <p:cNvSpPr txBox="1"/>
          <p:nvPr/>
        </p:nvSpPr>
        <p:spPr>
          <a:xfrm>
            <a:off x="762000" y="1179100"/>
            <a:ext cx="6966929" cy="5120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25000"/>
              </a:lnSpc>
              <a:defRPr/>
            </a:pPr>
            <a:r>
              <a:rPr lang="zh-CN" altLang="en-US" sz="2400" b="1" dirty="0">
                <a:solidFill>
                  <a:srgbClr val="22C55E"/>
                </a:solidFill>
                <a:latin typeface="Noto Sans SC"/>
                <a:ea typeface="Noto Sans SC"/>
                <a:sym typeface="Noto Sans SC"/>
              </a:rPr>
              <a:t>数据库</a:t>
            </a:r>
            <a:r>
              <a:rPr lang="en-US" altLang="zh-CN" sz="2400" b="1" dirty="0">
                <a:solidFill>
                  <a:srgbClr val="22C55E"/>
                </a:solidFill>
                <a:latin typeface="Noto Sans SC"/>
                <a:ea typeface="Noto Sans SC"/>
                <a:sym typeface="Noto Sans SC"/>
              </a:rPr>
              <a:t>团队2 (</a:t>
            </a:r>
            <a:r>
              <a:rPr lang="zh-CN" altLang="en-US" sz="2400" b="1" dirty="0">
                <a:solidFill>
                  <a:srgbClr val="22C55E"/>
                </a:solidFill>
                <a:latin typeface="Noto Sans SC"/>
                <a:ea typeface="Noto Sans SC"/>
                <a:sym typeface="Noto Sans SC"/>
              </a:rPr>
              <a:t>支佳璇</a:t>
            </a:r>
            <a:r>
              <a:rPr lang="en-US" altLang="zh-CN" sz="2400" b="1" dirty="0">
                <a:solidFill>
                  <a:srgbClr val="22C55E"/>
                </a:solidFill>
                <a:latin typeface="Noto Sans SC"/>
                <a:ea typeface="Noto Sans SC"/>
                <a:sym typeface="Noto Sans SC"/>
              </a:rPr>
              <a:t>) | </a:t>
            </a:r>
            <a:r>
              <a:rPr lang="zh-CN" altLang="en-US" sz="2400" b="1" dirty="0">
                <a:solidFill>
                  <a:srgbClr val="22C55E"/>
                </a:solidFill>
                <a:latin typeface="Noto Sans SC"/>
                <a:ea typeface="Noto Sans SC"/>
                <a:sym typeface="Noto Sans SC"/>
              </a:rPr>
              <a:t>核心表清单</a:t>
            </a:r>
            <a:endParaRPr lang="en-US" altLang="zh-CN" sz="2400" b="1" dirty="0">
              <a:solidFill>
                <a:srgbClr val="22C55E"/>
              </a:solidFill>
              <a:latin typeface="Noto Sans SC"/>
              <a:ea typeface="Noto Sans SC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05 成员任务详情与成果展示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2200" b="1" i="0" u="none" strike="noStrike" dirty="0" err="1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服务器</a:t>
            </a:r>
            <a:r>
              <a:rPr lang="en-US" sz="2200" b="1" i="0" u="none" strike="noStrike" dirty="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/</a:t>
            </a:r>
            <a:r>
              <a:rPr lang="en-US" sz="2200" b="1" i="0" u="none" strike="noStrike" dirty="0" err="1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部署</a:t>
            </a:r>
            <a:r>
              <a:rPr lang="en-US" sz="2200" b="1" i="0" u="none" strike="noStrike" dirty="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 (</a:t>
            </a:r>
            <a:r>
              <a:rPr lang="zh-CN" altLang="en-US" sz="2200" b="1" dirty="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叶高平</a:t>
            </a:r>
            <a:r>
              <a:rPr lang="en-US" sz="2200" b="1" i="0" u="none" strike="noStrike" dirty="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) - </a:t>
            </a:r>
            <a:r>
              <a:rPr lang="en-US" sz="2200" b="1" i="0" u="none" strike="noStrike" dirty="0" err="1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运行环境保障</a:t>
            </a: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>
            <a:off x="762000" y="2286000"/>
            <a:ext cx="5207000" cy="3937000"/>
          </a:xfrm>
          <a:prstGeom prst="roundRect">
            <a:avLst>
              <a:gd name="adj" fmla="val 387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6035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460500" y="25781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核心任务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30480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</a:t>
            </a:r>
            <a:r>
              <a:rPr lang="en-US" sz="13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申请云服务器资源，搭建稳定的后端运行基座</a:t>
            </a: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b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</a:t>
            </a:r>
            <a:r>
              <a:rPr lang="en-US" sz="13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安装并配置</a:t>
            </a: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3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Java、MySQL、Redis、Docker、Nginx</a:t>
            </a: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3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等核心软件环境</a:t>
            </a: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b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</a:t>
            </a:r>
            <a:r>
              <a:rPr lang="en-US" sz="13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编写</a:t>
            </a: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 Docker Compose </a:t>
            </a:r>
            <a:r>
              <a:rPr lang="en-US" sz="13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初版配置文件，完成前端静态页或空项目的部署与连通性验证</a:t>
            </a: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45720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460500" y="45466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rgbClr val="B45309"/>
                </a:solidFill>
                <a:latin typeface="Noto Sans SC"/>
                <a:ea typeface="Noto Sans SC"/>
                <a:cs typeface="Noto Sans SC"/>
                <a:sym typeface="Noto Sans SC"/>
              </a:rPr>
              <a:t>关键成果</a:t>
            </a:r>
            <a:endParaRPr lang="en-US" sz="1100" dirty="0"/>
          </a:p>
        </p:txBody>
      </p:sp>
      <p:sp>
        <p:nvSpPr>
          <p:cNvPr id="11" name="AutoShape 11"/>
          <p:cNvSpPr/>
          <p:nvPr/>
        </p:nvSpPr>
        <p:spPr>
          <a:xfrm>
            <a:off x="1016000" y="5016500"/>
            <a:ext cx="469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</a:t>
            </a:r>
            <a:r>
              <a:rPr lang="en-US" sz="13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成功申请并配置阿里云ECS服务器，环境配置完备</a:t>
            </a: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b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</a:t>
            </a:r>
            <a:r>
              <a:rPr lang="en-US" sz="13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完成</a:t>
            </a: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 JDK 21, MySQL 8.4, Docker, Nginx </a:t>
            </a:r>
            <a:r>
              <a:rPr lang="en-US" sz="13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等软件安装与版本适配</a:t>
            </a: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b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</a:t>
            </a:r>
            <a:r>
              <a:rPr lang="en-US" sz="13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完成</a:t>
            </a: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 `docker-</a:t>
            </a:r>
            <a:r>
              <a:rPr lang="en-US" sz="13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compose.yml</a:t>
            </a: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` </a:t>
            </a:r>
            <a:r>
              <a:rPr lang="en-US" sz="13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配置，为项目一键化部署奠定坚实基础</a:t>
            </a: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12" name="AutoShape 12"/>
          <p:cNvSpPr/>
          <p:nvPr/>
        </p:nvSpPr>
        <p:spPr>
          <a:xfrm>
            <a:off x="6223000" y="2286000"/>
            <a:ext cx="5207000" cy="3937000"/>
          </a:xfrm>
          <a:prstGeom prst="roundRect">
            <a:avLst>
              <a:gd name="adj" fmla="val 387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/>
          <a:srcRect t="14709" b="14709"/>
          <a:stretch>
            <a:fillRect/>
          </a:stretch>
        </p:blipFill>
        <p:spPr>
          <a:xfrm>
            <a:off x="6477000" y="2540000"/>
            <a:ext cx="4699000" cy="2921000"/>
          </a:xfrm>
          <a:prstGeom prst="roundRect">
            <a:avLst>
              <a:gd name="adj" fmla="val 3478"/>
            </a:avLst>
          </a:prstGeom>
          <a:noFill/>
          <a:ln w="25400" cap="flat" cmpd="sng">
            <a:solidFill>
              <a:srgbClr val="2B2F36">
                <a:alpha val="100000"/>
              </a:srgbClr>
            </a:solidFill>
            <a:prstDash val="solid"/>
            <a:round/>
          </a:ln>
        </p:spPr>
      </p:pic>
      <p:sp>
        <p:nvSpPr>
          <p:cNvPr id="14" name="AutoShape 14"/>
          <p:cNvSpPr/>
          <p:nvPr/>
        </p:nvSpPr>
        <p:spPr>
          <a:xfrm>
            <a:off x="6477000" y="5588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服务器环境版本验证截图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06 核心任务完成质量复盘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378200" cy="2349500"/>
          </a:xfrm>
          <a:prstGeom prst="roundRect">
            <a:avLst>
              <a:gd name="adj" fmla="val 6857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1905000"/>
            <a:ext cx="457200" cy="4572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651000" y="18796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基础框架搭建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467806"/>
            <a:ext cx="28702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>
              <a:lnSpc>
                <a:spcPct val="116666"/>
              </a:lnSpc>
              <a:defRPr/>
            </a:pPr>
            <a:r>
              <a:rPr lang="zh-CN" altLang="en-US" sz="1200" dirty="0"/>
              <a:t>完成 </a:t>
            </a:r>
            <a:r>
              <a:rPr lang="en-US" altLang="zh-CN" sz="1200" dirty="0"/>
              <a:t>Vue 3.5 + Vite 7 </a:t>
            </a:r>
            <a:r>
              <a:rPr lang="zh-CN" altLang="en-US" sz="1200" dirty="0"/>
              <a:t>前端脚手架与 </a:t>
            </a:r>
            <a:r>
              <a:rPr lang="en-US" altLang="zh-CN" sz="1200" dirty="0"/>
              <a:t>Spring Boot 3 + JDK 21 </a:t>
            </a:r>
            <a:r>
              <a:rPr lang="zh-CN" altLang="en-US" sz="1200" dirty="0"/>
              <a:t>后端骨架的工程初始化；全面导入原子化统一返回体（</a:t>
            </a:r>
            <a:r>
              <a:rPr lang="en-US" altLang="zh-CN" sz="1200" dirty="0"/>
              <a:t>Result</a:t>
            </a:r>
            <a:r>
              <a:rPr lang="zh-CN" altLang="en-US" sz="1200" dirty="0"/>
              <a:t>）与全局异常处理机制；系统整体架构拓扑经全组评审通过，版本矩阵 </a:t>
            </a:r>
            <a:r>
              <a:rPr lang="en-US" altLang="zh-CN" sz="1200" dirty="0"/>
              <a:t>100% </a:t>
            </a:r>
            <a:r>
              <a:rPr lang="zh-CN" altLang="en-US" sz="1200" dirty="0"/>
              <a:t>契合设计规格书，研发红线全面达标。</a:t>
            </a:r>
            <a:endParaRPr lang="en-US" sz="1100" dirty="0"/>
          </a:p>
        </p:txBody>
      </p:sp>
      <p:sp>
        <p:nvSpPr>
          <p:cNvPr id="8" name="AutoShape 8"/>
          <p:cNvSpPr/>
          <p:nvPr/>
        </p:nvSpPr>
        <p:spPr>
          <a:xfrm>
            <a:off x="4394200" y="1651000"/>
            <a:ext cx="3378200" cy="2349500"/>
          </a:xfrm>
          <a:prstGeom prst="roundRect">
            <a:avLst>
              <a:gd name="adj" fmla="val 6857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48200" y="1905000"/>
            <a:ext cx="457200" cy="4572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5283200" y="18796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数据库设计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648200" y="2387600"/>
            <a:ext cx="28702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>
              <a:lnSpc>
                <a:spcPct val="116666"/>
              </a:lnSpc>
              <a:defRPr/>
            </a:pPr>
            <a:r>
              <a:rPr lang="zh-CN" altLang="en-US" sz="1200" dirty="0"/>
              <a:t>成功输出物理 </a:t>
            </a:r>
            <a:r>
              <a:rPr lang="en-US" altLang="zh-CN" sz="1200" dirty="0"/>
              <a:t>ER </a:t>
            </a:r>
            <a:r>
              <a:rPr lang="zh-CN" altLang="en-US" sz="1200" dirty="0"/>
              <a:t>图 </a:t>
            </a:r>
            <a:r>
              <a:rPr lang="en-US" altLang="zh-CN" sz="1200" dirty="0"/>
              <a:t>v1</a:t>
            </a:r>
            <a:r>
              <a:rPr lang="zh-CN" altLang="en-US" sz="1200" dirty="0"/>
              <a:t>，深度梳理“考核点 </a:t>
            </a:r>
            <a:r>
              <a:rPr lang="en-US" altLang="zh-CN" dirty="0"/>
              <a:t>$\</a:t>
            </a:r>
            <a:r>
              <a:rPr lang="en-US" altLang="zh-CN" dirty="0" err="1"/>
              <a:t>rightarrow</a:t>
            </a:r>
            <a:r>
              <a:rPr lang="en-US" altLang="zh-CN" dirty="0"/>
              <a:t>$</a:t>
            </a:r>
            <a:r>
              <a:rPr lang="zh-CN" altLang="en-US" sz="1200" dirty="0"/>
              <a:t> 课程目标 </a:t>
            </a:r>
            <a:r>
              <a:rPr lang="en-US" altLang="zh-CN" dirty="0"/>
              <a:t>$\</a:t>
            </a:r>
            <a:r>
              <a:rPr lang="en-US" altLang="zh-CN" dirty="0" err="1"/>
              <a:t>rightarrow</a:t>
            </a:r>
            <a:r>
              <a:rPr lang="en-US" altLang="zh-CN" dirty="0"/>
              <a:t>$</a:t>
            </a:r>
            <a:r>
              <a:rPr lang="zh-CN" altLang="en-US" sz="1200" dirty="0"/>
              <a:t> 指标点”的多层级权重映射关系；完成核心 </a:t>
            </a:r>
            <a:r>
              <a:rPr lang="en-US" altLang="zh-CN" sz="1200" dirty="0"/>
              <a:t>DDL </a:t>
            </a:r>
            <a:r>
              <a:rPr lang="zh-CN" altLang="en-US" sz="1200" dirty="0"/>
              <a:t>建表 </a:t>
            </a:r>
            <a:r>
              <a:rPr lang="en-US" altLang="zh-CN" sz="1200" dirty="0"/>
              <a:t>SQL </a:t>
            </a:r>
            <a:r>
              <a:rPr lang="zh-CN" altLang="en-US" sz="1200" dirty="0"/>
              <a:t>编写，严格配置主外键约束与状态字段，并针对多表深度联表查询场景配置联合索引，通过数据一致性自检，无结构性缺陷。</a:t>
            </a:r>
            <a:endParaRPr lang="en-US" sz="1100" dirty="0"/>
          </a:p>
        </p:txBody>
      </p:sp>
      <p:sp>
        <p:nvSpPr>
          <p:cNvPr id="12" name="AutoShape 12"/>
          <p:cNvSpPr/>
          <p:nvPr/>
        </p:nvSpPr>
        <p:spPr>
          <a:xfrm>
            <a:off x="8026400" y="1651000"/>
            <a:ext cx="3378200" cy="2349500"/>
          </a:xfrm>
          <a:prstGeom prst="roundRect">
            <a:avLst>
              <a:gd name="adj" fmla="val 6857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80400" y="1905000"/>
            <a:ext cx="457200" cy="4572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8915400" y="18796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功能开发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305800" y="2387600"/>
            <a:ext cx="28702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>
              <a:lnSpc>
                <a:spcPct val="116666"/>
              </a:lnSpc>
              <a:defRPr/>
            </a:pPr>
            <a:r>
              <a:rPr lang="zh-CN" altLang="en-US" sz="1200" dirty="0"/>
              <a:t>成功攻坚首个核心业务节点，打通前端登录页到后端 </a:t>
            </a:r>
            <a:r>
              <a:rPr lang="en-US" altLang="zh-CN" dirty="0"/>
              <a:t>/login</a:t>
            </a:r>
            <a:r>
              <a:rPr lang="zh-CN" altLang="en-US" sz="1200" dirty="0"/>
              <a:t> 接口的完整数据交互闭环；实现基于 </a:t>
            </a:r>
            <a:r>
              <a:rPr lang="en-US" altLang="zh-CN" sz="1200" dirty="0"/>
              <a:t>JWT </a:t>
            </a:r>
            <a:r>
              <a:rPr lang="zh-CN" altLang="en-US" sz="1200" dirty="0"/>
              <a:t>的凭证签发与角色（</a:t>
            </a:r>
            <a:r>
              <a:rPr lang="en-US" altLang="zh-CN" sz="1200" dirty="0"/>
              <a:t>Role</a:t>
            </a:r>
            <a:r>
              <a:rPr lang="zh-CN" altLang="en-US" sz="1200" dirty="0"/>
              <a:t>）拦截基础链路，预留 </a:t>
            </a:r>
            <a:r>
              <a:rPr lang="en-US" altLang="zh-CN" sz="1200" dirty="0"/>
              <a:t>4 </a:t>
            </a:r>
            <a:r>
              <a:rPr lang="zh-CN" altLang="en-US" sz="1200" dirty="0"/>
              <a:t>类业务角色 </a:t>
            </a:r>
            <a:r>
              <a:rPr lang="en-US" altLang="zh-CN" sz="1200" dirty="0"/>
              <a:t>Mock </a:t>
            </a:r>
            <a:r>
              <a:rPr lang="zh-CN" altLang="en-US" sz="1200" dirty="0"/>
              <a:t>账号，且代码通过规范性审查，结构健壮。</a:t>
            </a:r>
            <a:endParaRPr lang="en-US" sz="1100" dirty="0"/>
          </a:p>
        </p:txBody>
      </p:sp>
      <p:sp>
        <p:nvSpPr>
          <p:cNvPr id="16" name="AutoShape 16"/>
          <p:cNvSpPr/>
          <p:nvPr/>
        </p:nvSpPr>
        <p:spPr>
          <a:xfrm>
            <a:off x="2032000" y="4191000"/>
            <a:ext cx="3937000" cy="2222500"/>
          </a:xfrm>
          <a:prstGeom prst="roundRect">
            <a:avLst>
              <a:gd name="adj" fmla="val 6857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86000" y="4445000"/>
            <a:ext cx="457200" cy="4572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2921000" y="4419600"/>
            <a:ext cx="266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环境部署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2246962" y="5092700"/>
            <a:ext cx="342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>
              <a:lnSpc>
                <a:spcPct val="116666"/>
              </a:lnSpc>
              <a:defRPr/>
            </a:pPr>
            <a:r>
              <a:rPr lang="zh-CN" altLang="en-US" sz="1100" dirty="0"/>
              <a:t>申请并激活云服务器实例，完成 </a:t>
            </a:r>
            <a:r>
              <a:rPr lang="en-US" altLang="zh-CN" sz="1100" dirty="0"/>
              <a:t>Java 21</a:t>
            </a:r>
            <a:r>
              <a:rPr lang="zh-CN" altLang="en-US" sz="1100" dirty="0"/>
              <a:t>、</a:t>
            </a:r>
            <a:r>
              <a:rPr lang="en-US" altLang="zh-CN" sz="1100" dirty="0"/>
              <a:t>MySQL 8.4</a:t>
            </a:r>
            <a:r>
              <a:rPr lang="zh-CN" altLang="en-US" sz="1100" dirty="0"/>
              <a:t>、</a:t>
            </a:r>
            <a:r>
              <a:rPr lang="en-US" altLang="zh-CN" sz="1100" dirty="0"/>
              <a:t>Redis </a:t>
            </a:r>
            <a:r>
              <a:rPr lang="zh-CN" altLang="en-US" sz="1100" dirty="0"/>
              <a:t>及 </a:t>
            </a:r>
            <a:r>
              <a:rPr lang="en-US" altLang="zh-CN" sz="1100" dirty="0"/>
              <a:t>Nginx </a:t>
            </a:r>
            <a:r>
              <a:rPr lang="zh-CN" altLang="en-US" sz="1100" dirty="0"/>
              <a:t>反向代理的生产级环境搭建；首版 </a:t>
            </a:r>
            <a:r>
              <a:rPr lang="en-US" altLang="zh-CN" sz="1100" dirty="0"/>
              <a:t>Docker Compose </a:t>
            </a:r>
            <a:r>
              <a:rPr lang="zh-CN" altLang="en-US" sz="1100" dirty="0"/>
              <a:t>编排脚本通过运行测试，成功跑通前端静态资源托管与空项目部署，技术栈环境全面固化。</a:t>
            </a:r>
            <a:endParaRPr lang="en-US" sz="1100" dirty="0"/>
          </a:p>
        </p:txBody>
      </p:sp>
      <p:sp>
        <p:nvSpPr>
          <p:cNvPr id="20" name="AutoShape 20"/>
          <p:cNvSpPr/>
          <p:nvPr/>
        </p:nvSpPr>
        <p:spPr>
          <a:xfrm>
            <a:off x="6223000" y="4191000"/>
            <a:ext cx="3937000" cy="2222500"/>
          </a:xfrm>
          <a:prstGeom prst="roundRect">
            <a:avLst>
              <a:gd name="adj" fmla="val 6857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77000" y="4445000"/>
            <a:ext cx="457200" cy="4572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7112000" y="4419600"/>
            <a:ext cx="266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交付物质量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477000" y="5092700"/>
            <a:ext cx="342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>
              <a:lnSpc>
                <a:spcPct val="116666"/>
              </a:lnSpc>
              <a:defRPr/>
            </a:pPr>
            <a:r>
              <a:rPr lang="zh-CN" altLang="en-US" sz="1200" dirty="0"/>
              <a:t>严格执行 </a:t>
            </a:r>
            <a:r>
              <a:rPr lang="en-US" altLang="zh-CN" sz="1200" dirty="0"/>
              <a:t>GitHub </a:t>
            </a:r>
            <a:r>
              <a:rPr lang="zh-CN" altLang="en-US" sz="1200" dirty="0"/>
              <a:t>敏捷流控，全组 </a:t>
            </a:r>
            <a:r>
              <a:rPr lang="en-US" altLang="zh-CN" sz="1200" dirty="0"/>
              <a:t>8 </a:t>
            </a:r>
            <a:r>
              <a:rPr lang="zh-CN" altLang="en-US" sz="1200" dirty="0"/>
              <a:t>个固定开发分支均通过 </a:t>
            </a:r>
            <a:r>
              <a:rPr lang="en-US" altLang="zh-CN" sz="1200" dirty="0"/>
              <a:t>CI </a:t>
            </a:r>
            <a:r>
              <a:rPr lang="zh-CN" altLang="en-US" sz="1200" dirty="0"/>
              <a:t>编译构建检查及至少 </a:t>
            </a:r>
            <a:r>
              <a:rPr lang="en-US" altLang="zh-CN" sz="1200" dirty="0"/>
              <a:t>1 </a:t>
            </a:r>
            <a:r>
              <a:rPr lang="zh-CN" altLang="en-US" sz="1200" dirty="0"/>
              <a:t>人的 </a:t>
            </a:r>
            <a:r>
              <a:rPr lang="en-US" altLang="zh-CN" sz="1200" dirty="0"/>
              <a:t>Peer Review</a:t>
            </a:r>
            <a:r>
              <a:rPr lang="zh-CN" altLang="en-US" sz="1200" dirty="0"/>
              <a:t>，完成“高质量代码 </a:t>
            </a:r>
            <a:r>
              <a:rPr lang="en-US" altLang="zh-CN" sz="1200" dirty="0"/>
              <a:t>+ </a:t>
            </a:r>
            <a:r>
              <a:rPr lang="zh-CN" altLang="en-US" sz="1200" dirty="0"/>
              <a:t>完备技术设计文档 </a:t>
            </a:r>
            <a:r>
              <a:rPr lang="en-US" altLang="zh-CN" sz="1200" dirty="0"/>
              <a:t>+ </a:t>
            </a:r>
            <a:r>
              <a:rPr lang="zh-CN" altLang="en-US" sz="1200" dirty="0"/>
              <a:t>联调运行截图”三重交付物闭环，通过 </a:t>
            </a:r>
            <a:r>
              <a:rPr lang="en-US" altLang="zh-CN" sz="1200" dirty="0"/>
              <a:t>Squash and merge </a:t>
            </a:r>
            <a:r>
              <a:rPr lang="zh-CN" altLang="en-US" sz="1200" dirty="0"/>
              <a:t>合并至 </a:t>
            </a:r>
            <a:r>
              <a:rPr lang="en-US" altLang="zh-CN" sz="1200" dirty="0"/>
              <a:t>main </a:t>
            </a:r>
            <a:r>
              <a:rPr lang="zh-CN" altLang="en-US" sz="1200" dirty="0"/>
              <a:t>分支，资产 </a:t>
            </a:r>
            <a:r>
              <a:rPr lang="en-US" altLang="zh-CN" sz="1200" dirty="0"/>
              <a:t>100% </a:t>
            </a:r>
            <a:r>
              <a:rPr lang="zh-CN" altLang="en-US" sz="1200" dirty="0"/>
              <a:t>可追溯。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07 项目开发现存问题梳理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6800" y="2222500"/>
            <a:ext cx="609600" cy="609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930400" y="2159000"/>
            <a:ext cx="3683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900" b="1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技术衔接偏差</a:t>
            </a:r>
            <a:endParaRPr lang="en-US" sz="1100" dirty="0"/>
          </a:p>
          <a:p>
            <a:r>
              <a:rPr lang="zh-CN" altLang="en-US" sz="1200" b="1" dirty="0"/>
              <a:t>现状分析：</a:t>
            </a:r>
            <a:r>
              <a:rPr lang="zh-CN" altLang="en-US" sz="1200" dirty="0"/>
              <a:t> 由于首周缺乏强类型的契约约束，在 </a:t>
            </a:r>
            <a:r>
              <a:rPr lang="en-US" altLang="zh-CN" sz="1200" dirty="0"/>
              <a:t>/login</a:t>
            </a:r>
            <a:r>
              <a:rPr lang="zh-CN" altLang="en-US" sz="1200" dirty="0"/>
              <a:t> 接口联调阶段，因请求体 </a:t>
            </a:r>
            <a:r>
              <a:rPr lang="en-US" altLang="zh-CN" sz="1200" dirty="0"/>
              <a:t>JSON </a:t>
            </a:r>
            <a:r>
              <a:rPr lang="zh-CN" altLang="en-US" sz="1200" dirty="0"/>
              <a:t>字段命名和 </a:t>
            </a:r>
            <a:r>
              <a:rPr lang="en-US" altLang="zh-CN" sz="1200" dirty="0"/>
              <a:t>Token </a:t>
            </a:r>
            <a:r>
              <a:rPr lang="zh-CN" altLang="en-US" sz="1200" dirty="0"/>
              <a:t>挂载格式存在细微偏差，导致前后端产生不必要的反复调整和沟通损耗。</a:t>
            </a:r>
            <a:endParaRPr lang="en-US" altLang="zh-CN" sz="1200" dirty="0"/>
          </a:p>
          <a:p>
            <a:endParaRPr lang="zh-CN" altLang="en-US" sz="1200" dirty="0"/>
          </a:p>
          <a:p>
            <a:r>
              <a:rPr lang="zh-CN" altLang="en-US" sz="1200" b="1" dirty="0"/>
              <a:t>消减预案：</a:t>
            </a:r>
            <a:r>
              <a:rPr lang="zh-CN" altLang="en-US" sz="1200" dirty="0"/>
              <a:t> 下周强力推行 </a:t>
            </a:r>
            <a:r>
              <a:rPr lang="en-US" altLang="zh-CN" sz="1200" dirty="0"/>
              <a:t>Swagger/</a:t>
            </a:r>
            <a:r>
              <a:rPr lang="en-US" altLang="zh-CN" sz="1200" dirty="0" err="1"/>
              <a:t>OpenAPI</a:t>
            </a:r>
            <a:r>
              <a:rPr lang="en-US" altLang="zh-CN" sz="1200" dirty="0"/>
              <a:t> 3.0 </a:t>
            </a:r>
            <a:r>
              <a:rPr lang="zh-CN" altLang="en-US" sz="1200" dirty="0"/>
              <a:t>规范，实行“接口先行”策略，后端必须先在 </a:t>
            </a:r>
            <a:r>
              <a:rPr lang="en-US" altLang="zh-CN" sz="1200" dirty="0"/>
              <a:t>member/</a:t>
            </a:r>
            <a:r>
              <a:rPr lang="en-US" altLang="zh-CN" sz="1200" dirty="0" err="1"/>
              <a:t>wzr</a:t>
            </a:r>
            <a:r>
              <a:rPr lang="zh-CN" altLang="en-US" sz="1200" dirty="0"/>
              <a:t> 分支发布标准的在线接口文档，前端方可进行对接。</a:t>
            </a:r>
          </a:p>
        </p:txBody>
      </p:sp>
      <p:sp>
        <p:nvSpPr>
          <p:cNvPr id="7" name="AutoShape 7"/>
          <p:cNvSpPr/>
          <p:nvPr/>
        </p:nvSpPr>
        <p:spPr>
          <a:xfrm>
            <a:off x="6223000" y="1778000"/>
            <a:ext cx="5207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27800" y="2222500"/>
            <a:ext cx="609600" cy="6096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7391400" y="2095500"/>
            <a:ext cx="3683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900" b="1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协作衔接断层</a:t>
            </a:r>
            <a:endParaRPr lang="en-US" sz="1100" dirty="0"/>
          </a:p>
          <a:p>
            <a:r>
              <a:rPr lang="zh-CN" altLang="en-US" sz="1200" b="1" dirty="0"/>
              <a:t>现状分析：</a:t>
            </a:r>
            <a:r>
              <a:rPr lang="zh-CN" altLang="en-US" sz="1200" dirty="0"/>
              <a:t> 敏捷开发中存在明显的流水线前置依赖（如后端逻辑必须等待数据库 </a:t>
            </a:r>
            <a:r>
              <a:rPr lang="en-US" altLang="zh-CN" sz="1200" dirty="0"/>
              <a:t>DDL </a:t>
            </a:r>
            <a:r>
              <a:rPr lang="zh-CN" altLang="en-US" sz="1200" dirty="0"/>
              <a:t>敲定，前端页面跳转必须等待后端 </a:t>
            </a:r>
            <a:r>
              <a:rPr lang="en-US" altLang="zh-CN" sz="1200" dirty="0"/>
              <a:t>API </a:t>
            </a:r>
            <a:r>
              <a:rPr lang="zh-CN" altLang="en-US" sz="1200" dirty="0"/>
              <a:t>跑通），导致部分组员在周中出现“等待链”阻塞与协作时差。</a:t>
            </a:r>
            <a:endParaRPr lang="en-US" altLang="zh-CN" sz="1200" dirty="0"/>
          </a:p>
          <a:p>
            <a:endParaRPr lang="zh-CN" altLang="en-US" sz="1200" dirty="0"/>
          </a:p>
          <a:p>
            <a:r>
              <a:rPr lang="zh-CN" altLang="en-US" sz="1200" b="1" dirty="0"/>
              <a:t>消减预案：</a:t>
            </a:r>
            <a:r>
              <a:rPr lang="zh-CN" altLang="en-US" sz="1200" dirty="0"/>
              <a:t> 进一步解耦任务，下周起全面引入 </a:t>
            </a:r>
            <a:r>
              <a:rPr lang="en-US" altLang="zh-CN" sz="1200" dirty="0"/>
              <a:t>Mock.js </a:t>
            </a:r>
            <a:r>
              <a:rPr lang="zh-CN" altLang="en-US" sz="1200" dirty="0"/>
              <a:t>与 </a:t>
            </a:r>
            <a:r>
              <a:rPr lang="en-US" altLang="zh-CN" sz="1200" dirty="0" err="1"/>
              <a:t>ApiFox</a:t>
            </a:r>
            <a:r>
              <a:rPr lang="en-US" altLang="zh-CN" sz="1200" dirty="0"/>
              <a:t> </a:t>
            </a:r>
            <a:r>
              <a:rPr lang="zh-CN" altLang="en-US" sz="1200" dirty="0"/>
              <a:t>进行并行研发，数据库未敲定时，后端先写业务存根，前端通过 </a:t>
            </a:r>
            <a:r>
              <a:rPr lang="en-US" altLang="zh-CN" sz="1200" dirty="0"/>
              <a:t>Mock </a:t>
            </a:r>
            <a:r>
              <a:rPr lang="zh-CN" altLang="en-US" sz="1200" dirty="0"/>
              <a:t>数据进行高独立性开发。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762000" y="4191000"/>
            <a:ext cx="5207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6800" y="4635500"/>
            <a:ext cx="609600" cy="609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930400" y="4508500"/>
            <a:ext cx="3683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900" b="1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文档说明缺失</a:t>
            </a:r>
            <a:endParaRPr lang="en-US" sz="1100" dirty="0"/>
          </a:p>
          <a:p>
            <a:r>
              <a:rPr lang="zh-CN" altLang="en-US" sz="1200" b="1" dirty="0"/>
              <a:t>现状分析：</a:t>
            </a:r>
            <a:r>
              <a:rPr lang="zh-CN" altLang="en-US" sz="1200" dirty="0"/>
              <a:t> 现有的物理架构和 </a:t>
            </a:r>
            <a:r>
              <a:rPr lang="en-US" altLang="zh-CN" sz="1200" dirty="0"/>
              <a:t>DDL </a:t>
            </a:r>
            <a:r>
              <a:rPr lang="zh-CN" altLang="en-US" sz="1200" dirty="0"/>
              <a:t>说明等技术文档倾向于宏观描述，对于生产环境配置（如服务器中 </a:t>
            </a:r>
            <a:r>
              <a:rPr lang="en-US" altLang="zh-CN" sz="1200" dirty="0"/>
              <a:t>Nginx </a:t>
            </a:r>
            <a:r>
              <a:rPr lang="zh-CN" altLang="en-US" sz="1200" dirty="0"/>
              <a:t>反向代理配置、高级联合索引的生效验证）缺乏精确的实操步骤指导。</a:t>
            </a:r>
            <a:endParaRPr lang="en-US" altLang="zh-CN" sz="1200" dirty="0"/>
          </a:p>
          <a:p>
            <a:endParaRPr lang="zh-CN" altLang="en-US" sz="1200" dirty="0"/>
          </a:p>
          <a:p>
            <a:r>
              <a:rPr lang="zh-CN" altLang="en-US" sz="1200" b="1" dirty="0"/>
              <a:t>消减预案：</a:t>
            </a:r>
            <a:r>
              <a:rPr lang="zh-CN" altLang="en-US" sz="1200" dirty="0"/>
              <a:t> 规范项目 </a:t>
            </a:r>
            <a:r>
              <a:rPr lang="en-US" altLang="zh-CN" sz="1200" dirty="0"/>
              <a:t>Wiki </a:t>
            </a:r>
            <a:r>
              <a:rPr lang="zh-CN" altLang="en-US" sz="1200" dirty="0"/>
              <a:t>治理，由孔文峰统筹制定“部署与开发指南标准模板”，后续每一项核心 </a:t>
            </a:r>
            <a:r>
              <a:rPr lang="en-US" altLang="zh-CN" sz="1200" dirty="0"/>
              <a:t>Issue </a:t>
            </a:r>
            <a:r>
              <a:rPr lang="zh-CN" altLang="en-US" sz="1200" dirty="0"/>
              <a:t>合并时，必须在文档中补充精准的操作步骤命令。</a:t>
            </a:r>
          </a:p>
        </p:txBody>
      </p:sp>
      <p:sp>
        <p:nvSpPr>
          <p:cNvPr id="13" name="AutoShape 13"/>
          <p:cNvSpPr/>
          <p:nvPr/>
        </p:nvSpPr>
        <p:spPr>
          <a:xfrm>
            <a:off x="6223000" y="4191000"/>
            <a:ext cx="5207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27800" y="4635500"/>
            <a:ext cx="609600" cy="6096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7391400" y="4508500"/>
            <a:ext cx="3683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900" b="1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测试覆盖不足</a:t>
            </a:r>
            <a:endParaRPr lang="en-US" sz="1100" dirty="0"/>
          </a:p>
          <a:p>
            <a:r>
              <a:rPr lang="zh-CN" altLang="en-US" sz="1200" b="1" dirty="0"/>
              <a:t>现状分析：</a:t>
            </a:r>
            <a:r>
              <a:rPr lang="zh-CN" altLang="en-US" sz="1200" dirty="0"/>
              <a:t> 第一周的质量验收仅局限于本地和云端的黑盒功能联调（如 </a:t>
            </a:r>
            <a:r>
              <a:rPr lang="en-US" altLang="zh-CN" sz="1200" dirty="0"/>
              <a:t>/login</a:t>
            </a:r>
            <a:r>
              <a:rPr lang="zh-CN" altLang="en-US" sz="1200" dirty="0"/>
              <a:t> 接口跑通），尚未引入单元测试框架，且针对教务系统“高并发成绩锁定”等核心计算场景缺乏多线程压力测试。</a:t>
            </a:r>
            <a:endParaRPr lang="en-US" altLang="zh-CN" sz="1200" dirty="0"/>
          </a:p>
          <a:p>
            <a:endParaRPr lang="zh-CN" altLang="en-US" sz="1200" dirty="0"/>
          </a:p>
          <a:p>
            <a:r>
              <a:rPr lang="zh-CN" altLang="en-US" sz="1200" b="1" dirty="0"/>
              <a:t>消减预案：</a:t>
            </a:r>
            <a:r>
              <a:rPr lang="zh-CN" altLang="en-US" sz="1200" dirty="0"/>
              <a:t> 计划在第 </a:t>
            </a:r>
            <a:r>
              <a:rPr lang="en-US" altLang="zh-CN" sz="1200" dirty="0"/>
              <a:t>3 </a:t>
            </a:r>
            <a:r>
              <a:rPr lang="zh-CN" altLang="en-US" sz="1200" dirty="0"/>
              <a:t>周起引入 </a:t>
            </a:r>
            <a:r>
              <a:rPr lang="en-US" altLang="zh-CN" sz="1200" dirty="0"/>
              <a:t>JUnit 5 </a:t>
            </a:r>
            <a:r>
              <a:rPr lang="zh-CN" altLang="en-US" sz="1200" dirty="0"/>
              <a:t>与 </a:t>
            </a:r>
            <a:r>
              <a:rPr lang="en-US" altLang="zh-CN" sz="1200" dirty="0"/>
              <a:t>Mockito </a:t>
            </a:r>
            <a:r>
              <a:rPr lang="zh-CN" altLang="en-US" sz="1200" dirty="0"/>
              <a:t>进行后端关键逻辑的单测覆盖，并由运维组配合，使用 </a:t>
            </a:r>
            <a:r>
              <a:rPr lang="en-US" altLang="zh-CN" sz="1200" dirty="0"/>
              <a:t>JMeter </a:t>
            </a:r>
            <a:r>
              <a:rPr lang="zh-CN" altLang="en-US" sz="1200" dirty="0"/>
              <a:t>进行高并发下的事务隔离级别（</a:t>
            </a:r>
            <a:r>
              <a:rPr lang="en-US" altLang="zh-CN" sz="1200" dirty="0"/>
              <a:t>Read Committed / Repeatable Read</a:t>
            </a:r>
            <a:r>
              <a:rPr lang="zh-CN" altLang="en-US" sz="1200" dirty="0"/>
              <a:t>）压力演练。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08 第二周细分工作任务规划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270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下周任务详细分解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10668000" cy="1143000"/>
          </a:xfrm>
          <a:prstGeom prst="roundRect">
            <a:avLst>
              <a:gd name="adj" fmla="val 8888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159000"/>
            <a:ext cx="635000" cy="635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2032000" y="2095500"/>
            <a:ext cx="914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核心任务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完成毕业要求指标点计算模块开发、完善用户权限管理，为后续全流程打通奠定基础。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762000" y="3302000"/>
            <a:ext cx="2540000" cy="1778000"/>
          </a:xfrm>
          <a:prstGeom prst="roundRect">
            <a:avLst>
              <a:gd name="adj" fmla="val 5714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3492500"/>
            <a:ext cx="355600" cy="355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460500" y="3492500"/>
            <a:ext cx="165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前端开发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952500" y="4064000"/>
            <a:ext cx="215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• wzj：优化前端页面展示与响应速度</a:t>
            </a:r>
            <a:b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• zml：负责首页交互逻辑与动态效果开发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3492500" y="3302000"/>
            <a:ext cx="2540000" cy="1778000"/>
          </a:xfrm>
          <a:prstGeom prst="roundRect">
            <a:avLst>
              <a:gd name="adj" fmla="val 5714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83000" y="3492500"/>
            <a:ext cx="355600" cy="3556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4191000" y="3492500"/>
            <a:ext cx="165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后端逻辑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3683000" y="4064000"/>
            <a:ext cx="215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• wzr：开发指标点计算核心业务接口</a:t>
            </a:r>
            <a:b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• mxb：优化RBAC模型下的用户认证与鉴权逻辑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223000" y="3302000"/>
            <a:ext cx="2540000" cy="1778000"/>
          </a:xfrm>
          <a:prstGeom prst="roundRect">
            <a:avLst>
              <a:gd name="adj" fmla="val 5714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13500" y="3492500"/>
            <a:ext cx="355600" cy="3556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6921500" y="3492500"/>
            <a:ext cx="165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数据支撑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413500" y="4064000"/>
            <a:ext cx="215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• csy / zjx：</a:t>
            </a:r>
            <a:b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完善计算结果表、用户权限关联表结构，增加必要索引提升查询性能。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890000" y="3302000"/>
            <a:ext cx="2540000" cy="1778000"/>
          </a:xfrm>
          <a:prstGeom prst="roundRect">
            <a:avLst>
              <a:gd name="adj" fmla="val 5714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080500" y="3492500"/>
            <a:ext cx="355600" cy="3556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9588500" y="3492500"/>
            <a:ext cx="165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环境部署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9080500" y="4064000"/>
            <a:ext cx="215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• ygp：</a:t>
            </a:r>
            <a:b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搭建并尝试将当前版本部署到测试服务器（Test Server），验证环境一致性。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62000" y="5334000"/>
            <a:ext cx="5270500" cy="1206500"/>
          </a:xfrm>
          <a:prstGeom prst="roundRect">
            <a:avLst>
              <a:gd name="adj" fmla="val 8421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2500" y="5524500"/>
            <a:ext cx="406400" cy="4064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1524000" y="5486400"/>
            <a:ext cx="431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协作任务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完成全模块联调与接口对接，开展第一轮内部功能测试，同步补充完善项目概要设计文档。</a:t>
            </a:r>
          </a:p>
        </p:txBody>
      </p:sp>
      <p:sp>
        <p:nvSpPr>
          <p:cNvPr id="27" name="AutoShape 27"/>
          <p:cNvSpPr/>
          <p:nvPr/>
        </p:nvSpPr>
        <p:spPr>
          <a:xfrm>
            <a:off x="6223000" y="5334000"/>
            <a:ext cx="5207000" cy="1206500"/>
          </a:xfrm>
          <a:prstGeom prst="roundRect">
            <a:avLst>
              <a:gd name="adj" fmla="val 8421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13500" y="5524500"/>
            <a:ext cx="406400" cy="4064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6985000" y="5486400"/>
            <a:ext cx="419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进度目标 (第二周末)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完成核心功能</a:t>
            </a:r>
            <a:r>
              <a:rPr lang="en-US" sz="1200" b="1" i="0" u="none" strike="noStrike">
                <a:solidFill>
                  <a:srgbClr val="DC2626"/>
                </a:solidFill>
                <a:latin typeface="Noto Sans SC"/>
                <a:ea typeface="Noto Sans SC"/>
                <a:cs typeface="Noto Sans SC"/>
                <a:sym typeface="Noto Sans SC"/>
              </a:rPr>
              <a:t>60%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的开发任务，交付可进行内部测试的Alpha版本。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09 总结致谢与后续展望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本周工作亮点与经验总结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286000"/>
            <a:ext cx="5207000" cy="3937000"/>
          </a:xfrm>
          <a:prstGeom prst="roundRect">
            <a:avLst>
              <a:gd name="adj" fmla="val 387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62000" y="2286000"/>
            <a:ext cx="5207000" cy="762000"/>
          </a:xfrm>
          <a:prstGeom prst="roundRect">
            <a:avLst>
              <a:gd name="adj" fmla="val 2000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438400"/>
            <a:ext cx="355600" cy="3556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524000" y="2413000"/>
            <a:ext cx="381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工作亮点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33655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651000" y="3302000"/>
            <a:ext cx="406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高效协作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团队成员沟通顺畅，能够快速响应和解决问题，保障项目进度。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43815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651000" y="4318000"/>
            <a:ext cx="406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技术选型合理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选定的技术栈能精准匹配业务需求，显著提升开发效率与扩展性。</a:t>
            </a: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53975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651000" y="5334000"/>
            <a:ext cx="406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基础工作扎实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项目架构清晰、数据库设计科学，高质量完成了底层框架搭建。</a:t>
            </a:r>
          </a:p>
        </p:txBody>
      </p:sp>
      <p:sp>
        <p:nvSpPr>
          <p:cNvPr id="15" name="AutoShape 15"/>
          <p:cNvSpPr/>
          <p:nvPr/>
        </p:nvSpPr>
        <p:spPr>
          <a:xfrm>
            <a:off x="6223000" y="2286000"/>
            <a:ext cx="5207000" cy="3937000"/>
          </a:xfrm>
          <a:prstGeom prst="roundRect">
            <a:avLst>
              <a:gd name="adj" fmla="val 387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6223000" y="2286000"/>
            <a:ext cx="5207000" cy="762000"/>
          </a:xfrm>
          <a:prstGeom prst="roundRect">
            <a:avLst>
              <a:gd name="adj" fmla="val 20000"/>
            </a:avLst>
          </a:prstGeom>
          <a:solidFill>
            <a:srgbClr val="37415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77000" y="2438400"/>
            <a:ext cx="355600" cy="3556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6985000" y="2413000"/>
            <a:ext cx="381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经验总结</a:t>
            </a:r>
            <a:endParaRPr lang="en-US" sz="1100"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77000" y="3365500"/>
            <a:ext cx="406400" cy="4064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7112000" y="3302000"/>
            <a:ext cx="406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规范先行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制定并严格遵守统一的开发规范与协作流程，是项目有序推进的基石。</a:t>
            </a: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77000" y="4381500"/>
            <a:ext cx="406400" cy="4064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7112000" y="4318000"/>
            <a:ext cx="406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沟通是桥梁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保持及时、透明的沟通，能够有效规避认知偏差，减少返工成本。</a:t>
            </a: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477000" y="5397500"/>
            <a:ext cx="406400" cy="4064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7112000" y="5334000"/>
            <a:ext cx="406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文档重要性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详尽的项目文档是系统长期可维护性与知识传承的重要保障。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2357</Words>
  <Application>Microsoft Office PowerPoint</Application>
  <PresentationFormat>宽屏</PresentationFormat>
  <Paragraphs>250</Paragraphs>
  <Slides>18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18</vt:i4>
      </vt:variant>
    </vt:vector>
  </HeadingPairs>
  <TitlesOfParts>
    <vt:vector size="22" baseType="lpstr">
      <vt:lpstr>Noto Sans SC</vt:lpstr>
      <vt:lpstr>Arial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子嘉 王</cp:lastModifiedBy>
  <cp:revision>17</cp:revision>
  <dcterms:modified xsi:type="dcterms:W3CDTF">2026-05-19T15:04:52Z</dcterms:modified>
</cp:coreProperties>
</file>