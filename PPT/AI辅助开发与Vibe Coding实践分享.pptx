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9" r:id="rId14"/>
    <p:sldId id="280" r:id="rId15"/>
    <p:sldId id="281" r:id="rId16"/>
    <p:sldId id="284" r:id="rId17"/>
    <p:sldId id="282" r:id="rId18"/>
    <p:sldId id="283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AFB"/>
    <a:srgbClr val="3B82F6"/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69" autoAdjust="0"/>
  </p:normalViewPr>
  <p:slideViewPr>
    <p:cSldViewPr snapToGrid="0">
      <p:cViewPr varScale="1">
        <p:scale>
          <a:sx n="75" d="100"/>
          <a:sy n="75" d="100"/>
        </p:scale>
        <p:origin x="946" y="4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大家好，今天非常荣幸能和大家分享我在AI辅助开发方面的一些实践经验。我们将一起探讨一种名为“Vibe Coding”的新开发范式，以及如何利用像Codex这样的AI工具，将我们的开发流程从传统的“写代码”模式，转变为更高效、更敏捷的“组织开发反馈”模式。希望这次分享能给大家带来一些新的启发。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本次分享将分为四个部分。首先，我们会探讨传统开发的痛点，引出变革的必要性。接着，介绍AI辅助开发的新范式，特别是Vibe Coding方法。然后，我将通过一个完整的实战流程，详细讲解如何设计AI友好的项目结构并高效协作。最后，进行总结并分享一些实践心得。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首先，我们进入第一部分：开场与变革。在这一章，我们将探讨传统软件开发模式中遇到的痛点，以及为什么我们需要寻求新的开发方式。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始之前，我想先问大家一个问题：一个简单的想法，从我们脑子里冒出来，到最终能看到一个可以运行的版本，通常需要多长时间？相信大家都有体会，传统的开发流程往往伴随着高昂的启动成本、大量的重复劳动，以及漫长的反馈循环。这些痛点就像一道道关卡，让我们的开发过程常常陷入“慢车道”。那么，有没有一种更好的方式，能让我们的开发“第一公里”跑得更快、更轻松呢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接下来，我们将进入第二部分，探讨开发范式的演进，深入了解Vibe Coding的核心思想，并阐述为什么Codex是实现这一理念的理想工具。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幸运的是，AI的发展为我们带来了新的可能性。我们的开发范式正在经历一场深刻的演进。从过去完全以人为中心的传统开发，到AI作为工具辅助我们提升局部效率的“AI辅助开发”，再到今天我们要重点讨论的，将AI视为协作者，融入整个开发反馈循环的“Vibe Coding”模式。在这个新范式下，开发者的角色不再是单纯的代码书写者，而是转变为目标的定义者、过程的控制者和结果的最终判断者。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Vibe Coding的核心是小步快跑。首先，它包含一个五部循环：描述目标、生成代码、运行验证、反馈问题、迭代优化。记住“先跑起来、持续验证、边做边改”这三个关键词。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此外，我们要区分工具和方法：AI工具是武器，而Vibe Coding是使用武器的战术。同时，建立AI友好的项目结构（如AGENTS.md、docs目录）能让协作更高效。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要实现Vibe Coding，选择合适的工具至关重要。为什么我选择Codex？因为它不仅仅是一个问答式的代码助手，更像一个真正的项目协作者。普通的代码助手可能只能理解代码片段，而Codex能理解整个项目上下文；普通助手只能生成代码，而Codex能直接修改文件、运行命令、解释报错。正是这些能力，让Codex成为了将Vibe Coding理念真正落地的理想工具。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现在我们进入最核心的第三部分：实战篇。我将为大家展示一个完整的Codex项目开发流程，包括如何设计AI友好的项目结构，深度解析三大支柱的作用，以及一个功能模块的具体开发循环。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为大家展示一个完整的Codex项目开发流程。这个流程的核心原则是：我们不是期望AI一次性生成整个项目，而是通过一系列连续的对话和验证，逐步将一个模糊的想法收敛为一个稳定的产品。整个过程从明确需求开始，到规划AI友好的项目结构，再到搭建最小可运行版本，然后进行迭代开发，在不断的运行、修复中前进，最后沉淀经验，完成人工审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这个流程中，最关键的一步，就是设计一个“AI友好”的项目结构。这意味着我们的项目结构不仅要让人类开发者看得懂，更要让AI能够轻松理解。一个清晰的结构能让AI明确地知道应该去哪里读取信息、修改哪个文件、以及如何验证结果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大家可以看到左侧这个目录结构，其中有三个用绿色高亮标出的核心区域，是专门为 AI 协作准备的：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第一是根目录下的 AGENTS.md。这是 AI 协作的“指挥手册”，我们在这里定义项目中各个 AI Agent 的角色、分工和工作流。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第二是 /docs 目录。这里是项目的“知识库”，包含了架构设计、API规范、命名约定等重要上下文，让 AI 在动手前能快速查阅，避免因为信息缺失而产生错误。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第三是 /skills 目录。这里存放着按职能分类的代码片段和逻辑模块，相当于 AI 的“工具箱”，让它能像搭积木一样，快速调用这些高质量的模块来完成复杂任务。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通过这样的结构优化，我们可以最大化 AI 的效率，实现真正的人机协同。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AGENTS.md。这个文件是项目的AI总规则文件，它专门写给AI看，定义了项目的技术栈、命令、编码规范和AI的操作权限。简单来说，它就是一份给AI的行为手册，确保AI在项目中能按照我们的规则行事，而不是随意发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docs目录，这里是AI的知识库。我们在这里存放项目的架构说明和接口约定。比如，architecture.md告诉AI项目的整体结构，而api.md则定义了前后端接口的标准。这样，AI在开发时就能理解项目的“骨架”，写出符合规范的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skills目录，这是AI的工具箱。我们可以在这里沉淀项目专属的开发技能。以前端开发技能为例，SKILL.md是技能的说明书，定义了如何触发和执行这个技能。而references目录下的文件则提供了具体的规范参考，比如样式规范，确保AI生成的代码风格统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AGENTS.md是AI的行为手册，负责定规则；docs是AI的知识库，负责让AI读懂项目；而skills则是AI的工具箱，负责自动化开发。这三者协同工作，将我们的开发经验沉淀下来，让AI成为我们团队中高效、可靠的一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基础设施后，我们来看一个具体功能模块的开发循环。这个循环分为四个阶段：首先是规划与准备，确保AI理解任务；然后是生成与实现，小步快跑地构建功能；接着是运行与验证，让AI自己执行命令来暴露问题；最后是反馈与修复，引导AI完成精准修正。这个闭环是Vibe Coding的精髓所在。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最后，我们来到第四部分。在这一部分，我将分享一些与Codex高效协作的实践心得，同时也会坦诚地探讨AI的局限性，并对本次分享进行总结。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经过大量实践，我总结了几条与Codex高效协作的心得。首先，描述需求时一定要明确验收标准。其次，复杂任务要先拆解。第三，修改要聚焦，避免让AI一次性改动太多。第四，也是最重要的，关键逻辑必须人工审查。最后，每次迭代都要运行验证，让反馈有据可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我们也要清醒地认识到AI的局限性。它可能会误解业务规则，生成看似正确但无法运行的代码，甚至忽略安全边界。特别是当项目结构混乱时，AI很容易“迷路”。所以，我们必须牢记：AI是强大的加速器，但绝不是自动驾驶仪。最终的质量把关，依然依赖于我们开发者的判断力、严谨的测试和细致的审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最后，让我们来总结一下。今天我们探讨了Vibe Coding这一全新的协作范式，了解了AI友好的项目结构是高效协作的基石，以及AGENTS.md、docs和skills这三大支柱如何释放AI的潜力。我相信，未来的软件开发，竞争的焦点将不再是单纯的编码速度，而是在于我们如何更好地组织信息、定义目标，并最终驾驭AI来完成伟大的创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我的分享到此结束，非常感谢大家的聆听。现在是问答环节，欢迎大家提问交流。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10" Type="http://schemas.openxmlformats.org/officeDocument/2006/relationships/image" Target="../media/image15.svg"/><Relationship Id="rId4" Type="http://schemas.openxmlformats.org/officeDocument/2006/relationships/image" Target="../media/image10.svg"/><Relationship Id="rId9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svg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svg"/><Relationship Id="rId7" Type="http://schemas.openxmlformats.org/officeDocument/2006/relationships/slide" Target="slide1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6.svg"/><Relationship Id="rId4" Type="http://schemas.openxmlformats.org/officeDocument/2006/relationships/image" Target="../media/image24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6.svg"/><Relationship Id="rId4" Type="http://schemas.openxmlformats.org/officeDocument/2006/relationships/image" Target="../media/image21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4000" y="96982"/>
            <a:ext cx="1524000" cy="1016000"/>
          </a:xfrm>
          <a:prstGeom prst="roundRect">
            <a:avLst>
              <a:gd name="adj" fmla="val 0"/>
            </a:avLst>
          </a:prstGeom>
          <a:solidFill>
            <a:srgbClr val="1E40A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591800" y="5932055"/>
            <a:ext cx="898236" cy="762000"/>
          </a:xfrm>
          <a:prstGeom prst="roundRect">
            <a:avLst>
              <a:gd name="adj" fmla="val 0"/>
            </a:avLst>
          </a:prstGeom>
          <a:solidFill>
            <a:srgbClr val="1E40A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096000" y="3111500"/>
            <a:ext cx="718589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从“写代码”到“组织开发反馈</a:t>
            </a:r>
            <a:r>
              <a:rPr lang="en-US" sz="26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16764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400" b="1" i="0" u="none" strike="noStrike" dirty="0" err="1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AI辅助开发与Vibe</a:t>
            </a:r>
            <a:r>
              <a:rPr lang="en-US" sz="54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 Coding</a:t>
            </a:r>
            <a:endParaRPr lang="en-US" sz="5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1F8214-B8B4-F632-F476-93282985C046}"/>
              </a:ext>
            </a:extLst>
          </p:cNvPr>
          <p:cNvSpPr txBox="1"/>
          <p:nvPr/>
        </p:nvSpPr>
        <p:spPr>
          <a:xfrm>
            <a:off x="2285999" y="5200894"/>
            <a:ext cx="2867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汇报人：孔文峰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F7FF88-AE56-3123-83BE-52AEF1E0A3C0}"/>
              </a:ext>
            </a:extLst>
          </p:cNvPr>
          <p:cNvSpPr txBox="1"/>
          <p:nvPr/>
        </p:nvSpPr>
        <p:spPr>
          <a:xfrm>
            <a:off x="7379854" y="5200894"/>
            <a:ext cx="2867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时间：</a:t>
            </a:r>
            <a:r>
              <a:rPr lang="en-US" altLang="zh-CN" sz="2000" dirty="0"/>
              <a:t>2026.5.13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62000" y="-762000"/>
            <a:ext cx="2794000" cy="2794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668000" y="5334000"/>
            <a:ext cx="2032000" cy="2032000"/>
          </a:xfrm>
          <a:prstGeom prst="roundRect">
            <a:avLst>
              <a:gd name="adj" fmla="val 1000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222666" y="2050473"/>
            <a:ext cx="2793999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3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</a:p>
        </p:txBody>
      </p:sp>
      <p:sp>
        <p:nvSpPr>
          <p:cNvPr id="5" name="AutoShape 5"/>
          <p:cNvSpPr/>
          <p:nvPr/>
        </p:nvSpPr>
        <p:spPr>
          <a:xfrm>
            <a:off x="5477164" y="1270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620164" y="1397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开场与变革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477164" y="2540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20164" y="2667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新范式：从“写代码”到“驾驭AI”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477164" y="3810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20164" y="3937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实战篇：Codex项目开发流程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5477164" y="4953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20164" y="5080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3970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683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200" b="1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开场与变革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508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从传统模式的痛点，到开发方式的重构</a:t>
            </a:r>
            <a:endParaRPr lang="en-US" sz="11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496BCAD-2822-D327-8FD4-DF5FC920CEBE}"/>
              </a:ext>
            </a:extLst>
          </p:cNvPr>
          <p:cNvSpPr/>
          <p:nvPr/>
        </p:nvSpPr>
        <p:spPr>
          <a:xfrm>
            <a:off x="5588000" y="5969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破冰：我们是否陷入了“开发慢车道”？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一个简单的想法，从构思到看到第一个可运行版本，需要多久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816100" y="2540000"/>
            <a:ext cx="939800" cy="939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889000" y="368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启动成本高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318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需求分析、架构设计、环境配置...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流程繁琐，周期漫长。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286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99100" y="2540000"/>
            <a:ext cx="939800" cy="939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572000" y="368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重复劳动多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4318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编写样板代码、基础配置、测试用例，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消耗大量精力。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286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182100" y="2540000"/>
            <a:ext cx="939800" cy="939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255000" y="368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反馈循环长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4318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从编码到运行验证，环节众多，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发现问题时往往已耗时良久。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56896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我们能否换一种方式，让开发的“第一公里”变得更轻快？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922000" y="5842000"/>
            <a:ext cx="1016000" cy="1016000"/>
          </a:xfrm>
          <a:prstGeom prst="roundRect">
            <a:avLst>
              <a:gd name="adj" fmla="val 25000"/>
            </a:avLst>
          </a:prstGeom>
          <a:solidFill>
            <a:srgbClr val="FFFFFF">
              <a:alpha val="0"/>
            </a:srgbClr>
          </a:solidFill>
          <a:ln w="254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新范式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82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从“写代码”到“驾驭AI”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5969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开发范式的演进：从人到AI的协作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159000"/>
            <a:ext cx="2921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1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传统开发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(Human-Centric)</a:t>
            </a:r>
          </a:p>
          <a:p>
            <a:pPr indent="0" algn="l">
              <a:lnSpc>
                <a:spcPct val="108333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🔹 核心含义：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人是绝对核心，主导从设计到编码的全流程。</a:t>
            </a:r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🔸 主要特点：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流程规范质量可控，但效率存在瓶颈，启动与维护成本高。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ACEA0BF-C6F6-0319-E1DE-74522E5CEF23}"/>
              </a:ext>
            </a:extLst>
          </p:cNvPr>
          <p:cNvGrpSpPr/>
          <p:nvPr/>
        </p:nvGrpSpPr>
        <p:grpSpPr>
          <a:xfrm>
            <a:off x="4445000" y="1778000"/>
            <a:ext cx="3302000" cy="4318000"/>
            <a:chOff x="4445000" y="1778000"/>
            <a:chExt cx="3302000" cy="4318000"/>
          </a:xfrm>
        </p:grpSpPr>
        <p:sp>
          <p:nvSpPr>
            <p:cNvPr id="7" name="AutoShape 7"/>
            <p:cNvSpPr/>
            <p:nvPr/>
          </p:nvSpPr>
          <p:spPr>
            <a:xfrm>
              <a:off x="4445000" y="1778000"/>
              <a:ext cx="3302000" cy="4318000"/>
            </a:xfrm>
            <a:prstGeom prst="roundRect">
              <a:avLst>
                <a:gd name="adj" fmla="val 4615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" name="AutoShape 8"/>
            <p:cNvSpPr/>
            <p:nvPr/>
          </p:nvSpPr>
          <p:spPr>
            <a:xfrm>
              <a:off x="4445000" y="1778000"/>
              <a:ext cx="3302000" cy="76200"/>
            </a:xfrm>
            <a:prstGeom prst="roundRect">
              <a:avLst>
                <a:gd name="adj" fmla="val 0"/>
              </a:avLst>
            </a:prstGeom>
            <a:solidFill>
              <a:srgbClr val="3B82F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4635500" y="2159000"/>
            <a:ext cx="2921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1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AI辅助开发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(AI-Assisted)</a:t>
            </a:r>
          </a:p>
          <a:p>
            <a:pPr indent="0" algn="l">
              <a:lnSpc>
                <a:spcPct val="108333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🔹 核心含义：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AI作为“超级工具”，辅助完成特定开发任务。</a:t>
            </a:r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🔸 主要特点：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加速局部效率，替代重复工作；AI是被动响应的助手。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922000" y="6096000"/>
            <a:ext cx="1016000" cy="508000"/>
          </a:xfrm>
          <a:prstGeom prst="roundRect">
            <a:avLst>
              <a:gd name="adj" fmla="val 0"/>
            </a:avLst>
          </a:prstGeom>
          <a:solidFill>
            <a:srgbClr val="3B82F6">
              <a:alpha val="12000"/>
            </a:srgbClr>
          </a:solidFill>
          <a:ln cap="flat" cmpd="sng">
            <a:solidFill>
              <a:srgbClr val="1F67DD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422BE1A-9A38-FA33-6873-BE4BB5619821}"/>
              </a:ext>
            </a:extLst>
          </p:cNvPr>
          <p:cNvGrpSpPr/>
          <p:nvPr/>
        </p:nvGrpSpPr>
        <p:grpSpPr>
          <a:xfrm>
            <a:off x="8128000" y="1778000"/>
            <a:ext cx="3302000" cy="4318000"/>
            <a:chOff x="4445000" y="1778000"/>
            <a:chExt cx="3302000" cy="4318000"/>
          </a:xfrm>
        </p:grpSpPr>
        <p:sp>
          <p:nvSpPr>
            <p:cNvPr id="20" name="AutoShape 7">
              <a:extLst>
                <a:ext uri="{FF2B5EF4-FFF2-40B4-BE49-F238E27FC236}">
                  <a16:creationId xmlns:a16="http://schemas.microsoft.com/office/drawing/2014/main" id="{99A791CB-5FD7-95B2-8843-BCA4F577A4EA}"/>
                </a:ext>
              </a:extLst>
            </p:cNvPr>
            <p:cNvSpPr/>
            <p:nvPr/>
          </p:nvSpPr>
          <p:spPr>
            <a:xfrm>
              <a:off x="4445000" y="1778000"/>
              <a:ext cx="3302000" cy="4318000"/>
            </a:xfrm>
            <a:prstGeom prst="roundRect">
              <a:avLst>
                <a:gd name="adj" fmla="val 4615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1" name="AutoShape 8">
              <a:extLst>
                <a:ext uri="{FF2B5EF4-FFF2-40B4-BE49-F238E27FC236}">
                  <a16:creationId xmlns:a16="http://schemas.microsoft.com/office/drawing/2014/main" id="{519E45FF-C2AE-3AF7-E505-539E7DBBB9BF}"/>
                </a:ext>
              </a:extLst>
            </p:cNvPr>
            <p:cNvSpPr/>
            <p:nvPr/>
          </p:nvSpPr>
          <p:spPr>
            <a:xfrm>
              <a:off x="4445000" y="1778000"/>
              <a:ext cx="3302000" cy="76200"/>
            </a:xfrm>
            <a:prstGeom prst="roundRect">
              <a:avLst>
                <a:gd name="adj" fmla="val 0"/>
              </a:avLst>
            </a:prstGeom>
            <a:solidFill>
              <a:srgbClr val="3B82F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8318500" y="2159000"/>
            <a:ext cx="2921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18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Vibe Coding</a:t>
            </a:r>
            <a:endParaRPr lang="en-US" sz="1100" dirty="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(AI-Collaborative / </a:t>
            </a:r>
            <a:r>
              <a:rPr lang="en-US" sz="1200" b="0" i="0" u="none" strike="noStrik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协作式</a:t>
            </a:r>
            <a:r>
              <a:rPr lang="en-US" sz="1200" b="0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indent="0" algn="l">
              <a:lnSpc>
                <a:spcPct val="108333"/>
              </a:lnSpc>
              <a:spcBef>
                <a:spcPts val="1600"/>
              </a:spcBef>
            </a:pPr>
            <a:r>
              <a:rPr lang="en-US" sz="13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🔹 核心含义：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AI进化为“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协作者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融入全链路反馈循环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3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🔸 </a:t>
            </a:r>
            <a:r>
              <a:rPr lang="en-US" sz="1300" b="1" i="0" u="none" strike="noStrike" dirty="0" err="1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主要特点：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自然语言定义目标，多轮迭代；AI是主动参与的伙伴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254000" y="-254000"/>
            <a:ext cx="1270000" cy="1270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176000" y="5842000"/>
            <a:ext cx="1524000" cy="1524000"/>
          </a:xfrm>
          <a:prstGeom prst="roundRect">
            <a:avLst>
              <a:gd name="adj" fmla="val 16666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Vibe Coding：让想法“先跑起来”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143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核心思想：从追求“一步到位”的完美主义，转向拥抱“小步快跑”的敏捷思维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1778000"/>
            <a:ext cx="2032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9304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19200" y="19050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描述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自然语言描述目标，转化为具体指令。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2984500" y="1778000"/>
            <a:ext cx="2032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6900" y="19304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441700" y="19050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生成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快速生成初步版本，先搭架子。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207000" y="1778000"/>
            <a:ext cx="2032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59400" y="19304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664200" y="19050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运行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执行预览，验证逻辑与基础功能。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429500" y="1778000"/>
            <a:ext cx="2032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1900" y="19304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886700" y="19050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04. 反馈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提供具体反馈，指出修改点。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652000" y="1778000"/>
            <a:ext cx="2032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04400" y="19304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0109200" y="19050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05. 迭代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循环优化，直至达到预期。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3556000"/>
            <a:ext cx="3302000" cy="508000"/>
          </a:xfrm>
          <a:prstGeom prst="roundRect">
            <a:avLst>
              <a:gd name="adj" fmla="val 3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36576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🚀 先跑起来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445000" y="3556000"/>
            <a:ext cx="3302000" cy="508000"/>
          </a:xfrm>
          <a:prstGeom prst="roundRect">
            <a:avLst>
              <a:gd name="adj" fmla="val 3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445000" y="36576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🔍 持续验证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0" y="3556000"/>
            <a:ext cx="3302000" cy="508000"/>
          </a:xfrm>
          <a:prstGeom prst="roundRect">
            <a:avLst>
              <a:gd name="adj" fmla="val 3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128000" y="36576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♻️ 边做边改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4572000"/>
            <a:ext cx="5207000" cy="2032000"/>
          </a:xfrm>
          <a:prstGeom prst="roundRect">
            <a:avLst>
              <a:gd name="adj" fmla="val 500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1016000" y="4762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工具 vs. 方法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16000" y="5207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AI工具</a:t>
            </a:r>
            <a:r>
              <a:rPr lang="en-US" sz="13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3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如Claude</a:t>
            </a:r>
            <a:r>
              <a:rPr lang="en-US" sz="13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Code</a:t>
            </a:r>
            <a:r>
              <a:rPr lang="zh-CN" altLang="en-US" sz="13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13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Codex</a:t>
            </a:r>
            <a:r>
              <a:rPr lang="en-US" sz="13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r>
              <a:rPr lang="zh-CN" altLang="en-US" sz="13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提供读写代码、执行命令的“武器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”。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Vibe Coding</a:t>
            </a:r>
            <a:r>
              <a:rPr lang="zh-CN" altLang="en-US" sz="13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组织工具能力的“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战术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定义高效流程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6223000" y="4572000"/>
            <a:ext cx="5207000" cy="2032000"/>
          </a:xfrm>
          <a:prstGeom prst="roundRect">
            <a:avLst>
              <a:gd name="adj" fmla="val 500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477000" y="4762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AI友好的项目结构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477000" y="5207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清晰结构让AI明确“读、改、验”的位置。核心目录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AGENTS.md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规则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3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docs/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3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skills/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技能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381000" y="-381000"/>
            <a:ext cx="1524000" cy="1524000"/>
          </a:xfrm>
          <a:prstGeom prst="ellipse">
            <a:avLst/>
          </a:prstGeom>
          <a:solidFill>
            <a:srgbClr val="000000">
              <a:alpha val="0"/>
            </a:srgbClr>
          </a:solidFill>
          <a:ln w="25400" cap="flat" cmpd="sng">
            <a:solidFill>
              <a:srgbClr val="3B82F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303000" y="5969000"/>
            <a:ext cx="1270000" cy="1270000"/>
          </a:xfrm>
          <a:prstGeom prst="roundRect">
            <a:avLst>
              <a:gd name="adj" fmla="val 12000"/>
            </a:avLst>
          </a:prstGeom>
          <a:solidFill>
            <a:srgbClr val="000000">
              <a:alpha val="0"/>
            </a:srgbClr>
          </a:solidFill>
          <a:ln w="25400" cap="flat" cmpd="sng">
            <a:solidFill>
              <a:srgbClr val="3B82F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为何选择Codex？不止是代码助手，更是项目协作者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9000" y="18415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普通代码助手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540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2514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项目上下文：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仅理解代码片段，缺乏全局视野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302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27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文件操作：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被动生成代码片段，需手动粘贴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064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038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命令执行：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无法直接执行命令，功能受限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826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80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综合价值：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提供通用建议，不支持知识沉淀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350000" y="18415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Codex 协作者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540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2514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项目上下文：能够阅读并理解整个项目代码逻辑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302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327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文件操作：主动修改项目文件，无缝融入开发流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064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85000" y="4038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命令执行：可直接运行测试、启动服务，闭环操作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4826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85000" y="480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综合价值：解释错误并提供解决方案，支持技能沉淀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762000" y="59944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Codex 提供了将 Vibe Coding 理念落地的完整能力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397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556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实战篇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95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Codex </a:t>
            </a:r>
            <a:r>
              <a:rPr lang="en-US" sz="2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项目开发流程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588000" y="5969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Codex项目开发全景图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969000" y="1651000"/>
            <a:ext cx="5969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159500" y="1841500"/>
            <a:ext cx="26035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1300" b="1" i="0" u="none" strike="noStrik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起点：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项目想法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sz="1300" b="1" i="0" u="none" strike="noStrik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明确：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需求与验收标准</a:t>
            </a:r>
            <a:endParaRPr lang="en-US" sz="13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 dirty="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03. </a:t>
            </a:r>
            <a:r>
              <a:rPr lang="en-US" sz="1300" b="1" i="0" u="none" strike="noStrike" dirty="0" err="1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规划AI友好的项目结构</a:t>
            </a:r>
            <a:endParaRPr lang="en-US" sz="13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04. </a:t>
            </a:r>
            <a:r>
              <a:rPr lang="en-US" sz="1300" b="1" i="0" u="none" strike="noStrik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搭建：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最小可运行版本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(MVP)</a:t>
            </a:r>
          </a:p>
        </p:txBody>
      </p:sp>
      <p:sp>
        <p:nvSpPr>
          <p:cNvPr id="7" name="AutoShape 7"/>
          <p:cNvSpPr/>
          <p:nvPr/>
        </p:nvSpPr>
        <p:spPr>
          <a:xfrm>
            <a:off x="8763000" y="18415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05. </a:t>
            </a:r>
            <a:r>
              <a:rPr lang="en-US" sz="1300" b="1" i="0" u="none" strike="noStrik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开发：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按模块进行前后端迭代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06. </a:t>
            </a:r>
            <a:r>
              <a:rPr lang="en-US" sz="1300" b="1" i="0" u="none" strike="noStrik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循环：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运行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报错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修复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验证</a:t>
            </a:r>
            <a:endParaRPr lang="en-US" sz="13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07. </a:t>
            </a:r>
            <a:r>
              <a:rPr lang="en-US" sz="1300" b="1" i="0" u="none" strike="noStrik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沉淀：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文档、规范与技能积累</a:t>
            </a:r>
            <a:endParaRPr lang="en-US" sz="13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08. </a:t>
            </a:r>
            <a:r>
              <a:rPr lang="en-US" sz="1300" b="1" i="0" u="none" strike="noStrik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终点：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人工Review与项目上线</a:t>
            </a:r>
            <a:endParaRPr lang="en-US" sz="13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968999" y="4826000"/>
            <a:ext cx="5968999" cy="1397000"/>
          </a:xfrm>
          <a:prstGeom prst="roundRect">
            <a:avLst>
              <a:gd name="adj" fmla="val 10909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8734" y="51308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36509" y="5016500"/>
            <a:ext cx="4682836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lang="en-US" sz="1400" b="0" i="0" u="none" strike="noStrike" dirty="0" err="1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不是一次性生成，而是通过连续对话和验证逐步收敛</a:t>
            </a:r>
            <a:r>
              <a:rPr lang="en-US" sz="1400" b="0" i="0" u="none" strike="noStrike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。”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414000" y="5588000"/>
            <a:ext cx="1524000" cy="1016000"/>
          </a:xfrm>
          <a:prstGeom prst="roundRect">
            <a:avLst>
              <a:gd name="adj" fmla="val 20000"/>
            </a:avLst>
          </a:prstGeom>
          <a:solidFill>
            <a:srgbClr val="FFFFFF">
              <a:alpha val="0"/>
            </a:srgbClr>
          </a:solidFill>
          <a:ln w="25400" cap="flat" cmpd="sng">
            <a:solidFill>
              <a:srgbClr val="3B82F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0E637C4-99B2-721C-D299-27EEC88EE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66" y="1143000"/>
            <a:ext cx="4231218" cy="5461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F3134A7-701E-9BE5-8C0F-5A9D46B69A37}"/>
              </a:ext>
            </a:extLst>
          </p:cNvPr>
          <p:cNvSpPr/>
          <p:nvPr/>
        </p:nvSpPr>
        <p:spPr>
          <a:xfrm>
            <a:off x="6570482" y="2809188"/>
            <a:ext cx="5250730" cy="323339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关键一步：设计一个“AI友好”的项目结构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150594"/>
            <a:ext cx="10922000" cy="889000"/>
          </a:xfrm>
          <a:prstGeom prst="roundRect">
            <a:avLst>
              <a:gd name="adj" fmla="val 17142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257138"/>
            <a:ext cx="1054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💡</a:t>
            </a:r>
            <a:r>
              <a:rPr 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好的项目结构不仅服务于人，更要服务于AI。清晰的结构能让AI明确知道“读哪里、改哪里、验证哪里”，从而大幅提升协作效率。</a:t>
            </a:r>
            <a:endParaRPr lang="en-US" sz="11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85C55EC-57ED-1066-B9A1-884D218C0F0A}"/>
              </a:ext>
            </a:extLst>
          </p:cNvPr>
          <p:cNvSpPr txBox="1"/>
          <p:nvPr/>
        </p:nvSpPr>
        <p:spPr>
          <a:xfrm>
            <a:off x="1324186" y="3029750"/>
            <a:ext cx="320427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800" dirty="0">
                <a:effectLst/>
                <a:latin typeface="Courier New" panose="02070309020205020404" pitchFamily="49" charset="0"/>
              </a:rPr>
              <a:t>your-project/</a:t>
            </a:r>
          </a:p>
          <a:p>
            <a:pPr>
              <a:buNone/>
            </a:pPr>
            <a:r>
              <a:rPr lang="en-US" altLang="zh-CN" sz="800" dirty="0">
                <a:effectLst/>
                <a:latin typeface="Courier New" panose="02070309020205020404" pitchFamily="49" charset="0"/>
              </a:rPr>
              <a:t>├─ AGENTS.md                # Codex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项目总规则手册</a:t>
            </a: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├─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README.md              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项目说明文档</a:t>
            </a: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├─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docs/                  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项目上下文文档</a:t>
            </a: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│  ├─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architecture.md     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项目架构说明</a:t>
            </a: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│  ├─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api.md              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前后端接口约定</a:t>
            </a: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├─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.codex/</a:t>
            </a:r>
          </a:p>
          <a:p>
            <a:pPr>
              <a:buNone/>
            </a:pPr>
            <a:r>
              <a:rPr lang="en-US" altLang="zh-CN" sz="800" dirty="0">
                <a:effectLst/>
                <a:latin typeface="Courier New" panose="02070309020205020404" pitchFamily="49" charset="0"/>
              </a:rPr>
              <a:t>│  └─ skills/             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项目内专用技能模块</a:t>
            </a:r>
            <a:endParaRPr lang="en-US" altLang="zh-CN" sz="800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│     ├─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frontend-dev/    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前端开发技能</a:t>
            </a:r>
            <a:endParaRPr lang="en-US" altLang="zh-CN" sz="800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│     │  ├─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SKILL.md      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前端开发规则、触发指令</a:t>
            </a: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│     │  ├─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references/   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前端规范参考</a:t>
            </a: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│     │  │  ├─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style-guide.md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前端样式规范</a:t>
            </a: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│     │  ├─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scripts/      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前端自动化脚本</a:t>
            </a: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│     │  │  ├─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lint-check.js 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代码校验脚本</a:t>
            </a: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│     │  └─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templates/    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前端代码模板</a:t>
            </a: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│     │     ├─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page-</a:t>
            </a:r>
            <a:r>
              <a:rPr lang="en-US" altLang="zh-CN" sz="800" dirty="0" err="1">
                <a:effectLst/>
                <a:latin typeface="Courier New" panose="02070309020205020404" pitchFamily="49" charset="0"/>
              </a:rPr>
              <a:t>template.jsx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页面模板</a:t>
            </a: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│     ├─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backend-dev/     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后端开发技能</a:t>
            </a: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├─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apps/</a:t>
            </a:r>
          </a:p>
          <a:p>
            <a:pPr>
              <a:buNone/>
            </a:pPr>
            <a:r>
              <a:rPr lang="en-US" altLang="zh-CN" sz="800" dirty="0">
                <a:effectLst/>
                <a:latin typeface="Courier New" panose="02070309020205020404" pitchFamily="49" charset="0"/>
              </a:rPr>
              <a:t>│  ├─ web/                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前端项目</a:t>
            </a: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│  └─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server/             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后端项目</a:t>
            </a:r>
          </a:p>
          <a:p>
            <a:pPr>
              <a:buNone/>
            </a:pPr>
            <a:r>
              <a:rPr lang="zh-CN" altLang="en-US" sz="800" dirty="0">
                <a:effectLst/>
                <a:latin typeface="Courier New" panose="02070309020205020404" pitchFamily="49" charset="0"/>
              </a:rPr>
              <a:t>└─ 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scripts/                 # 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项目启动</a:t>
            </a:r>
            <a:r>
              <a:rPr lang="en-US" altLang="zh-CN" sz="800" dirty="0">
                <a:effectLst/>
                <a:latin typeface="Courier New" panose="02070309020205020404" pitchFamily="49" charset="0"/>
              </a:rPr>
              <a:t>/</a:t>
            </a:r>
            <a:r>
              <a:rPr lang="zh-CN" altLang="en-US" sz="800" dirty="0">
                <a:effectLst/>
                <a:latin typeface="Courier New" panose="02070309020205020404" pitchFamily="49" charset="0"/>
              </a:rPr>
              <a:t>构建脚本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A212F5C-A02D-73E7-32DD-36A608116A3D}"/>
              </a:ext>
            </a:extLst>
          </p:cNvPr>
          <p:cNvSpPr txBox="1"/>
          <p:nvPr/>
        </p:nvSpPr>
        <p:spPr>
          <a:xfrm>
            <a:off x="6856429" y="3148553"/>
            <a:ext cx="44368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</a:rPr>
              <a:t>AI 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协作核心文件</a:t>
            </a:r>
            <a:endParaRPr lang="en-US" altLang="zh-CN" sz="28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zh-CN" dirty="0"/>
          </a:p>
          <a:p>
            <a:r>
              <a:rPr lang="en-US" altLang="zh-CN" dirty="0"/>
              <a:t>1. AGENTS.md</a:t>
            </a:r>
          </a:p>
          <a:p>
            <a:r>
              <a:rPr lang="zh-CN" altLang="en-US" b="1" dirty="0">
                <a:solidFill>
                  <a:srgbClr val="3B82F6"/>
                </a:solidFill>
              </a:rPr>
              <a:t>定位：项目级 </a:t>
            </a:r>
            <a:r>
              <a:rPr lang="en-US" altLang="zh-CN" b="1" dirty="0">
                <a:solidFill>
                  <a:srgbClr val="3B82F6"/>
                </a:solidFill>
              </a:rPr>
              <a:t>AI </a:t>
            </a:r>
            <a:r>
              <a:rPr lang="zh-CN" altLang="en-US" b="1" dirty="0">
                <a:solidFill>
                  <a:srgbClr val="3B82F6"/>
                </a:solidFill>
              </a:rPr>
              <a:t>协作总规则文件</a:t>
            </a:r>
            <a:endParaRPr lang="en-US" altLang="zh-CN" b="1" dirty="0">
              <a:solidFill>
                <a:srgbClr val="3B82F6"/>
              </a:solidFill>
            </a:endParaRPr>
          </a:p>
          <a:p>
            <a:endParaRPr lang="en-US" altLang="zh-CN" b="1" dirty="0"/>
          </a:p>
          <a:p>
            <a:r>
              <a:rPr lang="en-US" altLang="zh-CN" dirty="0"/>
              <a:t>2. docs/ </a:t>
            </a:r>
          </a:p>
          <a:p>
            <a:r>
              <a:rPr lang="zh-CN" altLang="en-US" b="1" dirty="0">
                <a:solidFill>
                  <a:srgbClr val="3B82F6"/>
                </a:solidFill>
              </a:rPr>
              <a:t>定位：给 </a:t>
            </a:r>
            <a:r>
              <a:rPr lang="en-US" altLang="zh-CN" b="1" dirty="0">
                <a:solidFill>
                  <a:srgbClr val="3B82F6"/>
                </a:solidFill>
              </a:rPr>
              <a:t>Codex </a:t>
            </a:r>
            <a:r>
              <a:rPr lang="zh-CN" altLang="en-US" b="1" dirty="0">
                <a:solidFill>
                  <a:srgbClr val="3B82F6"/>
                </a:solidFill>
              </a:rPr>
              <a:t>看的项目说明书</a:t>
            </a:r>
            <a:endParaRPr lang="zh-CN" altLang="en-US" dirty="0">
              <a:solidFill>
                <a:srgbClr val="3B82F6"/>
              </a:solidFill>
            </a:endParaRPr>
          </a:p>
          <a:p>
            <a:endParaRPr lang="zh-CN" altLang="en-US" dirty="0"/>
          </a:p>
          <a:p>
            <a:r>
              <a:rPr lang="en-US" altLang="zh-CN" dirty="0"/>
              <a:t>3. .codex/skills/ </a:t>
            </a:r>
          </a:p>
          <a:p>
            <a:r>
              <a:rPr lang="zh-CN" altLang="en-US" b="1" dirty="0">
                <a:solidFill>
                  <a:srgbClr val="3B82F6"/>
                </a:solidFill>
              </a:rPr>
              <a:t>定位：项目专用技能库，沉淀可复用的 </a:t>
            </a:r>
            <a:r>
              <a:rPr lang="en-US" altLang="zh-CN" b="1" dirty="0">
                <a:solidFill>
                  <a:srgbClr val="3B82F6"/>
                </a:solidFill>
              </a:rPr>
              <a:t>AI </a:t>
            </a:r>
            <a:r>
              <a:rPr lang="zh-CN" altLang="en-US" b="1" dirty="0">
                <a:solidFill>
                  <a:srgbClr val="3B82F6"/>
                </a:solidFill>
              </a:rPr>
              <a:t>开发流程，让 </a:t>
            </a:r>
            <a:r>
              <a:rPr lang="en-US" altLang="zh-CN" b="1" dirty="0">
                <a:solidFill>
                  <a:srgbClr val="3B82F6"/>
                </a:solidFill>
              </a:rPr>
              <a:t>AI </a:t>
            </a:r>
            <a:r>
              <a:rPr lang="zh-CN" altLang="en-US" b="1" dirty="0">
                <a:solidFill>
                  <a:srgbClr val="3B82F6"/>
                </a:solidFill>
              </a:rPr>
              <a:t>按固定套路执行</a:t>
            </a:r>
            <a:endParaRPr lang="zh-CN" altLang="en-US" dirty="0">
              <a:solidFill>
                <a:srgbClr val="3B82F6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8BCCA1-CE17-832C-B873-67DB957770DF}"/>
              </a:ext>
            </a:extLst>
          </p:cNvPr>
          <p:cNvSpPr/>
          <p:nvPr/>
        </p:nvSpPr>
        <p:spPr>
          <a:xfrm>
            <a:off x="952500" y="2777819"/>
            <a:ext cx="4814712" cy="3419124"/>
          </a:xfrm>
          <a:prstGeom prst="rect">
            <a:avLst/>
          </a:prstGeom>
          <a:solidFill>
            <a:srgbClr val="F9FAFB"/>
          </a:solidFill>
          <a:ln>
            <a:solidFill>
              <a:srgbClr val="F9FA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43DA50-EFD5-DB6B-034B-B08262AF793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EFE"/>
              </a:clrFrom>
              <a:clrTo>
                <a:srgbClr val="FF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1300" y="2108767"/>
            <a:ext cx="5847228" cy="46719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AGENTS.md：项目AI总规则文件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558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9304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文件定位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279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spcBef>
                <a:spcPts val="1000"/>
              </a:spcBef>
              <a:defRPr/>
            </a:pPr>
            <a:r>
              <a:rPr lang="en-US" sz="1400" b="1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📄 </a:t>
            </a:r>
            <a:r>
              <a:rPr lang="en-US" sz="1400" b="1" i="0" u="none" strike="noStrik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文件属性：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项目根目录顶级AI配置文件，一份纯AI可读的“规则契约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  <a:p>
            <a:pPr indent="0" algn="l">
              <a:lnSpc>
                <a:spcPct val="133333"/>
              </a:lnSpc>
              <a:spcBef>
                <a:spcPts val="1600"/>
              </a:spcBef>
            </a:pPr>
            <a:r>
              <a:rPr lang="en-US" sz="1400" b="1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🔍 </a:t>
            </a:r>
            <a:r>
              <a:rPr lang="en-US" sz="1400" b="1" i="0" u="none" strike="noStrik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核心区别：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README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面向人类开发者阅读，AGENTS.md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专门面向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Codex 等 AI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代理进行协作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33333"/>
              </a:lnSpc>
              <a:spcBef>
                <a:spcPts val="1600"/>
              </a:spcBef>
            </a:pPr>
            <a:r>
              <a:rPr lang="en-US" sz="1400" b="1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💡 </a:t>
            </a:r>
            <a:r>
              <a:rPr lang="en-US" sz="1400" b="1" i="0" u="none" strike="noStrik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作用本质：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一次性给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AI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设定项目全局约束，无需在每次对话中重复提示，提升效率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9558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19304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794000"/>
            <a:ext cx="279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0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定义项目技术栈、环境与运行命令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en-US" sz="1300" b="0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统一代码编写规范、命名与格式风格</a:t>
            </a:r>
            <a:endParaRPr lang="en-US" sz="13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50000"/>
              </a:lnSpc>
            </a:pPr>
            <a:r>
              <a:rPr lang="en-US" sz="1300" b="0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划定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AI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操作权限（如禁止修改配置文件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  <a:p>
            <a:pPr indent="0" algn="l">
              <a:lnSpc>
                <a:spcPct val="150000"/>
              </a:lnSpc>
            </a:pPr>
            <a:r>
              <a:rPr lang="en-US" sz="1300" b="0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规定开发流程、测试标准与提交规范</a:t>
            </a:r>
            <a:endParaRPr lang="en-US" sz="13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7999" y="1651000"/>
            <a:ext cx="3592945" cy="444500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890000" y="19304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模板示例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3D6CD97-CC16-FB61-0536-3A2380B47100}"/>
              </a:ext>
            </a:extLst>
          </p:cNvPr>
          <p:cNvSpPr txBox="1"/>
          <p:nvPr/>
        </p:nvSpPr>
        <p:spPr>
          <a:xfrm>
            <a:off x="8242009" y="2469768"/>
            <a:ext cx="3364923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300" dirty="0">
                <a:solidFill>
                  <a:srgbClr val="C00000"/>
                </a:solidFill>
                <a:latin typeface="Noto Sans SC"/>
                <a:ea typeface="Noto Sans SC"/>
              </a:rPr>
              <a:t># AGENTS.md - Codex AI </a:t>
            </a:r>
            <a:r>
              <a:rPr lang="zh-CN" altLang="en-US" sz="1300" dirty="0">
                <a:solidFill>
                  <a:srgbClr val="C00000"/>
                </a:solidFill>
                <a:latin typeface="Noto Sans SC"/>
                <a:ea typeface="Noto Sans SC"/>
              </a:rPr>
              <a:t>项目协作规则</a:t>
            </a:r>
          </a:p>
          <a:p>
            <a:pPr>
              <a:buNone/>
            </a:pPr>
            <a:r>
              <a:rPr lang="en-US" altLang="zh-CN" sz="1300" dirty="0">
                <a:solidFill>
                  <a:srgbClr val="C00000"/>
                </a:solidFill>
                <a:latin typeface="Noto Sans SC"/>
                <a:ea typeface="Noto Sans SC"/>
              </a:rPr>
              <a:t>## 1. </a:t>
            </a:r>
            <a:r>
              <a:rPr lang="zh-CN" altLang="en-US" sz="1300" dirty="0">
                <a:solidFill>
                  <a:srgbClr val="C00000"/>
                </a:solidFill>
                <a:latin typeface="Noto Sans SC"/>
                <a:ea typeface="Noto Sans SC"/>
              </a:rPr>
              <a:t>项目基础信息</a:t>
            </a:r>
          </a:p>
          <a:p>
            <a:pPr>
              <a:buNone/>
            </a:pP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- 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</a:rPr>
              <a:t>技术栈：</a:t>
            </a: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React + TypeScript + Node.js</a:t>
            </a:r>
          </a:p>
          <a:p>
            <a:pPr>
              <a:buNone/>
            </a:pP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- 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</a:rPr>
              <a:t>包管理器：</a:t>
            </a:r>
            <a:r>
              <a:rPr lang="en-US" altLang="zh-CN" sz="1300" dirty="0" err="1">
                <a:solidFill>
                  <a:srgbClr val="374151"/>
                </a:solidFill>
                <a:latin typeface="Noto Sans SC"/>
                <a:ea typeface="Noto Sans SC"/>
              </a:rPr>
              <a:t>pnpm</a:t>
            </a:r>
            <a:endParaRPr lang="en-US" altLang="zh-CN" sz="1300" dirty="0">
              <a:solidFill>
                <a:srgbClr val="374151"/>
              </a:solidFill>
              <a:latin typeface="Noto Sans SC"/>
              <a:ea typeface="Noto Sans SC"/>
            </a:endParaRPr>
          </a:p>
          <a:p>
            <a:pPr>
              <a:buNone/>
            </a:pP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- 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</a:rPr>
              <a:t>项目架构：前后端分离</a:t>
            </a:r>
          </a:p>
          <a:p>
            <a:r>
              <a:rPr lang="en-US" altLang="zh-CN" sz="1300" dirty="0">
                <a:solidFill>
                  <a:srgbClr val="C00000"/>
                </a:solidFill>
                <a:latin typeface="Noto Sans SC"/>
                <a:ea typeface="Noto Sans SC"/>
              </a:rPr>
              <a:t>## 2. </a:t>
            </a:r>
            <a:r>
              <a:rPr lang="zh-CN" altLang="en-US" sz="1300" dirty="0">
                <a:solidFill>
                  <a:srgbClr val="C00000"/>
                </a:solidFill>
                <a:latin typeface="Noto Sans SC"/>
                <a:ea typeface="Noto Sans SC"/>
              </a:rPr>
              <a:t>常用执行命令</a:t>
            </a:r>
          </a:p>
          <a:p>
            <a:pPr>
              <a:buNone/>
            </a:pP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- 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</a:rPr>
              <a:t>安装依赖：</a:t>
            </a:r>
            <a:r>
              <a:rPr lang="en-US" altLang="zh-CN" sz="1300" dirty="0" err="1">
                <a:solidFill>
                  <a:srgbClr val="374151"/>
                </a:solidFill>
                <a:latin typeface="Noto Sans SC"/>
                <a:ea typeface="Noto Sans SC"/>
              </a:rPr>
              <a:t>pnpm</a:t>
            </a: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 install</a:t>
            </a:r>
          </a:p>
          <a:p>
            <a:pPr>
              <a:buNone/>
            </a:pP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- 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</a:rPr>
              <a:t>前端启动：</a:t>
            </a:r>
            <a:r>
              <a:rPr lang="en-US" altLang="zh-CN" sz="1300" dirty="0" err="1">
                <a:solidFill>
                  <a:srgbClr val="374151"/>
                </a:solidFill>
                <a:latin typeface="Noto Sans SC"/>
                <a:ea typeface="Noto Sans SC"/>
              </a:rPr>
              <a:t>pnpm</a:t>
            </a: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 </a:t>
            </a:r>
            <a:r>
              <a:rPr lang="en-US" altLang="zh-CN" sz="1300" dirty="0" err="1">
                <a:solidFill>
                  <a:srgbClr val="374151"/>
                </a:solidFill>
                <a:latin typeface="Noto Sans SC"/>
                <a:ea typeface="Noto Sans SC"/>
              </a:rPr>
              <a:t>dev:web</a:t>
            </a:r>
            <a:endParaRPr lang="en-US" altLang="zh-CN" sz="1300" dirty="0">
              <a:solidFill>
                <a:srgbClr val="374151"/>
              </a:solidFill>
              <a:latin typeface="Noto Sans SC"/>
              <a:ea typeface="Noto Sans SC"/>
            </a:endParaRPr>
          </a:p>
          <a:p>
            <a:pPr>
              <a:buNone/>
            </a:pP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- 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</a:rPr>
              <a:t>后端启动：</a:t>
            </a:r>
            <a:r>
              <a:rPr lang="en-US" altLang="zh-CN" sz="1300" dirty="0" err="1">
                <a:solidFill>
                  <a:srgbClr val="374151"/>
                </a:solidFill>
                <a:latin typeface="Noto Sans SC"/>
                <a:ea typeface="Noto Sans SC"/>
              </a:rPr>
              <a:t>pnpm</a:t>
            </a: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 </a:t>
            </a:r>
            <a:r>
              <a:rPr lang="en-US" altLang="zh-CN" sz="1300" dirty="0" err="1">
                <a:solidFill>
                  <a:srgbClr val="374151"/>
                </a:solidFill>
                <a:latin typeface="Noto Sans SC"/>
                <a:ea typeface="Noto Sans SC"/>
              </a:rPr>
              <a:t>dev:server</a:t>
            </a:r>
            <a:endParaRPr lang="en-US" altLang="zh-CN" sz="1300" dirty="0">
              <a:solidFill>
                <a:srgbClr val="374151"/>
              </a:solidFill>
              <a:latin typeface="Noto Sans SC"/>
              <a:ea typeface="Noto Sans SC"/>
            </a:endParaRPr>
          </a:p>
          <a:p>
            <a:pPr>
              <a:buNone/>
            </a:pP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- 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</a:rPr>
              <a:t>代码校验：</a:t>
            </a:r>
            <a:r>
              <a:rPr lang="en-US" altLang="zh-CN" sz="1300" dirty="0" err="1">
                <a:solidFill>
                  <a:srgbClr val="374151"/>
                </a:solidFill>
                <a:latin typeface="Noto Sans SC"/>
                <a:ea typeface="Noto Sans SC"/>
              </a:rPr>
              <a:t>pnpm</a:t>
            </a: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 lint</a:t>
            </a:r>
          </a:p>
          <a:p>
            <a:pPr>
              <a:buFont typeface="Arial"/>
              <a:buNone/>
            </a:pPr>
            <a:r>
              <a:rPr lang="en-US" altLang="zh-CN" sz="1300" dirty="0">
                <a:solidFill>
                  <a:srgbClr val="C00000"/>
                </a:solidFill>
                <a:latin typeface="Noto Sans SC"/>
                <a:ea typeface="Noto Sans SC"/>
              </a:rPr>
              <a:t>## 3. </a:t>
            </a:r>
            <a:r>
              <a:rPr lang="zh-CN" altLang="en-US" sz="1300" dirty="0">
                <a:solidFill>
                  <a:srgbClr val="C00000"/>
                </a:solidFill>
                <a:latin typeface="Noto Sans SC"/>
                <a:ea typeface="Noto Sans SC"/>
              </a:rPr>
              <a:t>编码强制规范</a:t>
            </a:r>
          </a:p>
          <a:p>
            <a:pPr>
              <a:buNone/>
            </a:pP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- 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</a:rPr>
              <a:t>文件命名：短横线命名法（</a:t>
            </a: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user-</a:t>
            </a:r>
            <a:r>
              <a:rPr lang="en-US" altLang="zh-CN" sz="1300" dirty="0" err="1">
                <a:solidFill>
                  <a:srgbClr val="374151"/>
                </a:solidFill>
                <a:latin typeface="Noto Sans SC"/>
                <a:ea typeface="Noto Sans SC"/>
              </a:rPr>
              <a:t>info.ts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</a:rPr>
              <a:t>）</a:t>
            </a:r>
          </a:p>
          <a:p>
            <a:pPr>
              <a:buNone/>
            </a:pP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- 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</a:rPr>
              <a:t>组件命名：大驼峰（</a:t>
            </a:r>
            <a:r>
              <a:rPr lang="en-US" altLang="zh-CN" sz="1300" dirty="0" err="1">
                <a:solidFill>
                  <a:srgbClr val="374151"/>
                </a:solidFill>
                <a:latin typeface="Noto Sans SC"/>
                <a:ea typeface="Noto Sans SC"/>
              </a:rPr>
              <a:t>UserCard.tsx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</a:rPr>
              <a:t>）</a:t>
            </a:r>
          </a:p>
          <a:p>
            <a:r>
              <a:rPr lang="en-US" altLang="zh-CN" sz="1300" dirty="0">
                <a:solidFill>
                  <a:srgbClr val="C00000"/>
                </a:solidFill>
                <a:latin typeface="Noto Sans SC"/>
                <a:ea typeface="Noto Sans SC"/>
              </a:rPr>
              <a:t>## 4. AI</a:t>
            </a:r>
            <a:r>
              <a:rPr lang="zh-CN" altLang="en-US" sz="1300" dirty="0">
                <a:solidFill>
                  <a:srgbClr val="C00000"/>
                </a:solidFill>
                <a:latin typeface="Noto Sans SC"/>
                <a:ea typeface="Noto Sans SC"/>
              </a:rPr>
              <a:t>操作约束</a:t>
            </a:r>
          </a:p>
          <a:p>
            <a:pPr>
              <a:buNone/>
            </a:pP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- 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</a:rPr>
              <a:t>禁止修改：</a:t>
            </a:r>
            <a:r>
              <a:rPr lang="en-US" altLang="zh-CN" sz="1300" dirty="0" err="1">
                <a:solidFill>
                  <a:srgbClr val="374151"/>
                </a:solidFill>
                <a:latin typeface="Noto Sans SC"/>
                <a:ea typeface="Noto Sans SC"/>
              </a:rPr>
              <a:t>package.json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</a:rPr>
              <a:t>版本、环境配置文件</a:t>
            </a:r>
          </a:p>
          <a:p>
            <a:pPr>
              <a:buNone/>
            </a:pPr>
            <a:r>
              <a:rPr lang="en-US" altLang="zh-CN" sz="1300" dirty="0">
                <a:solidFill>
                  <a:srgbClr val="374151"/>
                </a:solidFill>
                <a:latin typeface="Noto Sans SC"/>
                <a:ea typeface="Noto Sans SC"/>
              </a:rPr>
              <a:t>- 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</a:rPr>
              <a:t>新增代码必须编写基础注释</a:t>
            </a:r>
          </a:p>
        </p:txBody>
      </p:sp>
      <p:pic>
        <p:nvPicPr>
          <p:cNvPr id="17" name="Picture 10">
            <a:extLst>
              <a:ext uri="{FF2B5EF4-FFF2-40B4-BE49-F238E27FC236}">
                <a16:creationId xmlns:a16="http://schemas.microsoft.com/office/drawing/2014/main" id="{B7FFB637-3688-ED6C-974E-93E3F39A24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5800" y="1965036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docs/：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项目上下文文档文件夹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87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14500" y="1549400"/>
            <a:ext cx="279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知识库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存放项目静态上下文资料，作为AI的参考基准。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587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5397500" y="1549400"/>
            <a:ext cx="279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架构与规范约束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让AI读懂架构与接口标准，避免生成破坏逻辑的代码。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1587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9080500" y="1549400"/>
            <a:ext cx="228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开发前置参考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AI开发任务前，优先读取docs目录，遵循约束。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2794000"/>
            <a:ext cx="5207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2794000"/>
            <a:ext cx="76200" cy="3556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79500" y="29845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📄 architecture.md ｜ 项目架构说明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79500" y="3556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作用：明确项目分层、模块关系与目录设计，防止AI生成的代码破坏现有架构逻辑。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79500" y="4318000"/>
            <a:ext cx="4572000" cy="1651000"/>
          </a:xfrm>
          <a:prstGeom prst="roundRect">
            <a:avLst>
              <a:gd name="adj" fmla="val 6153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206500" y="44450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altLang="zh-CN" sz="1100" dirty="0">
                <a:solidFill>
                  <a:srgbClr val="A7F3D0"/>
                </a:solidFill>
                <a:latin typeface="Noto Sans SC"/>
                <a:ea typeface="Noto Sans SC"/>
              </a:rPr>
              <a:t># </a:t>
            </a:r>
            <a:r>
              <a:rPr lang="zh-CN" altLang="en-US" sz="1100" dirty="0">
                <a:solidFill>
                  <a:srgbClr val="A7F3D0"/>
                </a:solidFill>
                <a:latin typeface="Noto Sans SC"/>
                <a:ea typeface="Noto Sans SC"/>
              </a:rPr>
              <a:t>项目架构说明</a:t>
            </a:r>
          </a:p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## 1. </a:t>
            </a:r>
            <a:r>
              <a:rPr lang="en-US" sz="1100" b="0" i="0" u="none" strike="noStrike" dirty="0" err="1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架构模式</a:t>
            </a:r>
            <a:r>
              <a:rPr lang="en-US" sz="1100" b="0" i="0" u="none" strike="noStrike" dirty="0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sz="1100" b="0" i="0" u="none" strike="noStrike" dirty="0" err="1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目录分层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100" dirty="0" err="1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采用前后端分离架构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：web端负责渲染，server端处理逻辑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：/apps/web (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前端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), /apps/server (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后端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), /scripts (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脚本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)。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## 2. </a:t>
            </a:r>
            <a:r>
              <a:rPr lang="en-US" sz="1100" b="0" i="0" u="none" strike="noStrike" dirty="0" err="1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通信规范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：前后端统一使用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 HTTP+JSON 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传输数据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2794000"/>
            <a:ext cx="5207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0" y="2794000"/>
            <a:ext cx="76200" cy="3556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540500" y="29845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📄 api.md ｜ 前后端接口约定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40500" y="3556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作用：统一接口的请求方法、路径前缀与返回格式，确保AI生成的接口代码符合标准。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40500" y="4318000"/>
            <a:ext cx="4572000" cy="1651000"/>
          </a:xfrm>
          <a:prstGeom prst="roundRect">
            <a:avLst>
              <a:gd name="adj" fmla="val 6153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667500" y="44450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altLang="zh-CN" sz="1100" dirty="0">
                <a:solidFill>
                  <a:srgbClr val="93C5FD"/>
                </a:solidFill>
                <a:latin typeface="Noto Sans SC"/>
                <a:ea typeface="Noto Sans SC"/>
              </a:rPr>
              <a:t># </a:t>
            </a:r>
            <a:r>
              <a:rPr lang="zh-CN" altLang="en-US" sz="1100" dirty="0">
                <a:solidFill>
                  <a:srgbClr val="93C5FD"/>
                </a:solidFill>
                <a:latin typeface="Noto Sans SC"/>
                <a:ea typeface="Noto Sans SC"/>
              </a:rPr>
              <a:t>全局</a:t>
            </a:r>
            <a:r>
              <a:rPr lang="en-US" altLang="zh-CN" sz="1100" dirty="0">
                <a:solidFill>
                  <a:srgbClr val="93C5FD"/>
                </a:solidFill>
                <a:latin typeface="Noto Sans SC"/>
                <a:ea typeface="Noto Sans SC"/>
              </a:rPr>
              <a:t>API</a:t>
            </a:r>
            <a:r>
              <a:rPr lang="zh-CN" altLang="en-US" sz="1100" dirty="0">
                <a:solidFill>
                  <a:srgbClr val="93C5FD"/>
                </a:solidFill>
                <a:latin typeface="Noto Sans SC"/>
                <a:ea typeface="Noto Sans SC"/>
              </a:rPr>
              <a:t>接口规范</a:t>
            </a:r>
            <a:endParaRPr lang="en-US" sz="1100" dirty="0">
              <a:solidFill>
                <a:srgbClr val="93C5FD"/>
              </a:solidFill>
              <a:latin typeface="Noto Sans SC"/>
              <a:ea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defRPr/>
            </a:pPr>
            <a:r>
              <a:rPr lang="en-US" sz="1100" dirty="0">
                <a:solidFill>
                  <a:srgbClr val="93C5FD"/>
                </a:solidFill>
                <a:latin typeface="Noto Sans SC"/>
                <a:ea typeface="Noto Sans SC"/>
                <a:sym typeface="Noto Sans SC"/>
              </a:rPr>
              <a:t>## 1. </a:t>
            </a:r>
            <a:r>
              <a:rPr lang="en-US" sz="1100" dirty="0" err="1">
                <a:solidFill>
                  <a:srgbClr val="93C5FD"/>
                </a:solidFill>
                <a:latin typeface="Noto Sans SC"/>
                <a:ea typeface="Noto Sans SC"/>
                <a:sym typeface="Noto Sans SC"/>
              </a:rPr>
              <a:t>全局规则</a:t>
            </a:r>
            <a:endParaRPr lang="en-US" sz="1100" dirty="0">
              <a:solidFill>
                <a:srgbClr val="93C5FD"/>
              </a:solidFill>
              <a:latin typeface="Noto Sans SC"/>
              <a:ea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defRPr/>
            </a:pPr>
            <a:r>
              <a:rPr lang="en-US" sz="1100" dirty="0">
                <a:solidFill>
                  <a:srgbClr val="93C5FD"/>
                </a:solidFill>
                <a:latin typeface="Noto Sans SC"/>
                <a:ea typeface="Noto Sans SC"/>
                <a:sym typeface="Noto Sans SC"/>
              </a:rPr>
              <a:t> - 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GET(查) / POST(增) / PUT(改) | 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前缀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: /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api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/v1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## 2. </a:t>
            </a:r>
            <a:r>
              <a:rPr lang="en-US" sz="1100" b="0" i="0" u="none" strike="noStrike" dirty="0" err="1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统一返回格式</a:t>
            </a:r>
            <a:r>
              <a:rPr lang="en-US" sz="1100" b="0" i="0" u="none" strike="noStrike" dirty="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 JSON: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{ "code": 200/500, "data": {}, "msg": "success" }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示例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: GET /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api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/v1/user/list 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获取用户列表数据</a:t>
            </a:r>
            <a:endParaRPr lang="en-US" sz="1100" b="0" i="0" u="none" strike="noStrike" dirty="0">
              <a:solidFill>
                <a:srgbClr val="E5E7E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.codex/skills/：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项目专用技能库（上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429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800" y="1866900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5875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文件属性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AI专属能力库，沉淀项目专属开发套路，是AI生成代码的核心依据。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4381500" y="1397000"/>
            <a:ext cx="3429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8669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143500" y="15875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分类区别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项目内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：.codex/skills/ (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仅当前生效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全局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：~/.codex/skills/ (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全项目通用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</p:txBody>
      </p:sp>
      <p:sp>
        <p:nvSpPr>
          <p:cNvPr id="9" name="AutoShape 9"/>
          <p:cNvSpPr/>
          <p:nvPr/>
        </p:nvSpPr>
        <p:spPr>
          <a:xfrm>
            <a:off x="8001000" y="1397000"/>
            <a:ext cx="3429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3400" y="18669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8763000" y="1587500"/>
            <a:ext cx="2163618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将开发流程、模板、规范固化为技能，让重复性工作实现“一键生成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”。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3174999"/>
            <a:ext cx="5207000" cy="3502891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3" name="AutoShape 13"/>
          <p:cNvSpPr/>
          <p:nvPr/>
        </p:nvSpPr>
        <p:spPr>
          <a:xfrm>
            <a:off x="762000" y="3175000"/>
            <a:ext cx="5207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3492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📄 </a:t>
            </a: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SKILL.md｜技能总说明书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939800" y="4353474"/>
            <a:ext cx="4699000" cy="2223970"/>
          </a:xfrm>
          <a:prstGeom prst="roundRect">
            <a:avLst>
              <a:gd name="adj" fmla="val 5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0" y="3175000"/>
            <a:ext cx="5207000" cy="350289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223000" y="31750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352309" y="3515274"/>
            <a:ext cx="5077691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📚 references/</a:t>
            </a: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style-guide.md｜规范参考文件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6500091" y="4672444"/>
            <a:ext cx="4699000" cy="1905000"/>
          </a:xfrm>
          <a:prstGeom prst="roundRect">
            <a:avLst>
              <a:gd name="adj" fmla="val 5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604000" y="4799444"/>
            <a:ext cx="444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rgbClr val="4B5563"/>
                </a:solidFill>
                <a:latin typeface="Noto Sans SC"/>
                <a:ea typeface="Noto Sans SC"/>
              </a:rPr>
              <a:t># </a:t>
            </a:r>
            <a:r>
              <a:rPr lang="zh-CN" altLang="en-US" sz="1100" dirty="0">
                <a:solidFill>
                  <a:srgbClr val="4B5563"/>
                </a:solidFill>
                <a:latin typeface="Noto Sans SC"/>
                <a:ea typeface="Noto Sans SC"/>
              </a:rPr>
              <a:t>前端样式编码规范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rgbClr val="4B5563"/>
                </a:solidFill>
                <a:latin typeface="Noto Sans SC"/>
                <a:ea typeface="Noto Sans SC"/>
              </a:rPr>
              <a:t>## 1. </a:t>
            </a:r>
            <a:r>
              <a:rPr lang="zh-CN" altLang="en-US" sz="1100" dirty="0">
                <a:solidFill>
                  <a:srgbClr val="4B5563"/>
                </a:solidFill>
                <a:latin typeface="Noto Sans SC"/>
                <a:ea typeface="Noto Sans SC"/>
              </a:rPr>
              <a:t>代码格式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rgbClr val="4B5563"/>
                </a:solidFill>
                <a:latin typeface="Noto Sans SC"/>
                <a:ea typeface="Noto Sans SC"/>
              </a:rPr>
              <a:t>- </a:t>
            </a:r>
            <a:r>
              <a:rPr lang="zh-CN" altLang="en-US" sz="1100" dirty="0">
                <a:solidFill>
                  <a:srgbClr val="4B5563"/>
                </a:solidFill>
                <a:latin typeface="Noto Sans SC"/>
                <a:ea typeface="Noto Sans SC"/>
              </a:rPr>
              <a:t>缩进：</a:t>
            </a:r>
            <a:r>
              <a:rPr lang="en-US" altLang="zh-CN" sz="1100" dirty="0">
                <a:solidFill>
                  <a:srgbClr val="4B5563"/>
                </a:solidFill>
                <a:latin typeface="Noto Sans SC"/>
                <a:ea typeface="Noto Sans SC"/>
              </a:rPr>
              <a:t>2</a:t>
            </a:r>
            <a:r>
              <a:rPr lang="zh-CN" altLang="en-US" sz="1100" dirty="0">
                <a:solidFill>
                  <a:srgbClr val="4B5563"/>
                </a:solidFill>
                <a:latin typeface="Noto Sans SC"/>
                <a:ea typeface="Noto Sans SC"/>
              </a:rPr>
              <a:t>个空格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rgbClr val="4B5563"/>
                </a:solidFill>
                <a:latin typeface="Noto Sans SC"/>
                <a:ea typeface="Noto Sans SC"/>
              </a:rPr>
              <a:t>- </a:t>
            </a:r>
            <a:r>
              <a:rPr lang="zh-CN" altLang="en-US" sz="1100" dirty="0">
                <a:solidFill>
                  <a:srgbClr val="4B5563"/>
                </a:solidFill>
                <a:latin typeface="Noto Sans SC"/>
                <a:ea typeface="Noto Sans SC"/>
              </a:rPr>
              <a:t>引号：统一使用单引号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rgbClr val="4B5563"/>
                </a:solidFill>
                <a:latin typeface="Noto Sans SC"/>
                <a:ea typeface="Noto Sans SC"/>
              </a:rPr>
              <a:t>## 2. </a:t>
            </a:r>
            <a:r>
              <a:rPr lang="zh-CN" altLang="en-US" sz="1100" dirty="0">
                <a:solidFill>
                  <a:srgbClr val="4B5563"/>
                </a:solidFill>
                <a:latin typeface="Noto Sans SC"/>
                <a:ea typeface="Noto Sans SC"/>
              </a:rPr>
              <a:t>样式规范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rgbClr val="4B5563"/>
                </a:solidFill>
                <a:latin typeface="Noto Sans SC"/>
                <a:ea typeface="Noto Sans SC"/>
              </a:rPr>
              <a:t>- </a:t>
            </a:r>
            <a:r>
              <a:rPr lang="zh-CN" altLang="en-US" sz="1100" dirty="0">
                <a:solidFill>
                  <a:srgbClr val="4B5563"/>
                </a:solidFill>
                <a:latin typeface="Noto Sans SC"/>
                <a:ea typeface="Noto Sans SC"/>
              </a:rPr>
              <a:t>使用</a:t>
            </a:r>
            <a:r>
              <a:rPr lang="en-US" altLang="zh-CN" sz="1100" dirty="0" err="1">
                <a:solidFill>
                  <a:srgbClr val="4B5563"/>
                </a:solidFill>
                <a:latin typeface="Noto Sans SC"/>
                <a:ea typeface="Noto Sans SC"/>
              </a:rPr>
              <a:t>TailwindCSS</a:t>
            </a:r>
            <a:r>
              <a:rPr lang="zh-CN" altLang="en-US" sz="1100" dirty="0">
                <a:solidFill>
                  <a:srgbClr val="4B5563"/>
                </a:solidFill>
                <a:latin typeface="Noto Sans SC"/>
                <a:ea typeface="Noto Sans SC"/>
              </a:rPr>
              <a:t>编写样式，禁止自定义冗余</a:t>
            </a:r>
            <a:r>
              <a:rPr lang="en-US" altLang="zh-CN" sz="1100" dirty="0" err="1">
                <a:solidFill>
                  <a:srgbClr val="4B5563"/>
                </a:solidFill>
                <a:latin typeface="Noto Sans SC"/>
                <a:ea typeface="Noto Sans SC"/>
              </a:rPr>
              <a:t>css</a:t>
            </a:r>
            <a:endParaRPr lang="en-US" altLang="zh-CN" sz="1100" dirty="0">
              <a:solidFill>
                <a:srgbClr val="4B5563"/>
              </a:solidFill>
              <a:latin typeface="Noto Sans SC"/>
              <a:ea typeface="Noto Sans SC"/>
            </a:endParaRP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rgbClr val="4B5563"/>
                </a:solidFill>
                <a:latin typeface="Noto Sans SC"/>
                <a:ea typeface="Noto Sans SC"/>
              </a:rPr>
              <a:t>- </a:t>
            </a:r>
            <a:r>
              <a:rPr lang="zh-CN" altLang="en-US" sz="1100" dirty="0">
                <a:solidFill>
                  <a:srgbClr val="4B5563"/>
                </a:solidFill>
                <a:latin typeface="Noto Sans SC"/>
                <a:ea typeface="Noto Sans SC"/>
              </a:rPr>
              <a:t>颜色统一使用项目预设色值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53CE88-E8B0-24A0-6C4B-194F176EFFA9}"/>
              </a:ext>
            </a:extLst>
          </p:cNvPr>
          <p:cNvSpPr txBox="1"/>
          <p:nvPr/>
        </p:nvSpPr>
        <p:spPr>
          <a:xfrm>
            <a:off x="1003300" y="3896274"/>
            <a:ext cx="502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作用：告诉AI该技能的用途、触发指令与标准执行流程</a:t>
            </a:r>
            <a:r>
              <a:rPr lang="en-US" altLang="zh-CN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altLang="zh-CN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E937FE-5AFD-99D3-6D10-C7DBBAA2B4C6}"/>
              </a:ext>
            </a:extLst>
          </p:cNvPr>
          <p:cNvSpPr txBox="1"/>
          <p:nvPr/>
        </p:nvSpPr>
        <p:spPr>
          <a:xfrm>
            <a:off x="6376554" y="3891972"/>
            <a:ext cx="502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作用：约束AI的编码风格，统一项目代码格式与页面样式标准</a:t>
            </a:r>
            <a:r>
              <a:rPr lang="en-US" altLang="zh-CN" b="1" dirty="0"/>
              <a:t>。</a:t>
            </a:r>
            <a:endParaRPr lang="zh-CN" altLang="zh-CN" dirty="0">
              <a:effectLst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7" name="幻灯片缩放定位 26">
                <a:extLst>
                  <a:ext uri="{FF2B5EF4-FFF2-40B4-BE49-F238E27FC236}">
                    <a16:creationId xmlns:a16="http://schemas.microsoft.com/office/drawing/2014/main" id="{B4DC0465-3ABD-0EA2-D806-7EF4702759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45275805"/>
                  </p:ext>
                </p:extLst>
              </p:nvPr>
            </p:nvGraphicFramePr>
            <p:xfrm>
              <a:off x="1501486" y="4435325"/>
              <a:ext cx="3575627" cy="2011290"/>
            </p:xfrm>
            <a:graphic>
              <a:graphicData uri="http://schemas.microsoft.com/office/powerpoint/2016/slidezoom">
                <pslz:sldZm>
                  <pslz:sldZmObj sldId="284" cId="626197976">
                    <pslz:zmPr id="{8B543941-492F-4C20-9C81-3C35EFD4E5EB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575627" cy="201129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  <a:effectLst>
                          <a:softEdge rad="0"/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7" name="幻灯片缩放定位 26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B4DC0465-3ABD-0EA2-D806-7EF4702759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01486" y="4435325"/>
                <a:ext cx="3575627" cy="201129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  <a:effectLst>
                <a:softEdge rad="0"/>
              </a:effectLst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5">
            <a:extLst>
              <a:ext uri="{FF2B5EF4-FFF2-40B4-BE49-F238E27FC236}">
                <a16:creationId xmlns:a16="http://schemas.microsoft.com/office/drawing/2014/main" id="{FE946714-8E26-3D70-BD9C-0BC8F8A02CEB}"/>
              </a:ext>
            </a:extLst>
          </p:cNvPr>
          <p:cNvSpPr/>
          <p:nvPr/>
        </p:nvSpPr>
        <p:spPr>
          <a:xfrm>
            <a:off x="1571337" y="132773"/>
            <a:ext cx="8450118" cy="6216574"/>
          </a:xfrm>
          <a:prstGeom prst="roundRect">
            <a:avLst>
              <a:gd name="adj" fmla="val 5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6A1874-6100-FC1B-9581-BA3D526A3C01}"/>
              </a:ext>
            </a:extLst>
          </p:cNvPr>
          <p:cNvSpPr txBox="1"/>
          <p:nvPr/>
        </p:nvSpPr>
        <p:spPr>
          <a:xfrm>
            <a:off x="2170544" y="320713"/>
            <a:ext cx="7850910" cy="6216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---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name: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前端开发技能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description: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遵循项目编码规范，快速生成标准化前端页面与组件，自动代码校验，统一编码风格。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---</a:t>
            </a:r>
          </a:p>
          <a:p>
            <a:pPr>
              <a:lnSpc>
                <a:spcPct val="116666"/>
              </a:lnSpc>
            </a:pPr>
            <a:endParaRPr lang="en-US" altLang="zh-CN" sz="1100" dirty="0">
              <a:solidFill>
                <a:schemeClr val="tx1"/>
              </a:solidFill>
              <a:latin typeface="Noto Sans SC"/>
              <a:ea typeface="Noto Sans SC"/>
            </a:endParaRP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#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前端开发技能</a:t>
            </a:r>
          </a:p>
          <a:p>
            <a:pPr>
              <a:lnSpc>
                <a:spcPct val="116666"/>
              </a:lnSpc>
            </a:pP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适配前后端分离项目，辅助</a:t>
            </a: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AI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标准化开发前端代码。</a:t>
            </a:r>
          </a:p>
          <a:p>
            <a:pPr>
              <a:lnSpc>
                <a:spcPct val="116666"/>
              </a:lnSpc>
            </a:pPr>
            <a:endParaRPr lang="zh-CN" altLang="en-US" sz="1100" dirty="0">
              <a:solidFill>
                <a:schemeClr val="tx1"/>
              </a:solidFill>
              <a:latin typeface="Noto Sans SC"/>
              <a:ea typeface="Noto Sans SC"/>
            </a:endParaRP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##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功能特点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-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 快速生成前端页面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-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 生成规范公共组件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- 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自动代码格式校验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-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 统一项目编码规范</a:t>
            </a:r>
          </a:p>
          <a:p>
            <a:pPr>
              <a:lnSpc>
                <a:spcPct val="116666"/>
              </a:lnSpc>
            </a:pPr>
            <a:endParaRPr lang="zh-CN" altLang="en-US" sz="1100" dirty="0">
              <a:solidFill>
                <a:schemeClr val="tx1"/>
              </a:solidFill>
              <a:latin typeface="Noto Sans SC"/>
              <a:ea typeface="Noto Sans SC"/>
            </a:endParaRP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##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使用方法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1.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输入指令调用技能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2. AI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读取规范与模板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3.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生成并校验代码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4.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输出合规代码文件</a:t>
            </a:r>
          </a:p>
          <a:p>
            <a:pPr>
              <a:lnSpc>
                <a:spcPct val="116666"/>
              </a:lnSpc>
            </a:pPr>
            <a:endParaRPr lang="zh-CN" altLang="en-US" sz="1100" dirty="0">
              <a:solidFill>
                <a:schemeClr val="tx1"/>
              </a:solidFill>
              <a:latin typeface="Noto Sans SC"/>
              <a:ea typeface="Noto Sans SC"/>
            </a:endParaRP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##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触发指令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-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新建页面：创建前端页面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-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新建组件：生成公共组件</a:t>
            </a:r>
          </a:p>
          <a:p>
            <a:pPr>
              <a:lnSpc>
                <a:spcPct val="116666"/>
              </a:lnSpc>
            </a:pPr>
            <a:endParaRPr lang="zh-CN" altLang="en-US" sz="1100" dirty="0">
              <a:solidFill>
                <a:schemeClr val="tx1"/>
              </a:solidFill>
              <a:latin typeface="Noto Sans SC"/>
              <a:ea typeface="Noto Sans SC"/>
            </a:endParaRP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##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执行流程</a:t>
            </a:r>
          </a:p>
          <a:p>
            <a:pPr>
              <a:lnSpc>
                <a:spcPct val="116666"/>
              </a:lnSpc>
            </a:pP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规范读取 → 模板套用 → 代码校验 → 代码输出</a:t>
            </a:r>
          </a:p>
          <a:p>
            <a:pPr>
              <a:lnSpc>
                <a:spcPct val="116666"/>
              </a:lnSpc>
            </a:pPr>
            <a:endParaRPr lang="zh-CN" altLang="en-US" sz="1100" dirty="0">
              <a:solidFill>
                <a:schemeClr val="tx1"/>
              </a:solidFill>
              <a:latin typeface="Noto Sans SC"/>
              <a:ea typeface="Noto Sans SC"/>
            </a:endParaRP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##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依赖资源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-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规范文件：</a:t>
            </a: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references/style-guide.md</a:t>
            </a: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-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代码模板：</a:t>
            </a: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templates/page-</a:t>
            </a:r>
            <a:r>
              <a:rPr lang="en-US" altLang="zh-CN" sz="1100" dirty="0" err="1">
                <a:solidFill>
                  <a:schemeClr val="tx1"/>
                </a:solidFill>
                <a:latin typeface="Noto Sans SC"/>
                <a:ea typeface="Noto Sans SC"/>
              </a:rPr>
              <a:t>template.jsx</a:t>
            </a:r>
            <a:endParaRPr lang="en-US" altLang="zh-CN" sz="1100" dirty="0">
              <a:solidFill>
                <a:schemeClr val="tx1"/>
              </a:solidFill>
              <a:latin typeface="Noto Sans SC"/>
              <a:ea typeface="Noto Sans SC"/>
            </a:endParaRPr>
          </a:p>
          <a:p>
            <a:pPr>
              <a:lnSpc>
                <a:spcPct val="116666"/>
              </a:lnSpc>
            </a:pP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- </a:t>
            </a:r>
            <a:r>
              <a:rPr lang="zh-CN" altLang="en-US" sz="1100" dirty="0">
                <a:solidFill>
                  <a:schemeClr val="tx1"/>
                </a:solidFill>
                <a:latin typeface="Noto Sans SC"/>
                <a:ea typeface="Noto Sans SC"/>
              </a:rPr>
              <a:t>校验脚本：</a:t>
            </a:r>
            <a:r>
              <a:rPr lang="en-US" altLang="zh-CN" sz="1100" dirty="0">
                <a:solidFill>
                  <a:schemeClr val="tx1"/>
                </a:solidFill>
                <a:latin typeface="Noto Sans SC"/>
                <a:ea typeface="Noto Sans SC"/>
              </a:rPr>
              <a:t>scripts/lint-check.js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DEDA686-643D-E453-D2B1-68E471B09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36" y="132773"/>
            <a:ext cx="8791864" cy="653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197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.codex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/skills/：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项目专用技能库（下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以 frontend-dev 前端技能为例 · 自动化与标准化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476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scripts/lint-check.js</a:t>
            </a:r>
            <a:r>
              <a:rPr lang="en-US" sz="1600" b="0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｜ 自动化脚本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作用：AI 写完代码后，自动执行 ESLint 等代码格式校验，从源头保障代码风格统一。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810000"/>
            <a:ext cx="4699000" cy="2159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937000"/>
            <a:ext cx="444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100" b="0" i="0" u="none" strike="noStrike" dirty="0" err="1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前端代码格式校验脚本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const { 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execSync</a:t>
            </a:r>
            <a:r>
              <a:rPr lang="en-US" sz="1100" b="0" i="0" u="none" strike="noStrike" dirty="0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} = require('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child_process</a:t>
            </a:r>
            <a:r>
              <a:rPr lang="en-US" sz="1100" b="0" i="0" u="none" strike="noStrike" dirty="0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');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100" b="0" i="0" u="none" strike="noStrike" dirty="0" err="1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执行</a:t>
            </a:r>
            <a:r>
              <a:rPr lang="en-US" sz="1100" b="0" i="0" u="none" strike="noStrike" dirty="0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-US" sz="1100" b="0" i="0" u="none" strike="noStrike" dirty="0" err="1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eslint</a:t>
            </a:r>
            <a:r>
              <a:rPr lang="en-US" sz="1100" b="0" i="0" u="none" strike="noStrike" dirty="0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-US" sz="1100" b="0" i="0" u="none" strike="noStrike" dirty="0" err="1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校验命令</a:t>
            </a:r>
            <a:endParaRPr lang="en-US" sz="1100" b="0" i="0" u="none" strike="noStrike" dirty="0">
              <a:solidFill>
                <a:srgbClr val="9CA3A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 err="1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execSync</a:t>
            </a:r>
            <a:r>
              <a:rPr lang="en-US" sz="1100" b="0" i="0" u="none" strike="noStrike" dirty="0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('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pnpm</a:t>
            </a:r>
            <a:r>
              <a:rPr lang="en-US" sz="1100" b="0" i="0" u="none" strike="noStrike" dirty="0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lint', { encoding: 'utf-8' });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console.log('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前端代码风格校验通过</a:t>
            </a:r>
            <a:r>
              <a:rPr lang="en-US" sz="1100" b="0" i="0" u="none" strike="noStrike" dirty="0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');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2159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21590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2476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templates/page-template.jsx</a:t>
            </a:r>
            <a:r>
              <a:rPr lang="en-US" sz="16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｜ 代码模板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304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作用：AI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新建页面时直接套用预设的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React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模板，统一引入规范、组件结构与样式目录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6477000" y="3810000"/>
            <a:ext cx="4699000" cy="2159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5" name="AutoShape 9">
            <a:extLst>
              <a:ext uri="{FF2B5EF4-FFF2-40B4-BE49-F238E27FC236}">
                <a16:creationId xmlns:a16="http://schemas.microsoft.com/office/drawing/2014/main" id="{BB27D269-9B0C-09B6-18A9-BD1595772A80}"/>
              </a:ext>
            </a:extLst>
          </p:cNvPr>
          <p:cNvSpPr/>
          <p:nvPr/>
        </p:nvSpPr>
        <p:spPr>
          <a:xfrm>
            <a:off x="6604000" y="3937000"/>
            <a:ext cx="444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</a:pPr>
            <a:r>
              <a:rPr lang="en-US" altLang="zh-CN" sz="1100" dirty="0">
                <a:solidFill>
                  <a:srgbClr val="9CA3AF"/>
                </a:solidFill>
                <a:latin typeface="Source Code Pro"/>
                <a:ea typeface="Source Code Pro"/>
              </a:rPr>
              <a:t>// </a:t>
            </a:r>
            <a:r>
              <a:rPr lang="zh-CN" altLang="en-US" sz="1100" dirty="0">
                <a:solidFill>
                  <a:srgbClr val="9CA3AF"/>
                </a:solidFill>
                <a:latin typeface="Source Code Pro"/>
              </a:rPr>
              <a:t>通用页面模板</a:t>
            </a:r>
          </a:p>
          <a:p>
            <a:pPr>
              <a:lnSpc>
                <a:spcPct val="108333"/>
              </a:lnSpc>
            </a:pPr>
            <a:r>
              <a:rPr lang="en-US" altLang="zh-CN" sz="1100" dirty="0">
                <a:solidFill>
                  <a:srgbClr val="E5E7EB"/>
                </a:solidFill>
                <a:latin typeface="Source Code Pro"/>
              </a:rPr>
              <a:t>import { FC } from 'react';</a:t>
            </a:r>
          </a:p>
          <a:p>
            <a:pPr>
              <a:lnSpc>
                <a:spcPct val="108333"/>
              </a:lnSpc>
            </a:pPr>
            <a:r>
              <a:rPr lang="en-US" altLang="zh-CN" sz="1100" dirty="0">
                <a:solidFill>
                  <a:srgbClr val="E5E7EB"/>
                </a:solidFill>
                <a:latin typeface="Source Code Pro"/>
              </a:rPr>
              <a:t>import './</a:t>
            </a:r>
            <a:r>
              <a:rPr lang="en-US" altLang="zh-CN" sz="1100" dirty="0" err="1">
                <a:solidFill>
                  <a:srgbClr val="E5E7EB"/>
                </a:solidFill>
                <a:latin typeface="Source Code Pro"/>
              </a:rPr>
              <a:t>index.less</a:t>
            </a:r>
            <a:r>
              <a:rPr lang="en-US" altLang="zh-CN" sz="1100" dirty="0">
                <a:solidFill>
                  <a:srgbClr val="E5E7EB"/>
                </a:solidFill>
                <a:latin typeface="Source Code Pro"/>
              </a:rPr>
              <a:t>';</a:t>
            </a:r>
            <a:endParaRPr lang="en-US" altLang="zh-CN" dirty="0"/>
          </a:p>
          <a:p>
            <a:pPr>
              <a:lnSpc>
                <a:spcPct val="108333"/>
              </a:lnSpc>
            </a:pPr>
            <a:r>
              <a:rPr lang="en-US" altLang="zh-CN" sz="1100" dirty="0">
                <a:solidFill>
                  <a:srgbClr val="E5E7EB"/>
                </a:solidFill>
                <a:latin typeface="Source Code Pro"/>
                <a:ea typeface="Source Code Pro"/>
              </a:rPr>
              <a:t>const </a:t>
            </a:r>
            <a:r>
              <a:rPr lang="en-US" altLang="zh-CN" sz="1100" dirty="0" err="1">
                <a:solidFill>
                  <a:srgbClr val="E5E7EB"/>
                </a:solidFill>
                <a:latin typeface="Source Code Pro"/>
                <a:ea typeface="Source Code Pro"/>
              </a:rPr>
              <a:t>PageName</a:t>
            </a:r>
            <a:r>
              <a:rPr lang="en-US" altLang="zh-CN" sz="1100" dirty="0">
                <a:solidFill>
                  <a:srgbClr val="E5E7EB"/>
                </a:solidFill>
                <a:latin typeface="Source Code Pro"/>
                <a:ea typeface="Source Code Pro"/>
              </a:rPr>
              <a:t>: FC = () =&gt; {</a:t>
            </a:r>
          </a:p>
          <a:p>
            <a:pPr>
              <a:lnSpc>
                <a:spcPct val="108333"/>
              </a:lnSpc>
            </a:pPr>
            <a:r>
              <a:rPr lang="en-US" altLang="zh-CN" sz="1100" dirty="0">
                <a:solidFill>
                  <a:srgbClr val="E5E7EB"/>
                </a:solidFill>
                <a:latin typeface="Source Code Pro"/>
                <a:ea typeface="Source Code Pro"/>
              </a:rPr>
              <a:t>  return (</a:t>
            </a:r>
          </a:p>
          <a:p>
            <a:pPr>
              <a:lnSpc>
                <a:spcPct val="108333"/>
              </a:lnSpc>
            </a:pPr>
            <a:r>
              <a:rPr lang="en-US" altLang="zh-CN" sz="1100" dirty="0">
                <a:solidFill>
                  <a:srgbClr val="E5E7EB"/>
                </a:solidFill>
                <a:latin typeface="Source Code Pro"/>
                <a:ea typeface="Source Code Pro"/>
              </a:rPr>
              <a:t>    &lt;div </a:t>
            </a:r>
            <a:r>
              <a:rPr lang="en-US" altLang="zh-CN" sz="1100" dirty="0" err="1">
                <a:solidFill>
                  <a:srgbClr val="E5E7EB"/>
                </a:solidFill>
                <a:latin typeface="Source Code Pro"/>
                <a:ea typeface="Source Code Pro"/>
              </a:rPr>
              <a:t>className</a:t>
            </a:r>
            <a:r>
              <a:rPr lang="en-US" altLang="zh-CN" sz="1100" dirty="0">
                <a:solidFill>
                  <a:srgbClr val="E5E7EB"/>
                </a:solidFill>
                <a:latin typeface="Source Code Pro"/>
                <a:ea typeface="Source Code Pro"/>
              </a:rPr>
              <a:t>="page-container"&gt;</a:t>
            </a:r>
          </a:p>
          <a:p>
            <a:pPr>
              <a:lnSpc>
                <a:spcPct val="108333"/>
              </a:lnSpc>
            </a:pPr>
            <a:r>
              <a:rPr lang="en-US" altLang="zh-CN" sz="1100" dirty="0">
                <a:solidFill>
                  <a:srgbClr val="E5E7EB"/>
                </a:solidFill>
                <a:latin typeface="Source Code Pro"/>
                <a:ea typeface="Source Code Pro"/>
              </a:rPr>
              <a:t>      &lt;h1&gt;</a:t>
            </a:r>
            <a:r>
              <a:rPr lang="zh-CN" altLang="en-US" sz="1100" dirty="0">
                <a:solidFill>
                  <a:srgbClr val="E5E7EB"/>
                </a:solidFill>
                <a:latin typeface="Source Code Pro"/>
              </a:rPr>
              <a:t>页面标题</a:t>
            </a:r>
            <a:r>
              <a:rPr lang="en-US" altLang="zh-CN" sz="1100" dirty="0">
                <a:solidFill>
                  <a:srgbClr val="E5E7EB"/>
                </a:solidFill>
                <a:latin typeface="Source Code Pro"/>
                <a:ea typeface="Source Code Pro"/>
              </a:rPr>
              <a:t>&lt;/h1&gt;</a:t>
            </a:r>
          </a:p>
          <a:p>
            <a:pPr>
              <a:lnSpc>
                <a:spcPct val="108333"/>
              </a:lnSpc>
            </a:pPr>
            <a:r>
              <a:rPr lang="en-US" altLang="zh-CN" sz="1100" dirty="0">
                <a:solidFill>
                  <a:srgbClr val="E5E7EB"/>
                </a:solidFill>
                <a:latin typeface="Source Code Pro"/>
                <a:ea typeface="Source Code Pro"/>
              </a:rPr>
              <a:t>    &lt;/div&gt;</a:t>
            </a:r>
          </a:p>
          <a:p>
            <a:pPr>
              <a:lnSpc>
                <a:spcPct val="108333"/>
              </a:lnSpc>
            </a:pPr>
            <a:r>
              <a:rPr lang="en-US" altLang="zh-CN" sz="1100" dirty="0">
                <a:solidFill>
                  <a:srgbClr val="E5E7EB"/>
                </a:solidFill>
                <a:latin typeface="Source Code Pro"/>
                <a:ea typeface="Source Code Pro"/>
              </a:rPr>
              <a:t>  );</a:t>
            </a:r>
          </a:p>
          <a:p>
            <a:pPr>
              <a:lnSpc>
                <a:spcPct val="108333"/>
              </a:lnSpc>
            </a:pPr>
            <a:r>
              <a:rPr lang="en-US" altLang="zh-CN" sz="1100" dirty="0">
                <a:solidFill>
                  <a:srgbClr val="E5E7EB"/>
                </a:solidFill>
                <a:latin typeface="Source Code Pro"/>
                <a:ea typeface="Source Code Pro"/>
              </a:rPr>
              <a:t>};</a:t>
            </a:r>
          </a:p>
          <a:p>
            <a:pPr>
              <a:lnSpc>
                <a:spcPct val="108333"/>
              </a:lnSpc>
            </a:pPr>
            <a:r>
              <a:rPr lang="en-US" altLang="zh-CN" sz="1100" dirty="0">
                <a:solidFill>
                  <a:srgbClr val="E5E7EB"/>
                </a:solidFill>
                <a:latin typeface="Source Code Pro"/>
                <a:ea typeface="Source Code Pro"/>
              </a:rPr>
              <a:t>export default </a:t>
            </a:r>
            <a:r>
              <a:rPr lang="en-US" altLang="zh-CN" sz="1100" dirty="0" err="1">
                <a:solidFill>
                  <a:srgbClr val="E5E7EB"/>
                </a:solidFill>
                <a:latin typeface="Source Code Pro"/>
                <a:ea typeface="Source Code Pro"/>
              </a:rPr>
              <a:t>PageName</a:t>
            </a:r>
            <a:r>
              <a:rPr lang="en-US" altLang="zh-CN" sz="1100" dirty="0">
                <a:solidFill>
                  <a:srgbClr val="E5E7EB"/>
                </a:solidFill>
                <a:latin typeface="Source Code Pro"/>
                <a:ea typeface="Source Code Pro"/>
              </a:rPr>
              <a:t>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总结：三大核心文件协同工作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905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AGENTS.md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AI的行为手册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429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定规则、划权限、约束AI全局行为，确保AI的每一步操作都符合团队设定的规范。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905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1905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docs/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AI的知识库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429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存架构、存接口，将项目上下文和技术文档系统化，让AI能读懂并理解项目全貌。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1905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017000" y="1905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skills/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AI的工具箱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429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沉淀模板、脚本、规范，把高频开发动作封装为工具，赋能AI实现自动化的高质量开发。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16000" y="5207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核心思想：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通过这三个文件，我们将开发经验和项目规则系统化、文件化，让AI从一个通用的代码生成器，转变为深度融入项目、遵循团队规范的专属开发伙伴。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Vibe Coding实战循环：从想法到功能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841500"/>
            <a:ext cx="76200" cy="1905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841500"/>
            <a:ext cx="406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/ 规划与准备 (Plan)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📝 动作：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明确需求，让Codex阅读相关的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docs/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skills/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目录，建立项目认知。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🎯 目标：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对齐上下文，确保AI准确理解技术栈、代码规范及任务边界。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23000" y="1841500"/>
            <a:ext cx="76200" cy="1905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3200" y="190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841500"/>
            <a:ext cx="406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/ 生成与实现 (Generate)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⚡️ 动作：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先实现后端接口逻辑，再逐步生成前端页面。坚持小范围、分步骤生成策略。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🚀 目标：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快速构建可运行的功能雏形，避免一次性生成过大代码量导致的逻辑混乱。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4381500"/>
            <a:ext cx="76200" cy="1905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2200" y="444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4381500"/>
            <a:ext cx="406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/ 运行与验证 (Run &amp; Verify)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🧪 动作：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直接让Codex执行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npm run dev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启动服务，或运行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pytest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等自动化测试命令。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🔍 目标：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让系统自我验证，尽早暴露语法错误、依赖缺失或逻辑漏洞，获取真实的执行反馈。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0" y="4381500"/>
            <a:ext cx="76200" cy="1905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3200" y="4445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4381500"/>
            <a:ext cx="406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/ 反馈与修复 (Feedback &amp; Fix)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🔄 动作：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将运行时的报错日志或不符合预期的UI/API结果，完整反馈给Codex。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🎯 目标：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利用具体错误信息引导AI进行精准修复，完成从“生成”到“完美”的迭代闭环。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0922000" y="5588000"/>
            <a:ext cx="1270000" cy="1270000"/>
          </a:xfrm>
          <a:prstGeom prst="roundRect">
            <a:avLst>
              <a:gd name="adj" fmla="val 20000"/>
            </a:avLst>
          </a:prstGeom>
          <a:solidFill>
            <a:srgbClr val="3B82F6">
              <a:alpha val="15000"/>
            </a:srgbClr>
          </a:solidFill>
          <a:ln cap="flat" cmpd="sng">
            <a:solidFill>
              <a:srgbClr val="1F67DD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24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683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508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 AND OUTLOOK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5969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4">
            <a:extLst>
              <a:ext uri="{FF2B5EF4-FFF2-40B4-BE49-F238E27FC236}">
                <a16:creationId xmlns:a16="http://schemas.microsoft.com/office/drawing/2014/main" id="{53DF475F-6F84-0127-28EC-D661BEC7BBD9}"/>
              </a:ext>
            </a:extLst>
          </p:cNvPr>
          <p:cNvSpPr/>
          <p:nvPr/>
        </p:nvSpPr>
        <p:spPr>
          <a:xfrm>
            <a:off x="6573981" y="4223328"/>
            <a:ext cx="4033982" cy="2159000"/>
          </a:xfrm>
          <a:prstGeom prst="roundRect">
            <a:avLst>
              <a:gd name="adj" fmla="val 7058"/>
            </a:avLst>
          </a:prstGeom>
          <a:solidFill>
            <a:schemeClr val="accent1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32" name="Picture 10">
            <a:extLst>
              <a:ext uri="{FF2B5EF4-FFF2-40B4-BE49-F238E27FC236}">
                <a16:creationId xmlns:a16="http://schemas.microsoft.com/office/drawing/2014/main" id="{565CCB5B-6E9E-B1CE-93D6-F02A68B62D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8281" y="4864100"/>
            <a:ext cx="406400" cy="406400"/>
          </a:xfrm>
          <a:prstGeom prst="rect">
            <a:avLst/>
          </a:prstGeom>
        </p:spPr>
      </p:pic>
      <p:sp>
        <p:nvSpPr>
          <p:cNvPr id="27" name="AutoShape 4">
            <a:extLst>
              <a:ext uri="{FF2B5EF4-FFF2-40B4-BE49-F238E27FC236}">
                <a16:creationId xmlns:a16="http://schemas.microsoft.com/office/drawing/2014/main" id="{9FDB71BF-AF05-4BD5-30CF-18660BABF1D6}"/>
              </a:ext>
            </a:extLst>
          </p:cNvPr>
          <p:cNvSpPr/>
          <p:nvPr/>
        </p:nvSpPr>
        <p:spPr>
          <a:xfrm>
            <a:off x="1905000" y="4223328"/>
            <a:ext cx="4033982" cy="2159000"/>
          </a:xfrm>
          <a:prstGeom prst="roundRect">
            <a:avLst>
              <a:gd name="adj" fmla="val 7058"/>
            </a:avLst>
          </a:prstGeom>
          <a:solidFill>
            <a:schemeClr val="accent1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8" name="Picture 10">
            <a:extLst>
              <a:ext uri="{FF2B5EF4-FFF2-40B4-BE49-F238E27FC236}">
                <a16:creationId xmlns:a16="http://schemas.microsoft.com/office/drawing/2014/main" id="{B0D892F2-D28A-9321-9CE1-62993F8001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9300" y="4864100"/>
            <a:ext cx="406400" cy="406400"/>
          </a:xfrm>
          <a:prstGeom prst="rect">
            <a:avLst/>
          </a:prstGeom>
        </p:spPr>
      </p:pic>
      <p:sp>
        <p:nvSpPr>
          <p:cNvPr id="25" name="AutoShape 4">
            <a:extLst>
              <a:ext uri="{FF2B5EF4-FFF2-40B4-BE49-F238E27FC236}">
                <a16:creationId xmlns:a16="http://schemas.microsoft.com/office/drawing/2014/main" id="{3F1A82C3-AD7B-819C-4B5F-5295800B6F80}"/>
              </a:ext>
            </a:extLst>
          </p:cNvPr>
          <p:cNvSpPr/>
          <p:nvPr/>
        </p:nvSpPr>
        <p:spPr>
          <a:xfrm>
            <a:off x="8328892" y="1651000"/>
            <a:ext cx="3238500" cy="2159000"/>
          </a:xfrm>
          <a:prstGeom prst="roundRect">
            <a:avLst>
              <a:gd name="adj" fmla="val 7058"/>
            </a:avLst>
          </a:prstGeom>
          <a:solidFill>
            <a:schemeClr val="accent1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6" name="Picture 10">
            <a:extLst>
              <a:ext uri="{FF2B5EF4-FFF2-40B4-BE49-F238E27FC236}">
                <a16:creationId xmlns:a16="http://schemas.microsoft.com/office/drawing/2014/main" id="{53842EE7-65F6-85C2-D9AC-44FF86AEE1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3210" y="2212109"/>
            <a:ext cx="406400" cy="406400"/>
          </a:xfrm>
          <a:prstGeom prst="rect">
            <a:avLst/>
          </a:prstGeom>
        </p:spPr>
      </p:pic>
      <p:sp>
        <p:nvSpPr>
          <p:cNvPr id="21" name="AutoShape 4">
            <a:extLst>
              <a:ext uri="{FF2B5EF4-FFF2-40B4-BE49-F238E27FC236}">
                <a16:creationId xmlns:a16="http://schemas.microsoft.com/office/drawing/2014/main" id="{2D4D433F-8707-E041-EC9A-63F59B2086F1}"/>
              </a:ext>
            </a:extLst>
          </p:cNvPr>
          <p:cNvSpPr/>
          <p:nvPr/>
        </p:nvSpPr>
        <p:spPr>
          <a:xfrm>
            <a:off x="4635500" y="1651000"/>
            <a:ext cx="3238500" cy="2159000"/>
          </a:xfrm>
          <a:prstGeom prst="roundRect">
            <a:avLst>
              <a:gd name="adj" fmla="val 7058"/>
            </a:avLst>
          </a:prstGeom>
          <a:solidFill>
            <a:schemeClr val="accent1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实践心得：如何与Codex高效协作</a:t>
            </a:r>
            <a:r>
              <a:rPr lang="en-US" sz="2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952500" y="1651000"/>
            <a:ext cx="3175000" cy="2159000"/>
          </a:xfrm>
          <a:prstGeom prst="roundRect">
            <a:avLst>
              <a:gd name="adj" fmla="val 7058"/>
            </a:avLst>
          </a:prstGeom>
          <a:solidFill>
            <a:schemeClr val="accent1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905000" y="196850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01.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需求要“验收”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描述需求时，明确“完成标准”是什么，避免目标模糊导致反复修改。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5270501" y="1968500"/>
            <a:ext cx="242339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02.</a:t>
            </a: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复杂任务先“拆解”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不要直接丢大问题，先让Codex出整体方案，再分步骤执行以降低风险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207500" y="196850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03.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修改要“聚焦”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避免让AI一次性修改大量文件或多处逻辑，聚焦单个任务以保证准确率。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2539999" y="4508500"/>
            <a:ext cx="3278909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04.</a:t>
            </a: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关键逻辑要“人工Review”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AI本质上是强大的协作者，而非最终决策者，核心业务逻辑必须人工把关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208981" y="4508500"/>
            <a:ext cx="3163455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05.</a:t>
            </a: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每次迭代必“验证”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不要盲目信任生成结果，每次修改后都要运行测试或构建，让反馈有据可依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11176000" y="5842000"/>
            <a:ext cx="1524000" cy="1524000"/>
          </a:xfrm>
          <a:prstGeom prst="roundRect">
            <a:avLst>
              <a:gd name="adj" fmla="val 8333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10">
            <a:extLst>
              <a:ext uri="{FF2B5EF4-FFF2-40B4-BE49-F238E27FC236}">
                <a16:creationId xmlns:a16="http://schemas.microsoft.com/office/drawing/2014/main" id="{6960A32C-6E8A-17C2-55B8-A4664F84D4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0" y="2260600"/>
            <a:ext cx="406400" cy="406400"/>
          </a:xfrm>
          <a:prstGeom prst="rect">
            <a:avLst/>
          </a:prstGeom>
        </p:spPr>
      </p:pic>
      <p:pic>
        <p:nvPicPr>
          <p:cNvPr id="23" name="Picture 10">
            <a:extLst>
              <a:ext uri="{FF2B5EF4-FFF2-40B4-BE49-F238E27FC236}">
                <a16:creationId xmlns:a16="http://schemas.microsoft.com/office/drawing/2014/main" id="{A6764E9E-FFB1-97BB-DBAB-8A87A9EA12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9818" y="2212109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清醒认知：AI的局限与我们的责任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00" r="10000"/>
          <a:stretch>
            <a:fillRect/>
          </a:stretch>
        </p:blipFill>
        <p:spPr>
          <a:xfrm>
            <a:off x="762000" y="1905000"/>
            <a:ext cx="2286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445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坦诚面对风险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保持理性，不盲目依赖</a:t>
            </a:r>
          </a:p>
        </p:txBody>
      </p:sp>
      <p:sp>
        <p:nvSpPr>
          <p:cNvPr id="6" name="AutoShape 6"/>
          <p:cNvSpPr/>
          <p:nvPr/>
        </p:nvSpPr>
        <p:spPr>
          <a:xfrm>
            <a:off x="3556000" y="1778000"/>
            <a:ext cx="393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0" y="2032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445000" y="1968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业务理解偏差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 可能无法精准理解行业特定的复杂规则与深层逻辑，容易误解真实业务需求。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747000" y="1778000"/>
            <a:ext cx="393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00" y="203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8636000" y="1968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“看起来对”的陷阱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生成的代码可能在语法上看似正确，但存在逻辑错误或无法运行，甚至引入潜在的Bug。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556000" y="3556000"/>
            <a:ext cx="393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0000" y="3810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445000" y="3746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安全边界模糊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在处理敏感数据、身份验证或权限控制时，AI容易忽略安全最佳实践，产生安全隐患。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747000" y="3556000"/>
            <a:ext cx="393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1000" y="3810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36000" y="3746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结构依赖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当项目代码结构混乱、文档缺失或不规范时，AI会难以理解上下文，容易“迷路”并给出错误建议。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09047" y="5334000"/>
            <a:ext cx="11444141" cy="1143000"/>
          </a:xfrm>
          <a:prstGeom prst="roundRect">
            <a:avLst>
              <a:gd name="adj" fmla="val 8888"/>
            </a:avLst>
          </a:prstGeom>
          <a:solidFill>
            <a:srgbClr val="3B82F6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5626100"/>
            <a:ext cx="558800" cy="558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480009" y="5524500"/>
            <a:ext cx="10341203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en-US" sz="19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是加速器，不是自动驾驶仪。</a:t>
            </a:r>
            <a:r>
              <a:rPr lang="en-US" sz="1700" b="0" i="0" u="none" strike="noStrike" dirty="0" err="1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开发者的判断力、严谨的测试和细致的审查，才是软件质量的最后防线</a:t>
            </a:r>
            <a:r>
              <a:rPr lang="en-US" sz="1700" b="0" i="0" u="none" strike="noStrike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11303000" y="5969000"/>
            <a:ext cx="762000" cy="762000"/>
          </a:xfrm>
          <a:prstGeom prst="ellipse">
            <a:avLst/>
          </a:prstGeom>
          <a:solidFill>
            <a:srgbClr val="3B82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08000" y="-508000"/>
            <a:ext cx="2286000" cy="2286000"/>
          </a:xfrm>
          <a:prstGeom prst="ellipse">
            <a:avLst/>
          </a:prstGeom>
          <a:solidFill>
            <a:srgbClr val="3B82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驾驭AI，重塑开发流程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032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Vibe Coding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32872" y="2766291"/>
            <a:ext cx="296025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将AI深度融入开发全流程的全新协作范式，重新定义了人与AI的分工协作模式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032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34000" y="2032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AI友好的项目结构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2794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为AI“理解”项目逻辑与代码意图提供清晰指引，是实现高效人机协作不可或缺的基石。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2032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017000" y="2032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释放AI潜力的三大支柱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382000" y="2794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AGENTS.md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定义角色，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docs/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沉淀知识库，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skills/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封装通用能力，最大化AI生产力。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572000"/>
            <a:ext cx="10668000" cy="1651000"/>
          </a:xfrm>
          <a:prstGeom prst="roundRect">
            <a:avLst>
              <a:gd name="adj" fmla="val 9230"/>
            </a:avLst>
          </a:prstGeom>
          <a:solidFill>
            <a:srgbClr val="3B82F6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143000" y="4889500"/>
            <a:ext cx="990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未来的开发，不再仅仅是比拼谁写代码更快</a:t>
            </a:r>
            <a:r>
              <a:rPr lang="en-US" sz="16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br>
              <a:rPr lang="en-US" sz="16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而是比拼谁能更好地</a:t>
            </a:r>
            <a:r>
              <a:rPr lang="en-US" sz="18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组织信息</a:t>
            </a:r>
            <a:r>
              <a:rPr lang="en-US" sz="18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8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定义目标</a:t>
            </a:r>
            <a:r>
              <a:rPr lang="en-US" sz="16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600" dirty="0" err="1">
                <a:solidFill>
                  <a:schemeClr val="bg1"/>
                </a:solidFill>
                <a:latin typeface="Noto Sans SC"/>
                <a:ea typeface="Noto Sans SC"/>
                <a:sym typeface="Noto Sans SC"/>
              </a:rPr>
              <a:t>并</a:t>
            </a:r>
            <a:r>
              <a:rPr lang="en-US" sz="18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驾驭AI完成创造</a:t>
            </a:r>
            <a:r>
              <a:rPr lang="en-US" sz="16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270000" cy="1270000"/>
          </a:xfrm>
          <a:prstGeom prst="roundRect">
            <a:avLst>
              <a:gd name="adj" fmla="val 0"/>
            </a:avLst>
          </a:prstGeom>
          <a:solidFill>
            <a:srgbClr val="1E40A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668000" y="6096000"/>
            <a:ext cx="1016000" cy="1016000"/>
          </a:xfrm>
          <a:prstGeom prst="roundRect">
            <a:avLst>
              <a:gd name="adj" fmla="val 0"/>
            </a:avLst>
          </a:prstGeom>
          <a:solidFill>
            <a:srgbClr val="1E40A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2798618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0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感谢聆听，欢迎交流</a:t>
            </a:r>
            <a:r>
              <a:rPr lang="en-US" sz="4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2640</Words>
  <Application>Microsoft Office PowerPoint</Application>
  <PresentationFormat>宽屏</PresentationFormat>
  <Paragraphs>372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Noto Sans SC</vt:lpstr>
      <vt:lpstr>Arial</vt:lpstr>
      <vt:lpstr>Courier New</vt:lpstr>
      <vt:lpstr>Source Code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WENFENG KONG</cp:lastModifiedBy>
  <cp:revision>44</cp:revision>
  <dcterms:modified xsi:type="dcterms:W3CDTF">2026-05-11T11:29:31Z</dcterms:modified>
</cp:coreProperties>
</file>