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2.svg" ContentType="image/svg+xml"/>
  <Override PartName="/ppt/media/image24.svg" ContentType="image/svg+xml"/>
  <Override PartName="/ppt/media/image26.svg" ContentType="image/svg+xml"/>
  <Override PartName="/ppt/media/image3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42.svg" ContentType="image/svg+xml"/>
  <Override PartName="/ppt/media/image49.svg" ContentType="image/svg+xml"/>
  <Override PartName="/ppt/media/image5.svg" ContentType="image/svg+xml"/>
  <Override PartName="/ppt/media/image51.svg" ContentType="image/svg+xml"/>
  <Override PartName="/ppt/media/image55.svg" ContentType="image/svg+xml"/>
  <Override PartName="/ppt/media/image57.svg" ContentType="image/svg+xml"/>
  <Override PartName="/ppt/media/image60.svg" ContentType="image/svg+xml"/>
  <Override PartName="/ppt/media/image62.svg" ContentType="image/svg+xml"/>
  <Override PartName="/ppt/media/image64.svg" ContentType="image/svg+xml"/>
  <Override PartName="/ppt/media/image66.svg" ContentType="image/svg+xml"/>
  <Override PartName="/ppt/media/image69.svg" ContentType="image/svg+xml"/>
  <Override PartName="/ppt/media/image7.svg" ContentType="image/svg+xml"/>
  <Override PartName="/ppt/media/image71.svg" ContentType="image/svg+xml"/>
  <Override PartName="/ppt/media/image74.svg" ContentType="image/svg+xml"/>
  <Override PartName="/ppt/media/image76.svg" ContentType="image/svg+xml"/>
  <Override PartName="/ppt/media/image78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10.xml" ContentType="application/vnd.openxmlformats-officedocument.presentationml.slideMaster+xml"/>
  <Override PartName="/ppt/slideMasters/slideMaster1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Masters/slideMaster9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10.xml" ContentType="application/vnd.openxmlformats-officedocument.theme+xml"/>
  <Override PartName="/ppt/theme/theme11.xml" ContentType="application/vnd.openxmlformats-officedocument.theme+xml"/>
  <Override PartName="/ppt/theme/theme12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theme/theme8.xml" ContentType="application/vnd.openxmlformats-officedocument.theme+xml"/>
  <Override PartName="/ppt/theme/theme9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51" r:id="rId3"/>
    <p:sldMasterId id="2147483653" r:id="rId4"/>
    <p:sldMasterId id="2147483655" r:id="rId5"/>
    <p:sldMasterId id="2147483657" r:id="rId6"/>
    <p:sldMasterId id="2147483659" r:id="rId7"/>
    <p:sldMasterId id="2147483661" r:id="rId8"/>
    <p:sldMasterId id="2147483663" r:id="rId9"/>
    <p:sldMasterId id="2147483665" r:id="rId10"/>
    <p:sldMasterId id="2147483667" r:id="rId11"/>
    <p:sldMasterId id="2147483669" r:id="rId12"/>
  </p:sldMasterIdLst>
  <p:notesMasterIdLst>
    <p:notesMasterId r:id="rId14"/>
  </p:notesMasterIdLst>
  <p:sldIdLst>
    <p:sldId id="256" r:id="rId13"/>
    <p:sldId id="257" r:id="rId15"/>
    <p:sldId id="258" r:id="rId16"/>
    <p:sldId id="290" r:id="rId17"/>
    <p:sldId id="262" r:id="rId18"/>
    <p:sldId id="291" r:id="rId19"/>
    <p:sldId id="292" r:id="rId20"/>
    <p:sldId id="293" r:id="rId21"/>
    <p:sldId id="294" r:id="rId22"/>
    <p:sldId id="297" r:id="rId23"/>
    <p:sldId id="295" r:id="rId24"/>
    <p:sldId id="296" r:id="rId25"/>
    <p:sldId id="265" r:id="rId26"/>
    <p:sldId id="267" r:id="rId27"/>
    <p:sldId id="299" r:id="rId28"/>
    <p:sldId id="270" r:id="rId29"/>
    <p:sldId id="301" r:id="rId30"/>
    <p:sldId id="302" r:id="rId31"/>
    <p:sldId id="303" r:id="rId32"/>
    <p:sldId id="304" r:id="rId33"/>
    <p:sldId id="305" r:id="rId34"/>
    <p:sldId id="306" r:id="rId35"/>
    <p:sldId id="307" r:id="rId36"/>
    <p:sldId id="308" r:id="rId37"/>
    <p:sldId id="309" r:id="rId38"/>
    <p:sldId id="310" r:id="rId39"/>
    <p:sldId id="311" r:id="rId40"/>
    <p:sldId id="312" r:id="rId41"/>
    <p:sldId id="314" r:id="rId42"/>
    <p:sldId id="298" r:id="rId43"/>
    <p:sldId id="278" r:id="rId44"/>
    <p:sldId id="279" r:id="rId45"/>
  </p:sldIdLst>
  <p:sldSz cx="12192000" cy="6858000"/>
  <p:notesSz cx="6858000" cy="9144000"/>
  <p:custDataLst>
    <p:tags r:id="rId49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00" userDrawn="1">
          <p15:clr>
            <a:srgbClr val="747775"/>
          </p15:clr>
        </p15:guide>
        <p15:guide id="2" pos="2926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5525" autoAdjust="0"/>
  </p:normalViewPr>
  <p:slideViewPr>
    <p:cSldViewPr snapToGrid="0" showGuides="1">
      <p:cViewPr varScale="1">
        <p:scale>
          <a:sx n="88" d="100"/>
          <a:sy n="88" d="100"/>
        </p:scale>
        <p:origin x="900" y="76"/>
      </p:cViewPr>
      <p:guideLst>
        <p:guide orient="horz" pos="1600"/>
        <p:guide pos="292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Master" Target="slideMasters/slideMaster8.xml"/><Relationship Id="rId8" Type="http://schemas.openxmlformats.org/officeDocument/2006/relationships/slideMaster" Target="slideMasters/slideMaster7.xml"/><Relationship Id="rId7" Type="http://schemas.openxmlformats.org/officeDocument/2006/relationships/slideMaster" Target="slideMasters/slideMaster6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9" Type="http://schemas.openxmlformats.org/officeDocument/2006/relationships/tags" Target="tags/tag89.xml"/><Relationship Id="rId48" Type="http://schemas.openxmlformats.org/officeDocument/2006/relationships/tableStyles" Target="tableStyles.xml"/><Relationship Id="rId47" Type="http://schemas.openxmlformats.org/officeDocument/2006/relationships/viewProps" Target="viewProps.xml"/><Relationship Id="rId46" Type="http://schemas.openxmlformats.org/officeDocument/2006/relationships/presProps" Target="presProps.xml"/><Relationship Id="rId45" Type="http://schemas.openxmlformats.org/officeDocument/2006/relationships/slide" Target="slides/slide32.xml"/><Relationship Id="rId44" Type="http://schemas.openxmlformats.org/officeDocument/2006/relationships/slide" Target="slides/slide31.xml"/><Relationship Id="rId43" Type="http://schemas.openxmlformats.org/officeDocument/2006/relationships/slide" Target="slides/slide30.xml"/><Relationship Id="rId42" Type="http://schemas.openxmlformats.org/officeDocument/2006/relationships/slide" Target="slides/slide29.xml"/><Relationship Id="rId41" Type="http://schemas.openxmlformats.org/officeDocument/2006/relationships/slide" Target="slides/slide28.xml"/><Relationship Id="rId40" Type="http://schemas.openxmlformats.org/officeDocument/2006/relationships/slide" Target="slides/slide27.xml"/><Relationship Id="rId4" Type="http://schemas.openxmlformats.org/officeDocument/2006/relationships/slideMaster" Target="slideMasters/slideMaster3.xml"/><Relationship Id="rId39" Type="http://schemas.openxmlformats.org/officeDocument/2006/relationships/slide" Target="slides/slide26.xml"/><Relationship Id="rId38" Type="http://schemas.openxmlformats.org/officeDocument/2006/relationships/slide" Target="slides/slide25.xml"/><Relationship Id="rId37" Type="http://schemas.openxmlformats.org/officeDocument/2006/relationships/slide" Target="slides/slide24.xml"/><Relationship Id="rId36" Type="http://schemas.openxmlformats.org/officeDocument/2006/relationships/slide" Target="slides/slide23.xml"/><Relationship Id="rId35" Type="http://schemas.openxmlformats.org/officeDocument/2006/relationships/slide" Target="slides/slide22.xml"/><Relationship Id="rId34" Type="http://schemas.openxmlformats.org/officeDocument/2006/relationships/slide" Target="slides/slide21.xml"/><Relationship Id="rId33" Type="http://schemas.openxmlformats.org/officeDocument/2006/relationships/slide" Target="slides/slide20.xml"/><Relationship Id="rId32" Type="http://schemas.openxmlformats.org/officeDocument/2006/relationships/slide" Target="slides/slide19.xml"/><Relationship Id="rId31" Type="http://schemas.openxmlformats.org/officeDocument/2006/relationships/slide" Target="slides/slide18.xml"/><Relationship Id="rId30" Type="http://schemas.openxmlformats.org/officeDocument/2006/relationships/slide" Target="slides/slide17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16.xml"/><Relationship Id="rId28" Type="http://schemas.openxmlformats.org/officeDocument/2006/relationships/slide" Target="slides/slide15.xml"/><Relationship Id="rId27" Type="http://schemas.openxmlformats.org/officeDocument/2006/relationships/slide" Target="slides/slide14.xml"/><Relationship Id="rId26" Type="http://schemas.openxmlformats.org/officeDocument/2006/relationships/slide" Target="slides/slide13.xml"/><Relationship Id="rId25" Type="http://schemas.openxmlformats.org/officeDocument/2006/relationships/slide" Target="slides/slide12.xml"/><Relationship Id="rId24" Type="http://schemas.openxmlformats.org/officeDocument/2006/relationships/slide" Target="slides/slide11.xml"/><Relationship Id="rId23" Type="http://schemas.openxmlformats.org/officeDocument/2006/relationships/slide" Target="slides/slide10.xml"/><Relationship Id="rId22" Type="http://schemas.openxmlformats.org/officeDocument/2006/relationships/slide" Target="slides/slide9.xml"/><Relationship Id="rId21" Type="http://schemas.openxmlformats.org/officeDocument/2006/relationships/slide" Target="slides/slide8.xml"/><Relationship Id="rId20" Type="http://schemas.openxmlformats.org/officeDocument/2006/relationships/slide" Target="slides/slide7.xml"/><Relationship Id="rId2" Type="http://schemas.openxmlformats.org/officeDocument/2006/relationships/theme" Target="theme/theme1.xml"/><Relationship Id="rId19" Type="http://schemas.openxmlformats.org/officeDocument/2006/relationships/slide" Target="slides/slide6.xml"/><Relationship Id="rId18" Type="http://schemas.openxmlformats.org/officeDocument/2006/relationships/slide" Target="slides/slide5.xml"/><Relationship Id="rId17" Type="http://schemas.openxmlformats.org/officeDocument/2006/relationships/slide" Target="slides/slide4.xml"/><Relationship Id="rId16" Type="http://schemas.openxmlformats.org/officeDocument/2006/relationships/slide" Target="slides/slide3.xml"/><Relationship Id="rId15" Type="http://schemas.openxmlformats.org/officeDocument/2006/relationships/slide" Target="slides/slide2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1.xml"/><Relationship Id="rId12" Type="http://schemas.openxmlformats.org/officeDocument/2006/relationships/slideMaster" Target="slideMasters/slideMaster11.xml"/><Relationship Id="rId11" Type="http://schemas.openxmlformats.org/officeDocument/2006/relationships/slideMaster" Target="slideMasters/slideMaster10.xml"/><Relationship Id="rId10" Type="http://schemas.openxmlformats.org/officeDocument/2006/relationships/slideMaster" Target="slideMasters/slideMaster9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新功能演示环节。我们本周上线了智能推荐系统V1.0。这个系统的核心价值在于为用户提供个性化推荐，同时为平台提升内容曝光。它的技术架构如右图所示，涵盖了数据收集、模型训练和API服务三个层面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在开发过程中，我们遇到了一个典型的技术难点：分布式事务的一致性问题。特别是在订单处理流程中，如何保证多个服务之间的数据一致性是一个巨大的挑战。传统的ACID事务在微服务架构下显得力不从心。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在开发过程中，我们遇到了一个典型的技术难点：分布式事务的一致性问题。特别是在订单处理流程中，如何保证多个服务之间的数据一致性是一个巨大的挑战。传统的ACID事务在微服务架构下显得力不从心。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上周，我们讨论了GitHub Flow，解决了代码如何从个人分支安全地合并到主干的问题。但故事并没有结束。今天，我们将聚焦于合并之后的世界，看看代码是如何被自动检查、构建，并最终部署到服务器上的。这就是CI/CD的魅力所在。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开始之前，我们先来回顾几个开发协作中非常经典的场景。这些话是不是听起来很熟悉？“我本地能跑啊”，这背后是环境不一致的痛；“谁又把构建失败的代码合进来了”，这是缺乏自动化检查的后果；还有“部署文档在哪”，这说明我们的流程还不够自动化。这些问题，正是CI/CD要解决的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解决这些痛点，我们建立了一支自动化的“门卫”团队。这四支流水线，分别负责后端检查、前端检查、合并前的最终检查以及自动部署。它们共同构成了我们质量保障的第一道防线。右边这张图，就是我们GitHub Actions的总览，可以看到这四个workflow的运行情况。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altLang="zh-CN" sz="1400" b="0" i="0" u="none" strike="noStrike">
                <a:solidFill>
                  <a:srgbClr val="000000"/>
                </a:solidFill>
              </a:rPr>
              <a:t>deploy-dev     │ main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的 </a:t>
            </a:r>
            <a:r>
              <a:rPr lang="en-US" altLang="zh-CN" sz="1400" b="0" i="0" u="none" strike="noStrike">
                <a:solidFill>
                  <a:srgbClr val="000000"/>
                </a:solidFill>
              </a:rPr>
              <a:t>push + </a:t>
            </a:r>
            <a:r>
              <a:rPr lang="zh-CN" altLang="en-US" sz="1400" b="0" i="0" u="none" strike="noStrike">
                <a:solidFill>
                  <a:srgbClr val="000000"/>
                </a:solidFill>
              </a:rPr>
              <a:t>手动触发        │ 合入后自动上线             </a:t>
            </a:r>
            <a:endParaRPr lang="zh-CN" alt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那么，自动化检查具体做什么呢？对于后端，我们主要是编译打包；对于前端，则是安装依赖并构建。这里有几个小细节非常重要，比如我们用`npm ci`而不是`install`来保证依赖版本的绝对一致，以及通过条件判断来避免不必要的错误。这些细节保证了我们自动化流程的健壮性。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讲完了CI，我们再来看看CD，也就是持续部署。这张图展示了从GitHub到服务器的完整旅程。当代码推送到main分支后，GitHub Actions会自动触发，完成前端和后端的构建，然后通过SCP将产物传输到阿里云服务器，最后在服务器上完成部署和启动。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我们的部署流程分为五个阶段。前两个阶段是构建和传输。我们选择在GitHub Actions上进行构建，这样做的好处是不占用服务器资源，并且所有日志都清晰可追溯。然后，我们通过SCP将构建好的产物传输到服务器，同时通过git命令同步源码，确保两边状态一致。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是我们部署流程的核心亮点：安全与可靠。第三阶段，我们会强制校验环境变量是否齐全，这能有效防止因配置缺失导致的启动失败。第四阶段，我们不仅启动应用，还会主动进行多达30次的健康检查，如果失败，会自动打印日志，大大方便了问题排查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最后一个阶段是容器编排。我们使用docker-compose来管理前端和Nginx容器。这里有一个有趣的设计决策：后端我们选择直接运行fat jar，而不是放进容器，这样日志查看更方便。而数据库则完全独立部署，确保数据安全。这种混合部署模式兼顾了便利性和稳定性。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我们深入服务器内部，看看一个用户请求是如何流转的。所有请求首先到达作为总入口的Nginx容器。Nginx根据不同的路径，将请求转发给后端应用、前端静态文件、健康检查接口或API文档。后端应用再去连接独立部署的MySQL数据库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配置Nginx反向代理时，我们踩过一个经典的“坑”。就是proxy_pass指令末尾的斜杠。加与不加，转发后的URL会完全不同。如果多加了一个斜杠，后端就会收到一个缺少/api前缀的请求，从而返回404错误。这个细节非常重要，也提醒我们配置文件的严谨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值得强调的是，我们今天看到的这套完善的自动化流程，并不是一天建成的。它经历了四个主要版本的演进。从最原始的手动部署，到使用GitHub Actions构建，再到初版的自动部署脚本，最后到现在稳定可靠的V4版本。每一步都解决了当时遇到的具体问题。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现在，我们可以把上周和这周的内容整合起来，形成一张完整的协作链路图。从开发者在个人分支写代码开始，到push触发自动检查，再到PR、合并、CI检查，最后自动部署和健康检查。整个过程形成了一个闭环，实现了从代码到生产环境的全链路自动化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接下来进入第二部分，我们将详细分享我们小组是如何进行开源协作的。我们将以一个具体的功能开发为例，展示从任务创建到代码合并的完整流程。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marL="0"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再次感谢大家的聆听！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  <a:endParaRPr lang="cs-CZ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9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0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82F288E0-7875-42C4-84C8-98DBBD3BF4D2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7D9BB5D0-35E4-459D-AEF3-FE4D7C45CC19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4" Type="http://schemas.openxmlformats.org/officeDocument/2006/relationships/theme" Target="../theme/theme1.xml"/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3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4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5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theme" Target="../theme/theme6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theme" Target="../theme/theme7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theme" Target="../theme/theme8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9.xml"/></Relationships>
</file>

<file path=ppt/slideMasters/_rels/slideMaster9.xml.rels><?xml version="1.0" encoding="UTF-8" standalone="yes"?>
<Relationships xmlns="http://schemas.openxmlformats.org/package/2006/relationships"><Relationship Id="rId3" Type="http://schemas.openxmlformats.org/officeDocument/2006/relationships/theme" Target="../theme/theme9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0.xml"/></Relationships>
</file>

<file path=ppt/slideMasters/_rels/slideMaster10.xml.rels><?xml version="1.0" encoding="UTF-8" standalone="yes"?>
<Relationships xmlns="http://schemas.openxmlformats.org/package/2006/relationships"><Relationship Id="rId3" Type="http://schemas.openxmlformats.org/officeDocument/2006/relationships/theme" Target="../theme/theme10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1.xml"/></Relationships>
</file>

<file path=ppt/slideMasters/_rels/slideMaster1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4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6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4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9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6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0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8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1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0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7" Type="http://schemas.openxmlformats.org/officeDocument/2006/relationships/notesSlide" Target="../notesSlides/notesSlide2.xml"/><Relationship Id="rId16" Type="http://schemas.openxmlformats.org/officeDocument/2006/relationships/slideLayout" Target="../slideLayouts/slideLayout1.xml"/><Relationship Id="rId15" Type="http://schemas.openxmlformats.org/officeDocument/2006/relationships/tags" Target="../tags/tag15.xml"/><Relationship Id="rId14" Type="http://schemas.openxmlformats.org/officeDocument/2006/relationships/tags" Target="../tags/tag14.xml"/><Relationship Id="rId13" Type="http://schemas.openxmlformats.org/officeDocument/2006/relationships/tags" Target="../tags/tag13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.xml"/><Relationship Id="rId8" Type="http://schemas.openxmlformats.org/officeDocument/2006/relationships/image" Target="../media/image9.svg"/><Relationship Id="rId7" Type="http://schemas.openxmlformats.org/officeDocument/2006/relationships/image" Target="../media/image8.png"/><Relationship Id="rId6" Type="http://schemas.openxmlformats.org/officeDocument/2006/relationships/image" Target="../media/image7.svg"/><Relationship Id="rId5" Type="http://schemas.openxmlformats.org/officeDocument/2006/relationships/image" Target="../media/image6.png"/><Relationship Id="rId4" Type="http://schemas.openxmlformats.org/officeDocument/2006/relationships/image" Target="../media/image5.svg"/><Relationship Id="rId3" Type="http://schemas.openxmlformats.org/officeDocument/2006/relationships/image" Target="../media/image4.png"/><Relationship Id="rId2" Type="http://schemas.openxmlformats.org/officeDocument/2006/relationships/image" Target="../media/image3.svg"/><Relationship Id="rId10" Type="http://schemas.openxmlformats.org/officeDocument/2006/relationships/notesSlide" Target="../notesSlides/notesSlide4.xml"/><Relationship Id="rId1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0.xml"/><Relationship Id="rId1" Type="http://schemas.openxmlformats.org/officeDocument/2006/relationships/image" Target="../media/image1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8.xml"/><Relationship Id="rId1" Type="http://schemas.openxmlformats.org/officeDocument/2006/relationships/image" Target="../media/image1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9.xml"/><Relationship Id="rId1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3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hyperlink" Target="http://39.104.52.187/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tags" Target="../tags/tag24.xml"/><Relationship Id="rId8" Type="http://schemas.openxmlformats.org/officeDocument/2006/relationships/tags" Target="../tags/tag23.xml"/><Relationship Id="rId7" Type="http://schemas.openxmlformats.org/officeDocument/2006/relationships/tags" Target="../tags/tag22.xml"/><Relationship Id="rId6" Type="http://schemas.openxmlformats.org/officeDocument/2006/relationships/tags" Target="../tags/tag21.xml"/><Relationship Id="rId5" Type="http://schemas.openxmlformats.org/officeDocument/2006/relationships/tags" Target="../tags/tag20.xml"/><Relationship Id="rId4" Type="http://schemas.openxmlformats.org/officeDocument/2006/relationships/tags" Target="../tags/tag19.xml"/><Relationship Id="rId3" Type="http://schemas.openxmlformats.org/officeDocument/2006/relationships/tags" Target="../tags/tag18.xml"/><Relationship Id="rId2" Type="http://schemas.openxmlformats.org/officeDocument/2006/relationships/tags" Target="../tags/tag17.xml"/><Relationship Id="rId11" Type="http://schemas.openxmlformats.org/officeDocument/2006/relationships/notesSlide" Target="../notesSlides/notesSlide15.xml"/><Relationship Id="rId10" Type="http://schemas.openxmlformats.org/officeDocument/2006/relationships/slideLayout" Target="../slideLayouts/slideLayout12.xml"/><Relationship Id="rId1" Type="http://schemas.openxmlformats.org/officeDocument/2006/relationships/tags" Target="../tags/tag1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" Type="http://schemas.openxmlformats.org/officeDocument/2006/relationships/tags" Target="../tags/tag26.xml"/><Relationship Id="rId13" Type="http://schemas.openxmlformats.org/officeDocument/2006/relationships/notesSlide" Target="../notesSlides/notesSlide17.xml"/><Relationship Id="rId12" Type="http://schemas.openxmlformats.org/officeDocument/2006/relationships/slideLayout" Target="../slideLayouts/slideLayout1.xml"/><Relationship Id="rId11" Type="http://schemas.openxmlformats.org/officeDocument/2006/relationships/image" Target="../media/image20.jpeg"/><Relationship Id="rId10" Type="http://schemas.openxmlformats.org/officeDocument/2006/relationships/tags" Target="../tags/tag34.xml"/><Relationship Id="rId1" Type="http://schemas.openxmlformats.org/officeDocument/2006/relationships/tags" Target="../tags/tag25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18.xml"/><Relationship Id="rId7" Type="http://schemas.openxmlformats.org/officeDocument/2006/relationships/slideLayout" Target="../slideLayouts/slideLayout1.xml"/><Relationship Id="rId6" Type="http://schemas.openxmlformats.org/officeDocument/2006/relationships/image" Target="../media/image26.svg"/><Relationship Id="rId5" Type="http://schemas.openxmlformats.org/officeDocument/2006/relationships/image" Target="../media/image25.png"/><Relationship Id="rId4" Type="http://schemas.openxmlformats.org/officeDocument/2006/relationships/image" Target="../media/image24.svg"/><Relationship Id="rId3" Type="http://schemas.openxmlformats.org/officeDocument/2006/relationships/image" Target="../media/image23.png"/><Relationship Id="rId2" Type="http://schemas.openxmlformats.org/officeDocument/2006/relationships/image" Target="../media/image22.svg"/><Relationship Id="rId1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7.png"/></Relationships>
</file>

<file path=ppt/slides/_rels/slide20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0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8.png"/><Relationship Id="rId1" Type="http://schemas.openxmlformats.org/officeDocument/2006/relationships/tags" Target="../tags/tag35.xml"/></Relationships>
</file>

<file path=ppt/slides/_rels/slide2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7.png"/><Relationship Id="rId8" Type="http://schemas.openxmlformats.org/officeDocument/2006/relationships/image" Target="../media/image36.svg"/><Relationship Id="rId7" Type="http://schemas.openxmlformats.org/officeDocument/2006/relationships/image" Target="../media/image35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1" Type="http://schemas.openxmlformats.org/officeDocument/2006/relationships/notesSlide" Target="../notesSlides/notesSlide21.xml"/><Relationship Id="rId10" Type="http://schemas.openxmlformats.org/officeDocument/2006/relationships/slideLayout" Target="../slideLayouts/slideLayout1.xml"/><Relationship Id="rId1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43.xml"/><Relationship Id="rId8" Type="http://schemas.openxmlformats.org/officeDocument/2006/relationships/tags" Target="../tags/tag42.xml"/><Relationship Id="rId7" Type="http://schemas.openxmlformats.org/officeDocument/2006/relationships/tags" Target="../tags/tag41.xml"/><Relationship Id="rId6" Type="http://schemas.openxmlformats.org/officeDocument/2006/relationships/tags" Target="../tags/tag40.xml"/><Relationship Id="rId5" Type="http://schemas.openxmlformats.org/officeDocument/2006/relationships/tags" Target="../tags/tag39.xml"/><Relationship Id="rId4" Type="http://schemas.openxmlformats.org/officeDocument/2006/relationships/tags" Target="../tags/tag38.xml"/><Relationship Id="rId3" Type="http://schemas.openxmlformats.org/officeDocument/2006/relationships/image" Target="../media/image38.jpeg"/><Relationship Id="rId24" Type="http://schemas.openxmlformats.org/officeDocument/2006/relationships/notesSlide" Target="../notesSlides/notesSlide22.xml"/><Relationship Id="rId23" Type="http://schemas.openxmlformats.org/officeDocument/2006/relationships/slideLayout" Target="../slideLayouts/slideLayout1.xml"/><Relationship Id="rId22" Type="http://schemas.openxmlformats.org/officeDocument/2006/relationships/image" Target="../media/image42.svg"/><Relationship Id="rId21" Type="http://schemas.openxmlformats.org/officeDocument/2006/relationships/image" Target="../media/image41.png"/><Relationship Id="rId20" Type="http://schemas.openxmlformats.org/officeDocument/2006/relationships/tags" Target="../tags/tag52.xml"/><Relationship Id="rId2" Type="http://schemas.openxmlformats.org/officeDocument/2006/relationships/tags" Target="../tags/tag37.xml"/><Relationship Id="rId19" Type="http://schemas.openxmlformats.org/officeDocument/2006/relationships/tags" Target="../tags/tag51.xml"/><Relationship Id="rId18" Type="http://schemas.openxmlformats.org/officeDocument/2006/relationships/tags" Target="../tags/tag50.xml"/><Relationship Id="rId17" Type="http://schemas.openxmlformats.org/officeDocument/2006/relationships/image" Target="../media/image40.jpeg"/><Relationship Id="rId16" Type="http://schemas.openxmlformats.org/officeDocument/2006/relationships/tags" Target="../tags/tag49.xml"/><Relationship Id="rId15" Type="http://schemas.openxmlformats.org/officeDocument/2006/relationships/tags" Target="../tags/tag48.xml"/><Relationship Id="rId14" Type="http://schemas.openxmlformats.org/officeDocument/2006/relationships/tags" Target="../tags/tag47.xml"/><Relationship Id="rId13" Type="http://schemas.openxmlformats.org/officeDocument/2006/relationships/tags" Target="../tags/tag46.xml"/><Relationship Id="rId12" Type="http://schemas.openxmlformats.org/officeDocument/2006/relationships/tags" Target="../tags/tag45.xml"/><Relationship Id="rId11" Type="http://schemas.openxmlformats.org/officeDocument/2006/relationships/tags" Target="../tags/tag44.xml"/><Relationship Id="rId10" Type="http://schemas.openxmlformats.org/officeDocument/2006/relationships/image" Target="../media/image39.jpeg"/><Relationship Id="rId1" Type="http://schemas.openxmlformats.org/officeDocument/2006/relationships/tags" Target="../tags/tag36.xml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tags" Target="../tags/tag61.xml"/><Relationship Id="rId8" Type="http://schemas.openxmlformats.org/officeDocument/2006/relationships/tags" Target="../tags/tag60.xml"/><Relationship Id="rId7" Type="http://schemas.openxmlformats.org/officeDocument/2006/relationships/tags" Target="../tags/tag59.xml"/><Relationship Id="rId6" Type="http://schemas.openxmlformats.org/officeDocument/2006/relationships/tags" Target="../tags/tag58.xml"/><Relationship Id="rId5" Type="http://schemas.openxmlformats.org/officeDocument/2006/relationships/tags" Target="../tags/tag57.xml"/><Relationship Id="rId4" Type="http://schemas.openxmlformats.org/officeDocument/2006/relationships/tags" Target="../tags/tag56.xml"/><Relationship Id="rId3" Type="http://schemas.openxmlformats.org/officeDocument/2006/relationships/tags" Target="../tags/tag55.xml"/><Relationship Id="rId2" Type="http://schemas.openxmlformats.org/officeDocument/2006/relationships/tags" Target="../tags/tag54.xml"/><Relationship Id="rId19" Type="http://schemas.openxmlformats.org/officeDocument/2006/relationships/notesSlide" Target="../notesSlides/notesSlide23.xml"/><Relationship Id="rId18" Type="http://schemas.openxmlformats.org/officeDocument/2006/relationships/slideLayout" Target="../slideLayouts/slideLayout1.xml"/><Relationship Id="rId17" Type="http://schemas.openxmlformats.org/officeDocument/2006/relationships/image" Target="../media/image45.png"/><Relationship Id="rId16" Type="http://schemas.openxmlformats.org/officeDocument/2006/relationships/image" Target="../media/image44.png"/><Relationship Id="rId15" Type="http://schemas.openxmlformats.org/officeDocument/2006/relationships/image" Target="../media/image43.png"/><Relationship Id="rId14" Type="http://schemas.openxmlformats.org/officeDocument/2006/relationships/tags" Target="../tags/tag66.xml"/><Relationship Id="rId13" Type="http://schemas.openxmlformats.org/officeDocument/2006/relationships/tags" Target="../tags/tag65.xml"/><Relationship Id="rId12" Type="http://schemas.openxmlformats.org/officeDocument/2006/relationships/tags" Target="../tags/tag64.xml"/><Relationship Id="rId11" Type="http://schemas.openxmlformats.org/officeDocument/2006/relationships/tags" Target="../tags/tag63.xml"/><Relationship Id="rId10" Type="http://schemas.openxmlformats.org/officeDocument/2006/relationships/tags" Target="../tags/tag62.xml"/><Relationship Id="rId1" Type="http://schemas.openxmlformats.org/officeDocument/2006/relationships/tags" Target="../tags/tag53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tags" Target="../tags/tag75.xml"/><Relationship Id="rId8" Type="http://schemas.openxmlformats.org/officeDocument/2006/relationships/tags" Target="../tags/tag74.xml"/><Relationship Id="rId7" Type="http://schemas.openxmlformats.org/officeDocument/2006/relationships/tags" Target="../tags/tag73.xml"/><Relationship Id="rId6" Type="http://schemas.openxmlformats.org/officeDocument/2006/relationships/tags" Target="../tags/tag72.xml"/><Relationship Id="rId5" Type="http://schemas.openxmlformats.org/officeDocument/2006/relationships/tags" Target="../tags/tag71.xml"/><Relationship Id="rId4" Type="http://schemas.openxmlformats.org/officeDocument/2006/relationships/tags" Target="../tags/tag70.xml"/><Relationship Id="rId3" Type="http://schemas.openxmlformats.org/officeDocument/2006/relationships/tags" Target="../tags/tag69.xml"/><Relationship Id="rId2" Type="http://schemas.openxmlformats.org/officeDocument/2006/relationships/tags" Target="../tags/tag68.xml"/><Relationship Id="rId16" Type="http://schemas.openxmlformats.org/officeDocument/2006/relationships/notesSlide" Target="../notesSlides/notesSlide24.xml"/><Relationship Id="rId15" Type="http://schemas.openxmlformats.org/officeDocument/2006/relationships/slideLayout" Target="../slideLayouts/slideLayout1.xml"/><Relationship Id="rId14" Type="http://schemas.openxmlformats.org/officeDocument/2006/relationships/image" Target="../media/image47.png"/><Relationship Id="rId13" Type="http://schemas.openxmlformats.org/officeDocument/2006/relationships/tags" Target="../tags/tag78.xml"/><Relationship Id="rId12" Type="http://schemas.openxmlformats.org/officeDocument/2006/relationships/image" Target="../media/image46.png"/><Relationship Id="rId11" Type="http://schemas.openxmlformats.org/officeDocument/2006/relationships/tags" Target="../tags/tag77.xml"/><Relationship Id="rId10" Type="http://schemas.openxmlformats.org/officeDocument/2006/relationships/tags" Target="../tags/tag76.xml"/><Relationship Id="rId1" Type="http://schemas.openxmlformats.org/officeDocument/2006/relationships/tags" Target="../tags/tag67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image" Target="../media/image54.png"/><Relationship Id="rId8" Type="http://schemas.openxmlformats.org/officeDocument/2006/relationships/image" Target="../media/image53.jpeg"/><Relationship Id="rId7" Type="http://schemas.openxmlformats.org/officeDocument/2006/relationships/image" Target="../media/image52.jpeg"/><Relationship Id="rId6" Type="http://schemas.openxmlformats.org/officeDocument/2006/relationships/image" Target="../media/image51.svg"/><Relationship Id="rId5" Type="http://schemas.openxmlformats.org/officeDocument/2006/relationships/image" Target="../media/image50.png"/><Relationship Id="rId4" Type="http://schemas.openxmlformats.org/officeDocument/2006/relationships/image" Target="../media/image34.svg"/><Relationship Id="rId3" Type="http://schemas.openxmlformats.org/officeDocument/2006/relationships/image" Target="../media/image33.png"/><Relationship Id="rId2" Type="http://schemas.openxmlformats.org/officeDocument/2006/relationships/image" Target="../media/image49.svg"/><Relationship Id="rId15" Type="http://schemas.openxmlformats.org/officeDocument/2006/relationships/notesSlide" Target="../notesSlides/notesSlide25.xml"/><Relationship Id="rId14" Type="http://schemas.openxmlformats.org/officeDocument/2006/relationships/slideLayout" Target="../slideLayouts/slideLayout1.xml"/><Relationship Id="rId13" Type="http://schemas.openxmlformats.org/officeDocument/2006/relationships/image" Target="../media/image58.png"/><Relationship Id="rId12" Type="http://schemas.openxmlformats.org/officeDocument/2006/relationships/image" Target="../media/image57.svg"/><Relationship Id="rId11" Type="http://schemas.openxmlformats.org/officeDocument/2006/relationships/image" Target="../media/image56.png"/><Relationship Id="rId10" Type="http://schemas.openxmlformats.org/officeDocument/2006/relationships/image" Target="../media/image55.svg"/><Relationship Id="rId1" Type="http://schemas.openxmlformats.org/officeDocument/2006/relationships/image" Target="../media/image48.pn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image" Target="../media/image64.svg"/><Relationship Id="rId8" Type="http://schemas.openxmlformats.org/officeDocument/2006/relationships/image" Target="../media/image63.png"/><Relationship Id="rId7" Type="http://schemas.openxmlformats.org/officeDocument/2006/relationships/image" Target="../media/image62.svg"/><Relationship Id="rId6" Type="http://schemas.openxmlformats.org/officeDocument/2006/relationships/image" Target="../media/image61.png"/><Relationship Id="rId5" Type="http://schemas.openxmlformats.org/officeDocument/2006/relationships/image" Target="../media/image60.svg"/><Relationship Id="rId4" Type="http://schemas.openxmlformats.org/officeDocument/2006/relationships/image" Target="../media/image59.png"/><Relationship Id="rId3" Type="http://schemas.openxmlformats.org/officeDocument/2006/relationships/image" Target="../media/image53.jpeg"/><Relationship Id="rId2" Type="http://schemas.openxmlformats.org/officeDocument/2006/relationships/image" Target="../media/image22.svg"/><Relationship Id="rId14" Type="http://schemas.openxmlformats.org/officeDocument/2006/relationships/notesSlide" Target="../notesSlides/notesSlide26.x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67.jpeg"/><Relationship Id="rId11" Type="http://schemas.openxmlformats.org/officeDocument/2006/relationships/image" Target="../media/image66.svg"/><Relationship Id="rId10" Type="http://schemas.openxmlformats.org/officeDocument/2006/relationships/image" Target="../media/image65.png"/><Relationship Id="rId1" Type="http://schemas.openxmlformats.org/officeDocument/2006/relationships/image" Target="../media/image21.png"/></Relationships>
</file>

<file path=ppt/slides/_rels/slide27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7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72.png"/><Relationship Id="rId4" Type="http://schemas.openxmlformats.org/officeDocument/2006/relationships/image" Target="../media/image71.svg"/><Relationship Id="rId3" Type="http://schemas.openxmlformats.org/officeDocument/2006/relationships/image" Target="../media/image70.png"/><Relationship Id="rId2" Type="http://schemas.openxmlformats.org/officeDocument/2006/relationships/image" Target="../media/image69.svg"/><Relationship Id="rId1" Type="http://schemas.openxmlformats.org/officeDocument/2006/relationships/image" Target="../media/image68.png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tags" Target="../tags/tag87.xml"/><Relationship Id="rId8" Type="http://schemas.openxmlformats.org/officeDocument/2006/relationships/tags" Target="../tags/tag86.xml"/><Relationship Id="rId7" Type="http://schemas.openxmlformats.org/officeDocument/2006/relationships/tags" Target="../tags/tag85.xml"/><Relationship Id="rId6" Type="http://schemas.openxmlformats.org/officeDocument/2006/relationships/tags" Target="../tags/tag84.xml"/><Relationship Id="rId5" Type="http://schemas.openxmlformats.org/officeDocument/2006/relationships/tags" Target="../tags/tag83.xml"/><Relationship Id="rId4" Type="http://schemas.openxmlformats.org/officeDocument/2006/relationships/tags" Target="../tags/tag82.xml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2" Type="http://schemas.openxmlformats.org/officeDocument/2006/relationships/notesSlide" Target="../notesSlides/notesSlide28.xml"/><Relationship Id="rId11" Type="http://schemas.openxmlformats.org/officeDocument/2006/relationships/slideLayout" Target="../slideLayouts/slideLayout1.xml"/><Relationship Id="rId10" Type="http://schemas.openxmlformats.org/officeDocument/2006/relationships/tags" Target="../tags/tag88.xml"/><Relationship Id="rId1" Type="http://schemas.openxmlformats.org/officeDocument/2006/relationships/tags" Target="../tags/tag79.xml"/></Relationships>
</file>

<file path=ppt/slides/_rels/slide29.xml.rels><?xml version="1.0" encoding="UTF-8" standalone="yes"?>
<Relationships xmlns="http://schemas.openxmlformats.org/package/2006/relationships"><Relationship Id="rId9" Type="http://schemas.openxmlformats.org/officeDocument/2006/relationships/image" Target="../media/image63.png"/><Relationship Id="rId8" Type="http://schemas.openxmlformats.org/officeDocument/2006/relationships/image" Target="../media/image76.svg"/><Relationship Id="rId7" Type="http://schemas.openxmlformats.org/officeDocument/2006/relationships/image" Target="../media/image75.png"/><Relationship Id="rId6" Type="http://schemas.openxmlformats.org/officeDocument/2006/relationships/image" Target="../media/image74.svg"/><Relationship Id="rId5" Type="http://schemas.openxmlformats.org/officeDocument/2006/relationships/image" Target="../media/image73.png"/><Relationship Id="rId4" Type="http://schemas.openxmlformats.org/officeDocument/2006/relationships/image" Target="../media/image69.svg"/><Relationship Id="rId3" Type="http://schemas.openxmlformats.org/officeDocument/2006/relationships/image" Target="../media/image68.png"/><Relationship Id="rId2" Type="http://schemas.openxmlformats.org/officeDocument/2006/relationships/image" Target="../media/image49.svg"/><Relationship Id="rId14" Type="http://schemas.openxmlformats.org/officeDocument/2006/relationships/notesSlide" Target="../notesSlides/notesSlide29.xml"/><Relationship Id="rId13" Type="http://schemas.openxmlformats.org/officeDocument/2006/relationships/slideLayout" Target="../slideLayouts/slideLayout1.xml"/><Relationship Id="rId12" Type="http://schemas.openxmlformats.org/officeDocument/2006/relationships/image" Target="../media/image78.svg"/><Relationship Id="rId11" Type="http://schemas.openxmlformats.org/officeDocument/2006/relationships/image" Target="../media/image77.png"/><Relationship Id="rId10" Type="http://schemas.openxmlformats.org/officeDocument/2006/relationships/image" Target="../media/image64.svg"/><Relationship Id="rId1" Type="http://schemas.openxmlformats.org/officeDocument/2006/relationships/image" Target="../media/image48.png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2286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第5次项目汇报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3556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altLang="zh-CN" sz="2400" b="1" dirty="0" err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毕业要求达成度统一计算平台</a:t>
            </a:r>
            <a:endParaRPr lang="en-US" altLang="zh-CN" sz="800" dirty="0"/>
          </a:p>
          <a:p>
            <a:pPr marL="0" indent="0" algn="l">
              <a:lnSpc>
                <a:spcPct val="125000"/>
              </a:lnSpc>
              <a:defRPr/>
            </a:pPr>
            <a:r>
              <a:rPr lang="en-US" sz="2200" b="0" i="0" u="none" strike="noStrike" dirty="0" err="1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成果展示与协作流程分享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1016000" y="4826000"/>
            <a:ext cx="17780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54610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 err="1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</a:t>
            </a:r>
            <a:r>
              <a:rPr lang="zh-CN" altLang="en-US" sz="16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人：毛小斌、</a:t>
            </a:r>
            <a:r>
              <a:rPr lang="zh-CN" altLang="en-US" sz="16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王子嘉</a:t>
            </a:r>
            <a:endParaRPr lang="zh-CN" altLang="en-US" sz="1600" b="0" i="0" u="none" strike="noStrike" dirty="0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5285450">
            <a:off x="5905500" y="5708756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6350000" y="5461000"/>
            <a:ext cx="4826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日期：2026年6月17日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目录 CONTENTS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762000" y="2286000"/>
            <a:ext cx="33782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62000" y="2286000"/>
            <a:ext cx="3378200" cy="762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1016000" y="2667000"/>
            <a:ext cx="2870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4ADE80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</a:t>
            </a:r>
            <a:endParaRPr lang="en-US" sz="1100"/>
          </a:p>
        </p:txBody>
      </p:sp>
      <p:cxnSp>
        <p:nvCxnSpPr>
          <p:cNvPr id="7" name="Connector 7"/>
          <p:cNvCxnSpPr/>
          <p:nvPr>
            <p:custDataLst>
              <p:tags r:id="rId4"/>
            </p:custDataLst>
          </p:nvPr>
        </p:nvCxnSpPr>
        <p:spPr>
          <a:xfrm rot="-15211">
            <a:off x="1016014" y="3803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>
            <p:custDataLst>
              <p:tags r:id="rId5"/>
            </p:custDataLst>
          </p:nvPr>
        </p:nvSpPr>
        <p:spPr>
          <a:xfrm>
            <a:off x="1016000" y="4064000"/>
            <a:ext cx="2870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系统研发进度汇报</a:t>
            </a:r>
            <a:endParaRPr lang="en-US" sz="1100" dirty="0"/>
          </a:p>
          <a:p>
            <a:pPr marL="0" indent="0" algn="l">
              <a:lnSpc>
                <a:spcPct val="117000"/>
              </a:lnSpc>
            </a:pPr>
            <a:r>
              <a:rPr lang="zh-CN" altLang="en-US" sz="1300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系统的开发进度以及团队协作分工</a:t>
            </a:r>
            <a:r>
              <a:rPr lang="en-US" sz="13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zh-CN" altLang="en-US" sz="1300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难</a:t>
            </a:r>
            <a:r>
              <a:rPr lang="en-US" sz="13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点</a:t>
            </a:r>
            <a:r>
              <a:rPr lang="zh-CN" altLang="en-US" sz="1300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解决</a:t>
            </a:r>
            <a:r>
              <a:rPr lang="en-US" sz="1300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达成情况</a:t>
            </a:r>
            <a:r>
              <a:rPr lang="en-US" sz="13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3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6"/>
            </p:custDataLst>
          </p:nvPr>
        </p:nvSpPr>
        <p:spPr>
          <a:xfrm>
            <a:off x="4406900" y="2286000"/>
            <a:ext cx="33782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>
            <p:custDataLst>
              <p:tags r:id="rId7"/>
            </p:custDataLst>
          </p:nvPr>
        </p:nvSpPr>
        <p:spPr>
          <a:xfrm>
            <a:off x="4406900" y="2286000"/>
            <a:ext cx="3378200" cy="762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8"/>
            </p:custDataLst>
          </p:nvPr>
        </p:nvSpPr>
        <p:spPr>
          <a:xfrm>
            <a:off x="4660900" y="2667000"/>
            <a:ext cx="2870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4ADE80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</a:t>
            </a:r>
            <a:endParaRPr lang="en-US" sz="1100"/>
          </a:p>
        </p:txBody>
      </p:sp>
      <p:cxnSp>
        <p:nvCxnSpPr>
          <p:cNvPr id="12" name="Connector 12"/>
          <p:cNvCxnSpPr/>
          <p:nvPr>
            <p:custDataLst>
              <p:tags r:id="rId9"/>
            </p:custDataLst>
          </p:nvPr>
        </p:nvCxnSpPr>
        <p:spPr>
          <a:xfrm rot="-15211">
            <a:off x="4660914" y="3803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>
            <p:custDataLst>
              <p:tags r:id="rId10"/>
            </p:custDataLst>
          </p:nvPr>
        </p:nvSpPr>
        <p:spPr>
          <a:xfrm>
            <a:off x="4660900" y="4064000"/>
            <a:ext cx="2870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小组开源协作过程分享</a:t>
            </a:r>
            <a:endParaRPr lang="en-US" sz="1100" dirty="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从任务拆解到代码合并，完整还原我们团队规范化的</a:t>
            </a:r>
            <a:r>
              <a:rPr lang="en-US" sz="13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GitH</a:t>
            </a:r>
            <a:r>
              <a:rPr lang="en-US" altLang="zh-CN" sz="13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ub</a:t>
            </a:r>
            <a:r>
              <a:rPr lang="en-US" sz="13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1300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协作流程与最佳实践</a:t>
            </a:r>
            <a:r>
              <a:rPr lang="en-US" sz="13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3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>
            <p:custDataLst>
              <p:tags r:id="rId11"/>
            </p:custDataLst>
          </p:nvPr>
        </p:nvSpPr>
        <p:spPr>
          <a:xfrm>
            <a:off x="8051800" y="2286000"/>
            <a:ext cx="33782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>
            <p:custDataLst>
              <p:tags r:id="rId12"/>
            </p:custDataLst>
          </p:nvPr>
        </p:nvSpPr>
        <p:spPr>
          <a:xfrm>
            <a:off x="8051800" y="2286000"/>
            <a:ext cx="3378200" cy="762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>
            <p:custDataLst>
              <p:tags r:id="rId13"/>
            </p:custDataLst>
          </p:nvPr>
        </p:nvSpPr>
        <p:spPr>
          <a:xfrm>
            <a:off x="8305800" y="2667000"/>
            <a:ext cx="2870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 dirty="0">
                <a:solidFill>
                  <a:srgbClr val="4ADE80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</a:t>
            </a:r>
            <a:endParaRPr lang="en-US" sz="1100" dirty="0"/>
          </a:p>
        </p:txBody>
      </p:sp>
      <p:cxnSp>
        <p:nvCxnSpPr>
          <p:cNvPr id="17" name="Connector 17"/>
          <p:cNvCxnSpPr/>
          <p:nvPr>
            <p:custDataLst>
              <p:tags r:id="rId14"/>
            </p:custDataLst>
          </p:nvPr>
        </p:nvCxnSpPr>
        <p:spPr>
          <a:xfrm rot="-15211">
            <a:off x="8305785" y="3803650"/>
            <a:ext cx="28702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>
            <p:custDataLst>
              <p:tags r:id="rId15"/>
            </p:custDataLst>
          </p:nvPr>
        </p:nvSpPr>
        <p:spPr>
          <a:xfrm>
            <a:off x="8402854" y="4064000"/>
            <a:ext cx="2773145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组间交流与总结</a:t>
            </a:r>
            <a:endParaRPr lang="en-US" sz="1100" dirty="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开放问答环节，收集反馈建议，并共同探讨下一阶段的重点规划与技术演进方向</a:t>
            </a:r>
            <a:r>
              <a:rPr lang="en-US" sz="13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3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F172A">
              <a:alpha val="6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1778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64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01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794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 dirty="0" err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</a:t>
            </a:r>
            <a:r>
              <a:rPr lang="zh-CN" altLang="en-US" sz="4000" b="1" i="0" u="none" strike="noStrike" dirty="0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</a:t>
            </a:r>
            <a:r>
              <a:rPr lang="en-US" sz="4000" b="1" i="0" u="none" strike="noStrike" dirty="0" err="1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进度汇报</a:t>
            </a:r>
            <a:endParaRPr lang="en-US" sz="1100" dirty="0"/>
          </a:p>
        </p:txBody>
      </p:sp>
      <p:sp>
        <p:nvSpPr>
          <p:cNvPr id="5" name="AutoShape 5"/>
          <p:cNvSpPr/>
          <p:nvPr/>
        </p:nvSpPr>
        <p:spPr>
          <a:xfrm>
            <a:off x="1016000" y="4191000"/>
            <a:ext cx="10160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4699000"/>
            <a:ext cx="9906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685165" y="635000"/>
            <a:ext cx="10744835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本周工作进展</a:t>
            </a:r>
            <a:endParaRPr lang="en-US" sz="1100" dirty="0"/>
          </a:p>
        </p:txBody>
      </p:sp>
      <p:cxnSp>
        <p:nvCxnSpPr>
          <p:cNvPr id="8" name="Connector 8"/>
          <p:cNvCxnSpPr/>
          <p:nvPr/>
        </p:nvCxnSpPr>
        <p:spPr>
          <a:xfrm rot="5342709">
            <a:off x="8381806" y="4533228"/>
            <a:ext cx="76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2176145" y="2099310"/>
            <a:ext cx="2851785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354580" y="228981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2672080" y="2258695"/>
            <a:ext cx="2095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b="1" dirty="0"/>
              <a:t>模块 </a:t>
            </a:r>
            <a:r>
              <a:rPr lang="en-US" altLang="zh-CN" b="1" dirty="0"/>
              <a:t>D-1 </a:t>
            </a:r>
            <a:r>
              <a:rPr lang="zh-CN" altLang="en-US" b="1" dirty="0"/>
              <a:t>课程级评价报表</a:t>
            </a:r>
            <a:endParaRPr lang="zh-CN" altLang="en-US" b="1" dirty="0"/>
          </a:p>
        </p:txBody>
      </p:sp>
      <p:cxnSp>
        <p:nvCxnSpPr>
          <p:cNvPr id="15" name="Connector 15"/>
          <p:cNvCxnSpPr/>
          <p:nvPr/>
        </p:nvCxnSpPr>
        <p:spPr>
          <a:xfrm flipV="1">
            <a:off x="2354580" y="2786260"/>
            <a:ext cx="2536165" cy="11549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2354580" y="2797810"/>
            <a:ext cx="2540635" cy="11906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40000"/>
              </a:lnSpc>
            </a:pPr>
            <a:r>
              <a:rPr lang="en-US" altLang="zh-CN" dirty="0"/>
              <a:t>- </a:t>
            </a:r>
            <a:r>
              <a:rPr lang="zh-CN" altLang="en-US" sz="1200" dirty="0"/>
              <a:t>前端完成报表导出与展示功能。  </a:t>
            </a:r>
            <a:endParaRPr lang="zh-CN" altLang="en-US" sz="1200" dirty="0"/>
          </a:p>
          <a:p>
            <a:pPr>
              <a:lnSpc>
                <a:spcPct val="140000"/>
              </a:lnSpc>
            </a:pPr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zh-CN" altLang="en-US" sz="1200" dirty="0"/>
              <a:t>后端完成数据及导出接口开发。</a:t>
            </a:r>
            <a:endParaRPr lang="zh-CN" altLang="en-US" sz="1200" dirty="0"/>
          </a:p>
          <a:p>
            <a:pPr>
              <a:lnSpc>
                <a:spcPct val="140000"/>
              </a:lnSpc>
            </a:pPr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zh-CN" altLang="en-US" sz="1200" dirty="0"/>
              <a:t>数据库完成字段、数据及 </a:t>
            </a:r>
            <a:r>
              <a:rPr lang="en-US" altLang="zh-CN" sz="1200" dirty="0"/>
              <a:t>SQL </a:t>
            </a:r>
            <a:r>
              <a:rPr lang="zh-CN" altLang="en-US" sz="1200" dirty="0"/>
              <a:t>校验。</a:t>
            </a:r>
            <a:endParaRPr lang="zh-CN" altLang="en-US" sz="1200" dirty="0"/>
          </a:p>
        </p:txBody>
      </p:sp>
      <p:sp>
        <p:nvSpPr>
          <p:cNvPr id="17" name="AutoShape 17"/>
          <p:cNvSpPr/>
          <p:nvPr/>
        </p:nvSpPr>
        <p:spPr>
          <a:xfrm>
            <a:off x="6046470" y="2099310"/>
            <a:ext cx="301244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224234" y="2266663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553200" y="2235835"/>
            <a:ext cx="2108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b="1" dirty="0"/>
              <a:t>模块 </a:t>
            </a:r>
            <a:r>
              <a:rPr lang="en-US" altLang="zh-CN" b="1" dirty="0"/>
              <a:t>D-2 </a:t>
            </a:r>
            <a:r>
              <a:rPr lang="zh-CN" altLang="en-US" b="1" dirty="0"/>
              <a:t>专业级评价报告</a:t>
            </a:r>
            <a:endParaRPr lang="zh-CN" altLang="en-US" b="1" dirty="0"/>
          </a:p>
        </p:txBody>
      </p:sp>
      <p:cxnSp>
        <p:nvCxnSpPr>
          <p:cNvPr id="20" name="Connector 20"/>
          <p:cNvCxnSpPr/>
          <p:nvPr/>
        </p:nvCxnSpPr>
        <p:spPr>
          <a:xfrm flipV="1">
            <a:off x="6224234" y="2762140"/>
            <a:ext cx="2711486" cy="1093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6224270" y="2844800"/>
            <a:ext cx="2667635" cy="114363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30000"/>
              </a:lnSpc>
            </a:pPr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zh-CN" altLang="en-US" sz="1200" dirty="0"/>
              <a:t>前端完成报告导出与雷达图展示。</a:t>
            </a:r>
            <a:endParaRPr lang="zh-CN" altLang="en-US" sz="1200" dirty="0"/>
          </a:p>
          <a:p>
            <a:pPr>
              <a:lnSpc>
                <a:spcPct val="130000"/>
              </a:lnSpc>
            </a:pPr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zh-CN" altLang="en-US" sz="1200" dirty="0"/>
              <a:t>后端完成接口开发，统一数据口径。</a:t>
            </a:r>
            <a:endParaRPr lang="zh-CN" altLang="en-US" sz="1200" dirty="0"/>
          </a:p>
          <a:p>
            <a:pPr>
              <a:lnSpc>
                <a:spcPct val="130000"/>
              </a:lnSpc>
            </a:pPr>
            <a:r>
              <a:rPr lang="en-US" altLang="zh-CN" dirty="0">
                <a:sym typeface="+mn-ea"/>
              </a:rPr>
              <a:t>-</a:t>
            </a:r>
            <a:r>
              <a:rPr lang="zh-CN" altLang="en-US" dirty="0">
                <a:sym typeface="+mn-ea"/>
              </a:rPr>
              <a:t> </a:t>
            </a:r>
            <a:r>
              <a:rPr lang="zh-CN" altLang="en-US" sz="1200" dirty="0">
                <a:sym typeface="+mn-ea"/>
              </a:rPr>
              <a:t>数据库完成数据链路与内容校验。</a:t>
            </a:r>
            <a:endParaRPr lang="zh-CN" altLang="en-US" sz="1200" dirty="0">
              <a:sym typeface="+mn-ea"/>
            </a:endParaRPr>
          </a:p>
          <a:p>
            <a:pPr marL="0" indent="0" algn="l">
              <a:lnSpc>
                <a:spcPct val="117000"/>
              </a:lnSpc>
              <a:defRPr/>
            </a:pPr>
            <a:endParaRPr lang="en-US" sz="1200" dirty="0"/>
          </a:p>
        </p:txBody>
      </p:sp>
      <p:sp>
        <p:nvSpPr>
          <p:cNvPr id="22" name="AutoShape 22"/>
          <p:cNvSpPr/>
          <p:nvPr/>
        </p:nvSpPr>
        <p:spPr>
          <a:xfrm>
            <a:off x="1099820" y="4385310"/>
            <a:ext cx="282321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 dirty="0"/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19530" y="4589780"/>
            <a:ext cx="304800" cy="3048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1764030" y="4551680"/>
            <a:ext cx="1968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cxnSp>
        <p:nvCxnSpPr>
          <p:cNvPr id="25" name="Connector 25"/>
          <p:cNvCxnSpPr/>
          <p:nvPr/>
        </p:nvCxnSpPr>
        <p:spPr>
          <a:xfrm flipV="1">
            <a:off x="1319530" y="5004675"/>
            <a:ext cx="2471438" cy="357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6" name="AutoShape 26"/>
          <p:cNvSpPr/>
          <p:nvPr/>
        </p:nvSpPr>
        <p:spPr>
          <a:xfrm>
            <a:off x="1263015" y="5008880"/>
            <a:ext cx="2606675" cy="124841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30000"/>
              </a:lnSpc>
            </a:pPr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zh-CN" altLang="en-US" sz="1200" dirty="0"/>
              <a:t>前端实现数据下钻、导出及状态反馈。</a:t>
            </a:r>
            <a:endParaRPr lang="zh-CN" altLang="en-US" sz="1200" dirty="0"/>
          </a:p>
          <a:p>
            <a:pPr>
              <a:lnSpc>
                <a:spcPct val="130000"/>
              </a:lnSpc>
            </a:pPr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zh-CN" altLang="en-US" sz="1200" dirty="0"/>
              <a:t>后端完成追溯与导出接口开发。</a:t>
            </a:r>
            <a:endParaRPr lang="zh-CN" altLang="en-US" sz="1200" dirty="0"/>
          </a:p>
          <a:p>
            <a:pPr>
              <a:lnSpc>
                <a:spcPct val="130000"/>
              </a:lnSpc>
            </a:pPr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zh-CN" altLang="en-US" sz="1200" dirty="0"/>
              <a:t>数据库核对字段，验证追溯逻辑。</a:t>
            </a:r>
            <a:endParaRPr lang="zh-CN" altLang="en-US" sz="1200" dirty="0"/>
          </a:p>
        </p:txBody>
      </p:sp>
      <p:sp>
        <p:nvSpPr>
          <p:cNvPr id="27" name="AutoShape 27"/>
          <p:cNvSpPr/>
          <p:nvPr/>
        </p:nvSpPr>
        <p:spPr>
          <a:xfrm>
            <a:off x="4485005" y="4385310"/>
            <a:ext cx="272288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8" name="Picture 2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55185" y="4556760"/>
            <a:ext cx="304800" cy="304800"/>
          </a:xfrm>
          <a:prstGeom prst="rect">
            <a:avLst/>
          </a:prstGeom>
        </p:spPr>
      </p:pic>
      <p:sp>
        <p:nvSpPr>
          <p:cNvPr id="29" name="AutoShape 29"/>
          <p:cNvSpPr/>
          <p:nvPr/>
        </p:nvSpPr>
        <p:spPr>
          <a:xfrm>
            <a:off x="5099685" y="4518660"/>
            <a:ext cx="1968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r>
              <a:rPr lang="zh-CN" altLang="en-US" b="1" dirty="0"/>
              <a:t>统筹与联调</a:t>
            </a:r>
            <a:endParaRPr lang="zh-CN" altLang="en-US" b="1" dirty="0"/>
          </a:p>
        </p:txBody>
      </p:sp>
      <p:cxnSp>
        <p:nvCxnSpPr>
          <p:cNvPr id="30" name="Connector 30"/>
          <p:cNvCxnSpPr/>
          <p:nvPr/>
        </p:nvCxnSpPr>
        <p:spPr>
          <a:xfrm rot="-19098">
            <a:off x="4655203" y="4969510"/>
            <a:ext cx="228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1" name="AutoShape 31"/>
          <p:cNvSpPr/>
          <p:nvPr/>
        </p:nvSpPr>
        <p:spPr>
          <a:xfrm>
            <a:off x="4655185" y="4963160"/>
            <a:ext cx="2349500" cy="11811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30000"/>
              </a:lnSpc>
            </a:pPr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zh-CN" altLang="en-US" sz="1200" dirty="0"/>
              <a:t>分配任务，统一业务与数据口径。</a:t>
            </a:r>
            <a:endParaRPr lang="zh-CN" altLang="en-US" sz="1200" dirty="0"/>
          </a:p>
          <a:p>
            <a:pPr>
              <a:lnSpc>
                <a:spcPct val="130000"/>
              </a:lnSpc>
            </a:pPr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zh-CN" altLang="en-US" sz="1200" dirty="0"/>
              <a:t>完成联调，跟进整改问题。</a:t>
            </a:r>
            <a:endParaRPr lang="zh-CN" altLang="en-US" sz="1200" dirty="0"/>
          </a:p>
          <a:p>
            <a:pPr>
              <a:lnSpc>
                <a:spcPct val="130000"/>
              </a:lnSpc>
            </a:pPr>
            <a:r>
              <a:rPr lang="en-US" altLang="zh-CN" dirty="0"/>
              <a:t>-</a:t>
            </a:r>
            <a:r>
              <a:rPr lang="zh-CN" altLang="en-US" dirty="0"/>
              <a:t> </a:t>
            </a:r>
            <a:r>
              <a:rPr lang="zh-CN" altLang="en-US" sz="1200" dirty="0"/>
              <a:t>核查数据来源与维度合规性。</a:t>
            </a:r>
            <a:endParaRPr lang="zh-CN" altLang="en-US" sz="1200" dirty="0"/>
          </a:p>
        </p:txBody>
      </p:sp>
      <p:sp>
        <p:nvSpPr>
          <p:cNvPr id="33" name="文本框 32"/>
          <p:cNvSpPr txBox="1"/>
          <p:nvPr/>
        </p:nvSpPr>
        <p:spPr>
          <a:xfrm>
            <a:off x="685165" y="1318260"/>
            <a:ext cx="10091420" cy="37465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sz="1500" dirty="0"/>
              <a:t>完成模块 </a:t>
            </a:r>
            <a:r>
              <a:rPr lang="en-US" altLang="zh-CN" sz="1500" dirty="0"/>
              <a:t>D </a:t>
            </a:r>
            <a:r>
              <a:rPr lang="zh-CN" altLang="en-US" sz="1500" dirty="0"/>
              <a:t>首版，把第四周已经落库的课程级结果、专业级结果转化为认证可用的报表、报告和穿透式台账输出能力。</a:t>
            </a:r>
            <a:endParaRPr lang="zh-CN" altLang="en-US" sz="1500" dirty="0"/>
          </a:p>
        </p:txBody>
      </p:sp>
      <p:sp>
        <p:nvSpPr>
          <p:cNvPr id="34" name="AutoShape 12"/>
          <p:cNvSpPr/>
          <p:nvPr/>
        </p:nvSpPr>
        <p:spPr>
          <a:xfrm>
            <a:off x="7790180" y="4385310"/>
            <a:ext cx="2579370" cy="1968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txBody>
          <a:bodyPr vert="horz" wrap="square" lIns="63500" tIns="63500" rIns="63500" bIns="63500" rtlCol="0" anchor="ctr"/>
          <a:lstStyle/>
          <a:p>
            <a:endParaRPr lang="en-US" altLang="zh-CN" dirty="0"/>
          </a:p>
          <a:p>
            <a:endParaRPr lang="zh-CN" altLang="en-US" dirty="0"/>
          </a:p>
        </p:txBody>
      </p:sp>
      <p:sp>
        <p:nvSpPr>
          <p:cNvPr id="37" name="文本框 36"/>
          <p:cNvSpPr txBox="1"/>
          <p:nvPr/>
        </p:nvSpPr>
        <p:spPr>
          <a:xfrm>
            <a:off x="1564640" y="4588510"/>
            <a:ext cx="210439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 dirty="0"/>
              <a:t>模块 </a:t>
            </a:r>
            <a:r>
              <a:rPr lang="en-US" altLang="zh-CN" b="1" dirty="0"/>
              <a:t>D-2 </a:t>
            </a:r>
            <a:r>
              <a:rPr lang="zh-CN" altLang="en-US" b="1" dirty="0"/>
              <a:t>穿透式台账</a:t>
            </a:r>
            <a:endParaRPr lang="zh-CN" altLang="en-US" b="1" dirty="0"/>
          </a:p>
        </p:txBody>
      </p:sp>
      <p:cxnSp>
        <p:nvCxnSpPr>
          <p:cNvPr id="38" name="Connector 15"/>
          <p:cNvCxnSpPr/>
          <p:nvPr/>
        </p:nvCxnSpPr>
        <p:spPr>
          <a:xfrm>
            <a:off x="7953140" y="4959390"/>
            <a:ext cx="2279650" cy="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39" name="Picture 1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909983" y="4520475"/>
            <a:ext cx="304800" cy="304800"/>
          </a:xfrm>
          <a:prstGeom prst="rect">
            <a:avLst/>
          </a:prstGeom>
        </p:spPr>
      </p:pic>
      <p:sp>
        <p:nvSpPr>
          <p:cNvPr id="40" name="AutoShape 14"/>
          <p:cNvSpPr/>
          <p:nvPr/>
        </p:nvSpPr>
        <p:spPr>
          <a:xfrm>
            <a:off x="8253773" y="4474210"/>
            <a:ext cx="1968500" cy="431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b="1" dirty="0"/>
              <a:t>通用能力与整体要求</a:t>
            </a:r>
            <a:endParaRPr lang="zh-CN" altLang="en-US" b="1" dirty="0"/>
          </a:p>
        </p:txBody>
      </p:sp>
      <p:sp>
        <p:nvSpPr>
          <p:cNvPr id="2" name="文本框 1"/>
          <p:cNvSpPr txBox="1"/>
          <p:nvPr/>
        </p:nvSpPr>
        <p:spPr>
          <a:xfrm>
            <a:off x="7953375" y="5084445"/>
            <a:ext cx="2635885" cy="10750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>
              <a:lnSpc>
                <a:spcPct val="130000"/>
              </a:lnSpc>
            </a:pPr>
            <a:r>
              <a:rPr lang="en-US" altLang="zh-CN" dirty="0">
                <a:sym typeface="+mn-ea"/>
              </a:rPr>
              <a:t>-</a:t>
            </a:r>
            <a:r>
              <a:rPr lang="zh-CN" altLang="en-US" dirty="0">
                <a:sym typeface="+mn-ea"/>
              </a:rPr>
              <a:t> </a:t>
            </a:r>
            <a:r>
              <a:rPr lang="zh-CN" altLang="en-US" sz="1200" dirty="0">
                <a:sym typeface="+mn-ea"/>
              </a:rPr>
              <a:t>规范年级、学期数据口径。</a:t>
            </a:r>
            <a:endParaRPr lang="zh-CN" altLang="en-US" dirty="0"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en-US" altLang="zh-CN" dirty="0">
                <a:sym typeface="+mn-ea"/>
              </a:rPr>
              <a:t>-</a:t>
            </a:r>
            <a:r>
              <a:rPr lang="zh-CN" altLang="en-US" dirty="0">
                <a:sym typeface="+mn-ea"/>
              </a:rPr>
              <a:t> </a:t>
            </a:r>
            <a:r>
              <a:rPr lang="zh-CN" altLang="en-US" sz="1200" dirty="0">
                <a:sym typeface="+mn-ea"/>
              </a:rPr>
              <a:t>配置查询与导出权限。</a:t>
            </a:r>
            <a:endParaRPr lang="zh-CN" altLang="en-US" sz="1200" dirty="0">
              <a:sym typeface="+mn-ea"/>
            </a:endParaRPr>
          </a:p>
          <a:p>
            <a:pPr>
              <a:lnSpc>
                <a:spcPct val="130000"/>
              </a:lnSpc>
            </a:pPr>
            <a:r>
              <a:rPr lang="en-US" altLang="zh-CN" dirty="0">
                <a:sym typeface="+mn-ea"/>
              </a:rPr>
              <a:t>-</a:t>
            </a:r>
            <a:r>
              <a:rPr lang="zh-CN" altLang="en-US" dirty="0">
                <a:sym typeface="+mn-ea"/>
              </a:rPr>
              <a:t> </a:t>
            </a:r>
            <a:r>
              <a:rPr lang="zh-CN" altLang="en-US" sz="1200" dirty="0">
                <a:sym typeface="+mn-ea"/>
              </a:rPr>
              <a:t>功能全部就绪，满足联调要求。</a:t>
            </a:r>
            <a:endParaRPr lang="zh-CN" altLang="en-US" sz="1200" dirty="0">
              <a:sym typeface="+mn-e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utoShape 14"/>
          <p:cNvSpPr/>
          <p:nvPr/>
        </p:nvSpPr>
        <p:spPr>
          <a:xfrm>
            <a:off x="26275" y="0"/>
            <a:ext cx="4725282" cy="13335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cap="flat" cmpd="sng">
            <a:solidFill>
              <a:schemeClr val="bg1">
                <a:lumMod val="95000"/>
                <a:alpha val="4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0" y="0"/>
            <a:ext cx="68317" cy="1333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81610" y="127000"/>
            <a:ext cx="434213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altLang="en-US" sz="3200" b="1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</a:t>
            </a:r>
            <a:r>
              <a:rPr lang="en-US" altLang="zh-CN" sz="3200" b="1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 </a:t>
            </a:r>
            <a:r>
              <a:rPr lang="en-US" sz="32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</a:t>
            </a:r>
            <a:r>
              <a:rPr lang="en-US" sz="3200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负责人</a:t>
            </a:r>
            <a:r>
              <a:rPr lang="en-US" sz="32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zh-CN" altLang="en-US" sz="32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王子嘉</a:t>
            </a:r>
            <a:endParaRPr lang="en-US" sz="32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8580" y="1027430"/>
            <a:ext cx="468249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对应角色：课程主讲教师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26035" y="1333500"/>
            <a:ext cx="4725670" cy="5524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noAutofit/>
          </a:bodyPr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 sz="1300" b="1" dirty="0" err="1">
                <a:solidFill>
                  <a:srgbClr val="00B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  </a:t>
            </a:r>
            <a:r>
              <a:rPr lang="en-US" altLang="zh-CN" b="1" dirty="0" err="1">
                <a:solidFill>
                  <a:srgbClr val="00B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已完成</a:t>
            </a:r>
            <a:r>
              <a:rPr lang="en-US" altLang="zh-CN" b="1" dirty="0">
                <a:solidFill>
                  <a:srgbClr val="00B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endParaRPr lang="en-US" altLang="zh-CN" sz="1300" b="1" i="0" u="none" strike="noStrike" dirty="0">
              <a:solidFill>
                <a:srgbClr val="00B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 sz="1300"/>
          </a:p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 sz="1300"/>
          </a:p>
        </p:txBody>
      </p:sp>
      <p:sp>
        <p:nvSpPr>
          <p:cNvPr id="7" name="右箭头 6"/>
          <p:cNvSpPr/>
          <p:nvPr/>
        </p:nvSpPr>
        <p:spPr>
          <a:xfrm>
            <a:off x="68580" y="1447165"/>
            <a:ext cx="327025" cy="233045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33045" y="1793240"/>
            <a:ext cx="4157980" cy="37293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zh-CN" altLang="en-US">
                <a:sym typeface="+mn-ea"/>
              </a:rPr>
              <a:t>在原有课程级结果页面，新增课程级评价报表导出入口，支持 </a:t>
            </a:r>
            <a:r>
              <a:rPr lang="en-US" altLang="zh-CN">
                <a:sym typeface="+mn-ea"/>
              </a:rPr>
              <a:t>Excel、PDF </a:t>
            </a:r>
            <a:r>
              <a:rPr lang="zh-CN" altLang="en-US">
                <a:sym typeface="+mn-ea"/>
              </a:rPr>
              <a:t>格式。</a:t>
            </a:r>
            <a:endParaRPr lang="zh-CN" altLang="en-US"/>
          </a:p>
          <a:p>
            <a:pPr marL="285750" indent="-285750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zh-CN" altLang="en-US">
                <a:sym typeface="+mn-ea"/>
              </a:rPr>
              <a:t>搭建报表展示区域，呈现教学班平均分、课程目标达成度等指定字段。</a:t>
            </a:r>
            <a:endParaRPr lang="zh-CN" altLang="en-US"/>
          </a:p>
          <a:p>
            <a:pPr marL="285750" indent="-285750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zh-CN" altLang="en-US">
                <a:sym typeface="+mn-ea"/>
              </a:rPr>
              <a:t>页面与导出内容统一为课程 + 年级维度，达成度数值保留 4 位小数，同步下载状态与页面上下文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1070" y="0"/>
            <a:ext cx="74422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utoShape 14"/>
          <p:cNvSpPr/>
          <p:nvPr/>
        </p:nvSpPr>
        <p:spPr>
          <a:xfrm>
            <a:off x="26275" y="0"/>
            <a:ext cx="4725282" cy="13335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cap="flat" cmpd="sng">
            <a:solidFill>
              <a:schemeClr val="bg1">
                <a:lumMod val="95000"/>
                <a:alpha val="40000"/>
              </a:schemeClr>
            </a:solidFill>
            <a:prstDash val="solid"/>
            <a:round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0" y="0"/>
            <a:ext cx="68317" cy="1333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81610" y="127000"/>
            <a:ext cx="434213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altLang="en-US" sz="3200" b="1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</a:t>
            </a:r>
            <a:r>
              <a:rPr lang="en-US" altLang="zh-CN" sz="3200" b="1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 </a:t>
            </a:r>
            <a:r>
              <a:rPr lang="en-US" sz="32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</a:t>
            </a:r>
            <a:r>
              <a:rPr lang="en-US" sz="3200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负责人</a:t>
            </a:r>
            <a:r>
              <a:rPr lang="en-US" sz="32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zh-CN" altLang="en-US" sz="32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支梦林</a:t>
            </a:r>
            <a:endParaRPr lang="zh-CN" altLang="en-US" sz="32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8580" y="1027430"/>
            <a:ext cx="468249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对应角色：专业负责人、教务管理员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26035" y="1333500"/>
            <a:ext cx="4725670" cy="5524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noAutofit/>
          </a:bodyPr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 sz="1300" b="1" dirty="0" err="1">
                <a:solidFill>
                  <a:srgbClr val="00B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  </a:t>
            </a:r>
            <a:r>
              <a:rPr lang="en-US" altLang="zh-CN" b="1" dirty="0" err="1">
                <a:solidFill>
                  <a:srgbClr val="00B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已完成</a:t>
            </a:r>
            <a:r>
              <a:rPr lang="en-US" altLang="zh-CN" b="1" dirty="0">
                <a:solidFill>
                  <a:srgbClr val="00B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endParaRPr lang="en-US" altLang="zh-CN" sz="1300" b="1" i="0" u="none" strike="noStrike" dirty="0">
              <a:solidFill>
                <a:srgbClr val="00B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 sz="1300"/>
          </a:p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 sz="1300"/>
          </a:p>
        </p:txBody>
      </p:sp>
      <p:sp>
        <p:nvSpPr>
          <p:cNvPr id="7" name="右箭头 6"/>
          <p:cNvSpPr/>
          <p:nvPr/>
        </p:nvSpPr>
        <p:spPr>
          <a:xfrm>
            <a:off x="68580" y="1447165"/>
            <a:ext cx="327025" cy="233045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33045" y="1793240"/>
            <a:ext cx="4157980" cy="37293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zh-CN" altLang="en-US"/>
              <a:t>在原有专业级结果页面，新增专业级评价报告导出入口。</a:t>
            </a:r>
            <a:endParaRPr lang="zh-CN" altLang="en-US"/>
          </a:p>
          <a:p>
            <a:pPr marL="285750" indent="-285750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zh-CN" altLang="en-US"/>
              <a:t>页面接入 </a:t>
            </a:r>
            <a:r>
              <a:rPr lang="en-US" altLang="zh-CN"/>
              <a:t>ECharts </a:t>
            </a:r>
            <a:r>
              <a:rPr lang="zh-CN" altLang="en-US"/>
              <a:t>实现专业级雷达图展示，沿用专业 + 年级上下文与筛选条件。</a:t>
            </a:r>
            <a:endParaRPr lang="zh-CN" altLang="en-US"/>
          </a:p>
          <a:p>
            <a:pPr marL="285750" indent="-285750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zh-CN" altLang="en-US"/>
              <a:t>统一表格、雷达图、导出报告的数据口径，所有达成度数值保留 4 位小数。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1070" y="0"/>
            <a:ext cx="745998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utoShape 14"/>
          <p:cNvSpPr/>
          <p:nvPr/>
        </p:nvSpPr>
        <p:spPr>
          <a:xfrm>
            <a:off x="26275" y="0"/>
            <a:ext cx="4725282" cy="13335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cap="flat" cmpd="sng">
            <a:solidFill>
              <a:schemeClr val="bg1">
                <a:lumMod val="95000"/>
                <a:alpha val="4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0" y="0"/>
            <a:ext cx="68317" cy="1333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81610" y="127000"/>
            <a:ext cx="434213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altLang="en-US" sz="3200" b="1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</a:t>
            </a:r>
            <a:r>
              <a:rPr lang="en-US" altLang="zh-CN" sz="3200" b="1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 </a:t>
            </a:r>
            <a:r>
              <a:rPr lang="en-US" sz="32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</a:t>
            </a:r>
            <a:r>
              <a:rPr lang="en-US" sz="3200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负责人</a:t>
            </a:r>
            <a:r>
              <a:rPr lang="en-US" sz="32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zh-CN" altLang="en-US" sz="32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陈思远</a:t>
            </a:r>
            <a:endParaRPr lang="zh-CN" altLang="en-US" sz="32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8580" y="1027430"/>
            <a:ext cx="468249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对应角色：专业负责人、教务管理员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26035" y="1333500"/>
            <a:ext cx="4725670" cy="5524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noAutofit/>
          </a:bodyPr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 sz="1300" b="1" dirty="0" err="1">
                <a:solidFill>
                  <a:srgbClr val="00B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  </a:t>
            </a:r>
            <a:r>
              <a:rPr lang="en-US" altLang="zh-CN" b="1" dirty="0" err="1">
                <a:solidFill>
                  <a:srgbClr val="00B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已完成</a:t>
            </a:r>
            <a:r>
              <a:rPr lang="en-US" altLang="zh-CN" b="1" dirty="0">
                <a:solidFill>
                  <a:srgbClr val="00B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endParaRPr lang="en-US" altLang="zh-CN" sz="1300" b="1" i="0" u="none" strike="noStrike" dirty="0">
              <a:solidFill>
                <a:srgbClr val="00B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 sz="1300"/>
          </a:p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 sz="1300"/>
          </a:p>
        </p:txBody>
      </p:sp>
      <p:sp>
        <p:nvSpPr>
          <p:cNvPr id="7" name="右箭头 6"/>
          <p:cNvSpPr/>
          <p:nvPr/>
        </p:nvSpPr>
        <p:spPr>
          <a:xfrm>
            <a:off x="68580" y="1447165"/>
            <a:ext cx="327025" cy="233045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33045" y="1793240"/>
            <a:ext cx="4157980" cy="37293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zh-CN" altLang="en-US"/>
              <a:t>负责穿透式台账前端交互开发，搭建查询区，增设专业级、课程级、课程目标、考核点、原始成绩多层下钻入口与导出入口。</a:t>
            </a:r>
            <a:endParaRPr lang="zh-CN" altLang="en-US"/>
          </a:p>
          <a:p>
            <a:pPr marL="285750" indent="-285750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zh-CN" altLang="en-US"/>
              <a:t>实现导出状态（导出中、成功、失败）反馈，页面展示完整追溯上下文信息。</a:t>
            </a:r>
            <a:endParaRPr lang="zh-CN" altLang="en-US"/>
          </a:p>
          <a:p>
            <a:pPr marL="285750" indent="-285750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zh-CN" altLang="en-US"/>
              <a:t>实现从专业级到原始成绩的全链路下钻、</a:t>
            </a:r>
            <a:r>
              <a:rPr lang="en-US" altLang="zh-CN"/>
              <a:t>Excel </a:t>
            </a:r>
            <a:r>
              <a:rPr lang="zh-CN" altLang="en-US"/>
              <a:t>台账导出功能。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1070" y="0"/>
            <a:ext cx="74549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utoShape 14"/>
          <p:cNvSpPr/>
          <p:nvPr/>
        </p:nvSpPr>
        <p:spPr>
          <a:xfrm>
            <a:off x="26275" y="0"/>
            <a:ext cx="4725282" cy="13335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cap="flat" cmpd="sng">
            <a:solidFill>
              <a:schemeClr val="bg1">
                <a:lumMod val="95000"/>
                <a:alpha val="4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0" y="0"/>
            <a:ext cx="68317" cy="1333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81610" y="127000"/>
            <a:ext cx="434213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altLang="en-US" sz="3200" b="1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后端</a:t>
            </a:r>
            <a:r>
              <a:rPr lang="en-US" altLang="zh-CN" sz="3200" b="1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 </a:t>
            </a:r>
            <a:r>
              <a:rPr lang="en-US" sz="32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</a:t>
            </a:r>
            <a:r>
              <a:rPr lang="en-US" sz="3200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负责人</a:t>
            </a:r>
            <a:r>
              <a:rPr lang="en-US" sz="32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zh-CN" altLang="en-US" sz="32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王子</a:t>
            </a:r>
            <a:r>
              <a:rPr lang="zh-CN" altLang="en-US" sz="32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儒</a:t>
            </a:r>
            <a:endParaRPr lang="zh-CN" altLang="en-US" sz="32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8580" y="1027430"/>
            <a:ext cx="468312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对应角色：课程主讲教师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26035" y="1333500"/>
            <a:ext cx="4725670" cy="5524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noAutofit/>
          </a:bodyPr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 sz="1300" b="1" dirty="0" err="1">
                <a:solidFill>
                  <a:srgbClr val="00B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  </a:t>
            </a:r>
            <a:r>
              <a:rPr lang="en-US" altLang="zh-CN" b="1" dirty="0" err="1">
                <a:solidFill>
                  <a:srgbClr val="00B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已完成</a:t>
            </a:r>
            <a:r>
              <a:rPr lang="en-US" altLang="zh-CN" b="1" dirty="0">
                <a:solidFill>
                  <a:srgbClr val="00B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endParaRPr lang="en-US" altLang="zh-CN" sz="1300" b="1" i="0" u="none" strike="noStrike" dirty="0">
              <a:solidFill>
                <a:srgbClr val="00B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 sz="1300"/>
          </a:p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 sz="1300"/>
          </a:p>
        </p:txBody>
      </p:sp>
      <p:sp>
        <p:nvSpPr>
          <p:cNvPr id="7" name="右箭头 6"/>
          <p:cNvSpPr/>
          <p:nvPr/>
        </p:nvSpPr>
        <p:spPr>
          <a:xfrm>
            <a:off x="68580" y="1447165"/>
            <a:ext cx="327025" cy="233045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33045" y="1793240"/>
            <a:ext cx="4157980" cy="37293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zh-CN" altLang="en-US"/>
              <a:t>面向课程主讲教师，开发课程级评价报表数据装配、导出接口，支持 </a:t>
            </a:r>
            <a:r>
              <a:rPr lang="en-US" altLang="zh-CN"/>
              <a:t>Excel、PDF </a:t>
            </a:r>
            <a:r>
              <a:rPr lang="zh-CN" altLang="en-US"/>
              <a:t>两种导出格式。</a:t>
            </a:r>
            <a:endParaRPr lang="zh-CN" altLang="en-US"/>
          </a:p>
          <a:p>
            <a:pPr marL="285750" indent="-285750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zh-CN" altLang="en-US"/>
              <a:t>接口按课程 + 年级组织数据，读取指定数据表，报表包含教学班平均分、课程目标 / 指标点达成度等字段。</a:t>
            </a:r>
            <a:endParaRPr lang="zh-CN" altLang="en-US"/>
          </a:p>
          <a:p>
            <a:pPr indent="0">
              <a:lnSpc>
                <a:spcPct val="200000"/>
              </a:lnSpc>
              <a:buFont typeface="Wingdings" panose="05000000000000000000" charset="0"/>
              <a:buNone/>
            </a:pP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1705" y="0"/>
            <a:ext cx="7449820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utoShape 14"/>
          <p:cNvSpPr/>
          <p:nvPr/>
        </p:nvSpPr>
        <p:spPr>
          <a:xfrm>
            <a:off x="26275" y="0"/>
            <a:ext cx="4725282" cy="13335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cap="flat" cmpd="sng">
            <a:solidFill>
              <a:schemeClr val="bg1">
                <a:lumMod val="95000"/>
                <a:alpha val="4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0" y="0"/>
            <a:ext cx="68317" cy="1333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81610" y="127000"/>
            <a:ext cx="434213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altLang="en-US" sz="3200" b="1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后端</a:t>
            </a:r>
            <a:r>
              <a:rPr lang="en-US" altLang="zh-CN" sz="3200" b="1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 </a:t>
            </a:r>
            <a:r>
              <a:rPr lang="en-US" sz="32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</a:t>
            </a:r>
            <a:r>
              <a:rPr lang="en-US" sz="3200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负责人</a:t>
            </a:r>
            <a:r>
              <a:rPr lang="en-US" sz="32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zh-CN" altLang="en-US" sz="32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毛小斌</a:t>
            </a:r>
            <a:endParaRPr lang="zh-CN" altLang="en-US" sz="32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8580" y="1027430"/>
            <a:ext cx="4682490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对应角色：专业负责人、教务管理员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26035" y="1333500"/>
            <a:ext cx="4725670" cy="5524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noAutofit/>
          </a:bodyPr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 sz="1300" b="1" dirty="0" err="1">
                <a:solidFill>
                  <a:srgbClr val="00B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  </a:t>
            </a:r>
            <a:r>
              <a:rPr lang="en-US" altLang="zh-CN" b="1" dirty="0" err="1">
                <a:solidFill>
                  <a:srgbClr val="00B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已完成</a:t>
            </a:r>
            <a:r>
              <a:rPr lang="en-US" altLang="zh-CN" b="1" dirty="0">
                <a:solidFill>
                  <a:srgbClr val="00B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endParaRPr lang="en-US" altLang="zh-CN" sz="1300" b="1" i="0" u="none" strike="noStrike" dirty="0">
              <a:solidFill>
                <a:srgbClr val="00B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 sz="1300"/>
          </a:p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 sz="1300"/>
          </a:p>
        </p:txBody>
      </p:sp>
      <p:sp>
        <p:nvSpPr>
          <p:cNvPr id="7" name="右箭头 6"/>
          <p:cNvSpPr/>
          <p:nvPr/>
        </p:nvSpPr>
        <p:spPr>
          <a:xfrm>
            <a:off x="68580" y="1447165"/>
            <a:ext cx="327025" cy="233045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33045" y="1793240"/>
            <a:ext cx="4157980" cy="372935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zh-CN" altLang="en-US"/>
              <a:t>面向专业负责人、教务管理员，开发专业级评价报告数据装配、导出接口，以及专业级雷达图数据接口。</a:t>
            </a:r>
            <a:endParaRPr lang="zh-CN" altLang="en-US"/>
          </a:p>
          <a:p>
            <a:pPr marL="285750" indent="-285750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zh-CN" altLang="en-US"/>
              <a:t>按专业 + 年级组织数据，沿用既定数据源与统计范围，保证图表、表格、导出数据来源统一。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1070" y="0"/>
            <a:ext cx="746125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utoShape 14"/>
          <p:cNvSpPr/>
          <p:nvPr/>
        </p:nvSpPr>
        <p:spPr>
          <a:xfrm>
            <a:off x="26275" y="0"/>
            <a:ext cx="4725282" cy="13335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cap="flat" cmpd="sng">
            <a:solidFill>
              <a:schemeClr val="bg1">
                <a:lumMod val="95000"/>
                <a:alpha val="4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0" y="0"/>
            <a:ext cx="68317" cy="1333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81610" y="127000"/>
            <a:ext cx="434213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altLang="en-US" sz="3200" b="1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后端</a:t>
            </a:r>
            <a:r>
              <a:rPr lang="en-US" altLang="zh-CN" sz="3200" b="1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 </a:t>
            </a:r>
            <a:r>
              <a:rPr lang="en-US" sz="32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</a:t>
            </a:r>
            <a:r>
              <a:rPr lang="en-US" sz="3200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负责人</a:t>
            </a:r>
            <a:r>
              <a:rPr lang="en-US" sz="32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zh-CN" altLang="en-US" sz="32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叶高</a:t>
            </a:r>
            <a:r>
              <a:rPr lang="zh-CN" altLang="en-US" sz="32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</a:t>
            </a:r>
            <a:endParaRPr lang="zh-CN" altLang="en-US" sz="32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68580" y="1027430"/>
            <a:ext cx="4683125" cy="30670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/>
              <a:t>对应角色：专业负责人、教务管理员</a:t>
            </a:r>
            <a:endParaRPr lang="zh-CN" altLang="en-US" dirty="0"/>
          </a:p>
        </p:txBody>
      </p:sp>
      <p:sp>
        <p:nvSpPr>
          <p:cNvPr id="2" name="文本框 1"/>
          <p:cNvSpPr txBox="1"/>
          <p:nvPr/>
        </p:nvSpPr>
        <p:spPr>
          <a:xfrm>
            <a:off x="26035" y="1333500"/>
            <a:ext cx="4725670" cy="5524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noAutofit/>
          </a:bodyPr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 sz="1300" b="1" dirty="0" err="1">
                <a:solidFill>
                  <a:srgbClr val="00B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  </a:t>
            </a:r>
            <a:r>
              <a:rPr lang="en-US" altLang="zh-CN" b="1" dirty="0" err="1">
                <a:solidFill>
                  <a:srgbClr val="00B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已完成</a:t>
            </a:r>
            <a:r>
              <a:rPr lang="en-US" altLang="zh-CN" b="1" dirty="0">
                <a:solidFill>
                  <a:srgbClr val="00B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endParaRPr lang="en-US" altLang="zh-CN" sz="1300" b="1" i="0" u="none" strike="noStrike" dirty="0">
              <a:solidFill>
                <a:srgbClr val="00B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 sz="1300"/>
          </a:p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 sz="1300"/>
          </a:p>
        </p:txBody>
      </p:sp>
      <p:sp>
        <p:nvSpPr>
          <p:cNvPr id="7" name="右箭头 6"/>
          <p:cNvSpPr/>
          <p:nvPr/>
        </p:nvSpPr>
        <p:spPr>
          <a:xfrm>
            <a:off x="68580" y="1447165"/>
            <a:ext cx="327025" cy="233045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33045" y="1793240"/>
            <a:ext cx="4157980" cy="372935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noAutofit/>
          </a:bodyPr>
          <a:p>
            <a:pPr marL="285750" indent="-285750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zh-CN" altLang="en-US"/>
              <a:t>面向专业负责人、教务管理员，开发多层级穿透查询接口：专业级→课程级、课程级→课程目标、课程目标→考核点 &amp; 原始成绩。</a:t>
            </a:r>
            <a:endParaRPr lang="zh-CN" altLang="en-US"/>
          </a:p>
          <a:p>
            <a:pPr marL="285750" indent="-285750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zh-CN" altLang="en-US"/>
              <a:t>开发穿透式台账导出接口，实现数据逐层追溯链路。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1705" y="0"/>
            <a:ext cx="7468870" cy="685863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utoShape 14"/>
          <p:cNvSpPr/>
          <p:nvPr/>
        </p:nvSpPr>
        <p:spPr>
          <a:xfrm>
            <a:off x="26275" y="0"/>
            <a:ext cx="4725282" cy="13335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cap="flat" cmpd="sng">
            <a:solidFill>
              <a:schemeClr val="bg1">
                <a:lumMod val="95000"/>
                <a:alpha val="4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0" y="0"/>
            <a:ext cx="68317" cy="1333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81610" y="127000"/>
            <a:ext cx="441833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altLang="en-US" sz="3200" b="1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数据库</a:t>
            </a:r>
            <a:r>
              <a:rPr lang="en-US" altLang="zh-CN" sz="3200" b="1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32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</a:t>
            </a:r>
            <a:r>
              <a:rPr lang="en-US" sz="3200" b="0" i="0" u="none" strike="noStrike" dirty="0" err="1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负责人</a:t>
            </a:r>
            <a:r>
              <a:rPr lang="en-US" sz="32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zh-CN" altLang="en-US" sz="32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支佳璇</a:t>
            </a:r>
            <a:endParaRPr lang="zh-CN" altLang="en-US" sz="32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6035" y="1333500"/>
            <a:ext cx="4725670" cy="5524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noAutofit/>
          </a:bodyPr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 sz="1300" b="1" dirty="0" err="1">
                <a:solidFill>
                  <a:srgbClr val="00B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  </a:t>
            </a:r>
            <a:r>
              <a:rPr lang="en-US" altLang="zh-CN" b="1" dirty="0" err="1">
                <a:solidFill>
                  <a:srgbClr val="00B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已完成</a:t>
            </a:r>
            <a:r>
              <a:rPr lang="en-US" altLang="zh-CN" b="1" dirty="0">
                <a:solidFill>
                  <a:srgbClr val="00B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endParaRPr lang="en-US" altLang="zh-CN" sz="1300" b="1" i="0" u="none" strike="noStrike" dirty="0">
              <a:solidFill>
                <a:srgbClr val="00B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 sz="1300"/>
          </a:p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 sz="1300"/>
          </a:p>
        </p:txBody>
      </p:sp>
      <p:sp>
        <p:nvSpPr>
          <p:cNvPr id="7" name="右箭头 6"/>
          <p:cNvSpPr/>
          <p:nvPr/>
        </p:nvSpPr>
        <p:spPr>
          <a:xfrm>
            <a:off x="68580" y="1447165"/>
            <a:ext cx="327025" cy="233045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33045" y="1793240"/>
            <a:ext cx="4157980" cy="4212590"/>
          </a:xfrm>
          <a:prstGeom prst="rect">
            <a:avLst/>
          </a:prstGeom>
          <a:noFill/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noAutofit/>
          </a:bodyPr>
          <a:p>
            <a:pPr marL="285750" indent="-285750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zh-CN" altLang="en-US"/>
              <a:t>核对结果表、原始成绩表、课程目标表、考核点表的字段链路。</a:t>
            </a:r>
            <a:endParaRPr lang="zh-CN" altLang="en-US"/>
          </a:p>
          <a:p>
            <a:pPr marL="285750" indent="-285750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zh-CN" altLang="en-US"/>
              <a:t>输出第五周报表与台账字段映射说明，校验课程级评价报表 “课程 + 年级” 聚合多教学班明细功能。</a:t>
            </a:r>
            <a:endParaRPr lang="zh-CN" altLang="en-US"/>
          </a:p>
          <a:p>
            <a:pPr marL="285750" indent="-285750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zh-CN" altLang="en-US"/>
              <a:t>补充样例数据，保障课程级报表、专业级报告 &amp; 雷达图、穿透式台账可完整演示。</a:t>
            </a:r>
            <a:endParaRPr lang="zh-CN" altLang="en-US"/>
          </a:p>
          <a:p>
            <a:pPr marL="285750" indent="-285750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zh-CN" altLang="en-US"/>
              <a:t>编写课程级、专业级、穿透链路对应的自检 </a:t>
            </a:r>
            <a:r>
              <a:rPr lang="en-US" altLang="zh-CN"/>
              <a:t>SQL，</a:t>
            </a:r>
            <a:r>
              <a:rPr lang="zh-CN" altLang="en-US"/>
              <a:t>输出数据脚本与各类说明文档。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1705" y="0"/>
            <a:ext cx="743839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AutoShape 14"/>
          <p:cNvSpPr/>
          <p:nvPr/>
        </p:nvSpPr>
        <p:spPr>
          <a:xfrm>
            <a:off x="26275" y="0"/>
            <a:ext cx="4725282" cy="1333500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</a:schemeClr>
          </a:solidFill>
          <a:ln w="12700" cap="flat" cmpd="sng">
            <a:solidFill>
              <a:schemeClr val="bg1">
                <a:lumMod val="95000"/>
                <a:alpha val="40000"/>
              </a:scheme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0" y="0"/>
            <a:ext cx="68317" cy="13335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81610" y="127000"/>
            <a:ext cx="434213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zh-CN" altLang="en-US" sz="3200" b="1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组长</a:t>
            </a:r>
            <a:r>
              <a:rPr lang="en-US" altLang="zh-CN" sz="3200" b="1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</a:t>
            </a:r>
            <a:r>
              <a:rPr lang="en-US" sz="32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</a:t>
            </a:r>
            <a:r>
              <a:rPr lang="zh-CN" altLang="en-US" sz="32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孔文</a:t>
            </a:r>
            <a:r>
              <a:rPr lang="zh-CN" altLang="en-US" sz="3200" b="0" i="0" u="none" strike="noStrike" dirty="0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峰</a:t>
            </a:r>
            <a:endParaRPr lang="zh-CN" altLang="en-US" sz="3200" b="0" i="0" u="none" strike="noStrike" dirty="0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26035" y="1333500"/>
            <a:ext cx="4725670" cy="55245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txBody>
          <a:bodyPr wrap="square" rtlCol="0">
            <a:noAutofit/>
          </a:bodyPr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r>
              <a:rPr lang="en-US" altLang="zh-CN" sz="1300" b="1" dirty="0" err="1">
                <a:solidFill>
                  <a:srgbClr val="00B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          </a:t>
            </a:r>
            <a:r>
              <a:rPr lang="en-US" altLang="zh-CN" b="1" dirty="0" err="1">
                <a:solidFill>
                  <a:srgbClr val="00B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已完成</a:t>
            </a:r>
            <a:r>
              <a:rPr lang="en-US" altLang="zh-CN" b="1" dirty="0">
                <a:solidFill>
                  <a:srgbClr val="00B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endParaRPr lang="en-US" altLang="zh-CN" sz="1300" b="1" i="0" u="none" strike="noStrike" dirty="0">
              <a:solidFill>
                <a:srgbClr val="00B05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 sz="1300"/>
          </a:p>
          <a:p>
            <a:pPr indent="0">
              <a:lnSpc>
                <a:spcPct val="150000"/>
              </a:lnSpc>
              <a:buFont typeface="Wingdings" panose="05000000000000000000" charset="0"/>
              <a:buNone/>
            </a:pPr>
            <a:endParaRPr lang="zh-CN" altLang="en-US" sz="1300"/>
          </a:p>
        </p:txBody>
      </p:sp>
      <p:sp>
        <p:nvSpPr>
          <p:cNvPr id="7" name="右箭头 6"/>
          <p:cNvSpPr/>
          <p:nvPr/>
        </p:nvSpPr>
        <p:spPr>
          <a:xfrm>
            <a:off x="68580" y="1447165"/>
            <a:ext cx="327025" cy="233045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  <a:effectLst>
            <a:outerShdw blurRad="50800" dist="38100" algn="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9" name="文本框 8"/>
          <p:cNvSpPr txBox="1"/>
          <p:nvPr/>
        </p:nvSpPr>
        <p:spPr>
          <a:xfrm>
            <a:off x="233045" y="1793240"/>
            <a:ext cx="4157980" cy="39897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marL="285750" indent="-285750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zh-CN" altLang="en-US"/>
              <a:t>统筹模块 </a:t>
            </a:r>
            <a:r>
              <a:rPr lang="en-US" altLang="zh-CN"/>
              <a:t>D </a:t>
            </a:r>
            <a:r>
              <a:rPr lang="zh-CN" altLang="en-US"/>
              <a:t>全链路工作，分配、跟进、收口本周相关 </a:t>
            </a:r>
            <a:r>
              <a:rPr lang="en-US" altLang="zh-CN"/>
              <a:t>Issue。</a:t>
            </a:r>
            <a:endParaRPr lang="en-US" altLang="zh-CN"/>
          </a:p>
          <a:p>
            <a:pPr marL="285750" indent="-285750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zh-CN" altLang="en-US"/>
              <a:t>规划三条业务链路联调顺序，统一全链路字段与数据口径，校验各类页面展示、导出字段一致性。</a:t>
            </a:r>
            <a:endParaRPr lang="zh-CN" altLang="en-US"/>
          </a:p>
          <a:p>
            <a:pPr marL="285750" indent="-285750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zh-CN" altLang="en-US"/>
              <a:t>核查穿透台账追溯链路、年级口径等边界问题，组织全流程联调测试。</a:t>
            </a:r>
            <a:endParaRPr lang="zh-CN" altLang="en-US"/>
          </a:p>
          <a:p>
            <a:pPr marL="285750" indent="-285750">
              <a:lnSpc>
                <a:spcPct val="200000"/>
              </a:lnSpc>
              <a:buFont typeface="Wingdings" panose="05000000000000000000" charset="0"/>
              <a:buChar char="Ø"/>
            </a:pPr>
            <a:r>
              <a:rPr lang="zh-CN" altLang="en-US"/>
              <a:t>整理联调问题、口径说明、验收结论，完成本周整体验收与问题收口。</a:t>
            </a:r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1705" y="0"/>
            <a:ext cx="7440930" cy="6857365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443230" y="635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新功能演示</a:t>
            </a:r>
            <a:r>
              <a:rPr lang="en-US" sz="3200" b="1" i="0" u="none" strike="noStrike" dirty="0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endParaRPr lang="en-US" sz="1100" dirty="0"/>
          </a:p>
        </p:txBody>
      </p:sp>
      <p:cxnSp>
        <p:nvCxnSpPr>
          <p:cNvPr id="13" name="Connector 13"/>
          <p:cNvCxnSpPr/>
          <p:nvPr/>
        </p:nvCxnSpPr>
        <p:spPr>
          <a:xfrm rot="5390708">
            <a:off x="3746500" y="4121159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374151">
                <a:alpha val="15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7" name="文本框 26"/>
          <p:cNvSpPr txBox="1"/>
          <p:nvPr/>
        </p:nvSpPr>
        <p:spPr>
          <a:xfrm>
            <a:off x="588010" y="1372870"/>
            <a:ext cx="9465310" cy="3581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r>
              <a:rPr lang="en-US" altLang="zh-CN" b="1" dirty="0" err="1">
                <a:solidFill>
                  <a:schemeClr val="bg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毕业要求达成度统一计算平台</a:t>
            </a:r>
            <a:r>
              <a:rPr lang="zh-CN" altLang="en-US" b="1" dirty="0" err="1">
                <a:solidFill>
                  <a:schemeClr val="bg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网址：</a:t>
            </a:r>
            <a:r>
              <a:rPr lang="zh-CN" altLang="en-US" dirty="0">
                <a:hlinkClick r:id="rId1"/>
              </a:rPr>
              <a:t>http://39.104.52.187</a:t>
            </a:r>
            <a:endParaRPr lang="en-US" altLang="zh-CN" dirty="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010" y="1960880"/>
            <a:ext cx="5394960" cy="428117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9030" y="1960880"/>
            <a:ext cx="5645785" cy="428371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/>
          <p:nvPr/>
        </p:nvSpPr>
        <p:spPr>
          <a:xfrm>
            <a:off x="473710" y="5521325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endParaRPr lang="en-US" sz="1100" dirty="0"/>
          </a:p>
        </p:txBody>
      </p:sp>
      <p:cxnSp>
        <p:nvCxnSpPr>
          <p:cNvPr id="6" name="Connector 6"/>
          <p:cNvCxnSpPr/>
          <p:nvPr/>
        </p:nvCxnSpPr>
        <p:spPr>
          <a:xfrm rot="5389889">
            <a:off x="3648710" y="4244984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6696710" y="3705225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cxnSp>
        <p:nvCxnSpPr>
          <p:cNvPr id="13" name="Connector 13"/>
          <p:cNvCxnSpPr/>
          <p:nvPr/>
        </p:nvCxnSpPr>
        <p:spPr>
          <a:xfrm rot="-20834">
            <a:off x="6252229" y="434086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6252210" y="4759325"/>
            <a:ext cx="2095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endParaRPr lang="en-US" sz="1100" dirty="0"/>
          </a:p>
        </p:txBody>
      </p:sp>
      <p:cxnSp>
        <p:nvCxnSpPr>
          <p:cNvPr id="18" name="Connector 18"/>
          <p:cNvCxnSpPr/>
          <p:nvPr/>
        </p:nvCxnSpPr>
        <p:spPr>
          <a:xfrm rot="-20834">
            <a:off x="8855729" y="434086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8855710" y="4759325"/>
            <a:ext cx="2095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endParaRPr lang="en-US" sz="1100" dirty="0"/>
          </a:p>
        </p:txBody>
      </p:sp>
      <p:sp>
        <p:nvSpPr>
          <p:cNvPr id="2" name="文本框 1"/>
          <p:cNvSpPr txBox="1"/>
          <p:nvPr/>
        </p:nvSpPr>
        <p:spPr>
          <a:xfrm>
            <a:off x="549275" y="1171575"/>
            <a:ext cx="1078865" cy="104584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p>
            <a:r>
              <a:rPr lang="en-US" altLang="zh-CN" sz="6000" b="1">
                <a:solidFill>
                  <a:schemeClr val="accent6">
                    <a:lumMod val="75000"/>
                  </a:schemeClr>
                </a:solidFill>
              </a:rPr>
              <a:t>01</a:t>
            </a:r>
            <a:endParaRPr lang="en-US" altLang="zh-CN" sz="6000" b="1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628140" y="1393190"/>
            <a:ext cx="9323070" cy="6032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 b="1"/>
              <a:t>问题：课程级报表导出，多教学班数据聚合异常</a:t>
            </a:r>
            <a:endParaRPr lang="zh-CN" altLang="en-US" sz="3200" b="1"/>
          </a:p>
        </p:txBody>
      </p:sp>
      <p:sp>
        <p:nvSpPr>
          <p:cNvPr id="7" name="文本框 6"/>
          <p:cNvSpPr txBox="1"/>
          <p:nvPr/>
        </p:nvSpPr>
        <p:spPr>
          <a:xfrm>
            <a:off x="1692910" y="2112010"/>
            <a:ext cx="9001760" cy="1776095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36525" tIns="136525" rIns="136525" bIns="136525" rtlCol="0">
            <a:noAutofit/>
          </a:bodyPr>
          <a:p>
            <a:r>
              <a:rPr lang="zh-CN" altLang="en-US" sz="1600" b="1"/>
              <a:t>问题场景：</a:t>
            </a:r>
            <a:r>
              <a:rPr lang="zh-CN" altLang="en-US" sz="1600"/>
              <a:t>按照课程 + 年级维度导出评价报表时，后端查询数据未做好条件过滤，导致同一课程、同一年级下的多个教学班数据出现漏统计、重复叠加的问题，无法正常展示全部教学班明细。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 b="1">
                <a:sym typeface="+mn-ea"/>
              </a:rPr>
              <a:t>解决经验：</a:t>
            </a:r>
            <a:r>
              <a:rPr lang="zh-CN" altLang="en-US" sz="1600">
                <a:sym typeface="+mn-ea"/>
              </a:rPr>
              <a:t>提前梳理年级、课程、教学班之间的关联查询逻辑，编写对应校验 </a:t>
            </a:r>
            <a:r>
              <a:rPr lang="en-US" altLang="zh-CN" sz="1600">
                <a:sym typeface="+mn-ea"/>
              </a:rPr>
              <a:t>SQL，</a:t>
            </a:r>
            <a:r>
              <a:rPr lang="zh-CN" altLang="en-US" sz="1600">
                <a:sym typeface="+mn-ea"/>
              </a:rPr>
              <a:t>接口端强制校验课程 </a:t>
            </a:r>
            <a:r>
              <a:rPr lang="en-US" altLang="zh-CN" sz="1600">
                <a:sym typeface="+mn-ea"/>
              </a:rPr>
              <a:t>ID </a:t>
            </a:r>
            <a:r>
              <a:rPr lang="zh-CN" altLang="en-US" sz="1600">
                <a:sym typeface="+mn-ea"/>
              </a:rPr>
              <a:t>和年级两大核心入参，数据查询先单独统计每个教学班明细，再完成上层数据聚合，联调阶段使用包含多个教学班的测试数据反复核对报表内容，确保数据聚合规则符合需求。</a:t>
            </a:r>
            <a:endParaRPr lang="zh-CN" altLang="en-US" sz="1600"/>
          </a:p>
          <a:p>
            <a:endParaRPr lang="zh-CN" altLang="en-US" sz="1600"/>
          </a:p>
        </p:txBody>
      </p:sp>
      <p:sp>
        <p:nvSpPr>
          <p:cNvPr id="25" name="AutoShape 12"/>
          <p:cNvSpPr/>
          <p:nvPr/>
        </p:nvSpPr>
        <p:spPr>
          <a:xfrm>
            <a:off x="6920230" y="6626225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cxnSp>
        <p:nvCxnSpPr>
          <p:cNvPr id="26" name="Connector 13"/>
          <p:cNvCxnSpPr/>
          <p:nvPr/>
        </p:nvCxnSpPr>
        <p:spPr>
          <a:xfrm rot="-20834">
            <a:off x="6475749" y="7165975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" name="Connector 18"/>
          <p:cNvCxnSpPr/>
          <p:nvPr/>
        </p:nvCxnSpPr>
        <p:spPr>
          <a:xfrm rot="-20834">
            <a:off x="9079249" y="7165975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文本框 27"/>
          <p:cNvSpPr txBox="1"/>
          <p:nvPr/>
        </p:nvSpPr>
        <p:spPr>
          <a:xfrm>
            <a:off x="484505" y="3837305"/>
            <a:ext cx="1078865" cy="104584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p>
            <a:r>
              <a:rPr lang="en-US" altLang="zh-CN" sz="6000" b="1">
                <a:solidFill>
                  <a:schemeClr val="accent6">
                    <a:lumMod val="75000"/>
                  </a:schemeClr>
                </a:solidFill>
              </a:rPr>
              <a:t>02</a:t>
            </a:r>
            <a:endParaRPr lang="en-US" altLang="zh-CN" sz="6000" b="1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563370" y="4058920"/>
            <a:ext cx="9323070" cy="6032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 b="1"/>
              <a:t>问题：专业级雷达图、报表数据格式与口径不统一</a:t>
            </a:r>
            <a:endParaRPr lang="zh-CN" altLang="en-US" sz="3200" b="1"/>
          </a:p>
        </p:txBody>
      </p:sp>
      <p:sp>
        <p:nvSpPr>
          <p:cNvPr id="30" name="文本框 29"/>
          <p:cNvSpPr txBox="1"/>
          <p:nvPr/>
        </p:nvSpPr>
        <p:spPr>
          <a:xfrm>
            <a:off x="1628140" y="4777740"/>
            <a:ext cx="9001760" cy="1776095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36525" tIns="136525" rIns="136525" bIns="136525" rtlCol="0">
            <a:noAutofit/>
          </a:bodyPr>
          <a:p>
            <a:r>
              <a:rPr lang="zh-CN" altLang="en-US" sz="1600" b="1"/>
              <a:t>问题场景：</a:t>
            </a:r>
            <a:r>
              <a:rPr lang="zh-CN" altLang="en-US" sz="1600"/>
              <a:t>专业级雷达图展示的达成度数值、小数位数，和数据库原始数据、导出的专业评价报告存在差异，没有按照要求统一保留四位小数，多方数据口径不一致。</a:t>
            </a:r>
            <a:endParaRPr lang="zh-CN" altLang="en-US" sz="1600"/>
          </a:p>
          <a:p>
            <a:endParaRPr lang="zh-CN" altLang="en-US" sz="1600" b="1"/>
          </a:p>
          <a:p>
            <a:r>
              <a:rPr lang="zh-CN" altLang="en-US" sz="1600" b="1"/>
              <a:t>解决经验</a:t>
            </a:r>
            <a:r>
              <a:rPr lang="zh-CN" altLang="en-US" sz="1600"/>
              <a:t>：团队统一约定所有达成度数值保留四位小数，雷达图接口和专业报告接口复用同一套数据源与数据处理逻辑，后端直接返回标准精度数据，前端只负责页面渲染与展示，不改动原始数值，联调时依次核对数据库、接口返回、页面图表、导出文件四部分数据，保证完全一致。</a:t>
            </a:r>
            <a:endParaRPr lang="zh-CN" altLang="en-US" sz="1600"/>
          </a:p>
        </p:txBody>
      </p:sp>
      <p:sp>
        <p:nvSpPr>
          <p:cNvPr id="39" name="AutoShape 3"/>
          <p:cNvSpPr/>
          <p:nvPr/>
        </p:nvSpPr>
        <p:spPr>
          <a:xfrm>
            <a:off x="632460" y="382270"/>
            <a:ext cx="10744835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2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本周难点攻克</a:t>
            </a:r>
            <a:endParaRPr lang="zh-CN" altLang="en-US" sz="3200" b="1" i="0" u="none" strike="noStrike" dirty="0" err="1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5"/>
          <p:cNvSpPr/>
          <p:nvPr/>
        </p:nvSpPr>
        <p:spPr>
          <a:xfrm>
            <a:off x="536575" y="5373370"/>
            <a:ext cx="482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endParaRPr lang="en-US" sz="1100" dirty="0"/>
          </a:p>
        </p:txBody>
      </p:sp>
      <p:cxnSp>
        <p:nvCxnSpPr>
          <p:cNvPr id="6" name="Connector 6"/>
          <p:cNvCxnSpPr/>
          <p:nvPr>
            <p:custDataLst>
              <p:tags r:id="rId1"/>
            </p:custDataLst>
          </p:nvPr>
        </p:nvCxnSpPr>
        <p:spPr>
          <a:xfrm rot="5389889">
            <a:off x="3615690" y="4201804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6759575" y="3653155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cxnSp>
        <p:nvCxnSpPr>
          <p:cNvPr id="13" name="Connector 13"/>
          <p:cNvCxnSpPr/>
          <p:nvPr>
            <p:custDataLst>
              <p:tags r:id="rId2"/>
            </p:custDataLst>
          </p:nvPr>
        </p:nvCxnSpPr>
        <p:spPr>
          <a:xfrm rot="-20834">
            <a:off x="6219209" y="429768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6315075" y="4611370"/>
            <a:ext cx="2095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endParaRPr lang="en-US" sz="1100" dirty="0"/>
          </a:p>
        </p:txBody>
      </p:sp>
      <p:cxnSp>
        <p:nvCxnSpPr>
          <p:cNvPr id="18" name="Connector 18"/>
          <p:cNvCxnSpPr/>
          <p:nvPr>
            <p:custDataLst>
              <p:tags r:id="rId3"/>
            </p:custDataLst>
          </p:nvPr>
        </p:nvCxnSpPr>
        <p:spPr>
          <a:xfrm rot="-20834">
            <a:off x="8822709" y="4297680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" name="AutoShape 19"/>
          <p:cNvSpPr/>
          <p:nvPr/>
        </p:nvSpPr>
        <p:spPr>
          <a:xfrm>
            <a:off x="8918575" y="4611370"/>
            <a:ext cx="2095500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endParaRPr lang="en-US" sz="1100" dirty="0"/>
          </a:p>
        </p:txBody>
      </p:sp>
      <p:sp>
        <p:nvSpPr>
          <p:cNvPr id="2" name="文本框 1"/>
          <p:cNvSpPr txBox="1"/>
          <p:nvPr>
            <p:custDataLst>
              <p:tags r:id="rId4"/>
            </p:custDataLst>
          </p:nvPr>
        </p:nvSpPr>
        <p:spPr>
          <a:xfrm>
            <a:off x="516255" y="1156970"/>
            <a:ext cx="1078865" cy="104584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p>
            <a:r>
              <a:rPr lang="en-US" altLang="zh-CN" sz="6000" b="1">
                <a:solidFill>
                  <a:schemeClr val="accent6">
                    <a:lumMod val="75000"/>
                  </a:schemeClr>
                </a:solidFill>
              </a:rPr>
              <a:t>03</a:t>
            </a:r>
            <a:endParaRPr lang="en-US" altLang="zh-CN" sz="6000" b="1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4" name="文本框 3"/>
          <p:cNvSpPr txBox="1"/>
          <p:nvPr>
            <p:custDataLst>
              <p:tags r:id="rId5"/>
            </p:custDataLst>
          </p:nvPr>
        </p:nvSpPr>
        <p:spPr>
          <a:xfrm>
            <a:off x="1595120" y="1378585"/>
            <a:ext cx="9323070" cy="6032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 b="1"/>
              <a:t>问题：穿透式台账逐层下钻出现数据串线</a:t>
            </a:r>
            <a:endParaRPr lang="zh-CN" altLang="en-US" sz="3200" b="1"/>
          </a:p>
        </p:txBody>
      </p:sp>
      <p:sp>
        <p:nvSpPr>
          <p:cNvPr id="7" name="文本框 6"/>
          <p:cNvSpPr txBox="1"/>
          <p:nvPr>
            <p:custDataLst>
              <p:tags r:id="rId6"/>
            </p:custDataLst>
          </p:nvPr>
        </p:nvSpPr>
        <p:spPr>
          <a:xfrm>
            <a:off x="1659890" y="2097405"/>
            <a:ext cx="9001760" cy="1776095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36525" tIns="136525" rIns="136525" bIns="136525" rtlCol="0">
            <a:noAutofit/>
          </a:bodyPr>
          <a:p>
            <a:r>
              <a:rPr lang="zh-CN" altLang="en-US" sz="1600" b="1"/>
              <a:t>问题场景：</a:t>
            </a:r>
            <a:r>
              <a:rPr lang="zh-CN" altLang="en-US" sz="1600"/>
              <a:t>使用穿透式台账逐层下钻追溯数据时，接口未做好维度隔离，出现跨专业、跨年级数据混淆的情况，专业指标点、课程目标、考核点之间的追溯链路匹配错误。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 b="1"/>
              <a:t>解决经验：</a:t>
            </a:r>
            <a:r>
              <a:rPr lang="zh-CN" altLang="en-US" sz="1600"/>
              <a:t>梳理完整的数据链路与字段映射关系，所有层级的下钻接口都强制携带专业、年级作为过滤条件，查询语句绑定各层级唯一标识 </a:t>
            </a:r>
            <a:r>
              <a:rPr lang="en-US" altLang="zh-CN" sz="1600"/>
              <a:t>ID，</a:t>
            </a:r>
            <a:r>
              <a:rPr lang="zh-CN" altLang="en-US" sz="1600"/>
              <a:t>开发完成后使用双专业、双年级的测试样例多次测试追溯功能，杜绝不同维度的数据互相串扰。</a:t>
            </a:r>
            <a:endParaRPr lang="zh-CN" altLang="en-US" sz="1600"/>
          </a:p>
        </p:txBody>
      </p:sp>
      <p:sp>
        <p:nvSpPr>
          <p:cNvPr id="25" name="AutoShape 12"/>
          <p:cNvSpPr/>
          <p:nvPr/>
        </p:nvSpPr>
        <p:spPr>
          <a:xfrm>
            <a:off x="6920230" y="6626225"/>
            <a:ext cx="1714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endParaRPr lang="en-US" sz="1100" dirty="0"/>
          </a:p>
        </p:txBody>
      </p:sp>
      <p:cxnSp>
        <p:nvCxnSpPr>
          <p:cNvPr id="26" name="Connector 13"/>
          <p:cNvCxnSpPr/>
          <p:nvPr/>
        </p:nvCxnSpPr>
        <p:spPr>
          <a:xfrm rot="-20834">
            <a:off x="6475749" y="7165975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7" name="Connector 18"/>
          <p:cNvCxnSpPr/>
          <p:nvPr/>
        </p:nvCxnSpPr>
        <p:spPr>
          <a:xfrm rot="-20834">
            <a:off x="9079249" y="7165975"/>
            <a:ext cx="2095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8" name="文本框 27"/>
          <p:cNvSpPr txBox="1"/>
          <p:nvPr>
            <p:custDataLst>
              <p:tags r:id="rId7"/>
            </p:custDataLst>
          </p:nvPr>
        </p:nvSpPr>
        <p:spPr>
          <a:xfrm>
            <a:off x="451485" y="3794125"/>
            <a:ext cx="1078865" cy="1045845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noAutofit/>
          </a:bodyPr>
          <a:p>
            <a:r>
              <a:rPr lang="en-US" altLang="zh-CN" sz="6000" b="1">
                <a:solidFill>
                  <a:schemeClr val="accent6">
                    <a:lumMod val="75000"/>
                  </a:schemeClr>
                </a:solidFill>
              </a:rPr>
              <a:t>04</a:t>
            </a:r>
            <a:endParaRPr lang="en-US" altLang="zh-CN" sz="6000" b="1">
              <a:solidFill>
                <a:schemeClr val="accent6">
                  <a:lumMod val="75000"/>
                </a:schemeClr>
              </a:solidFill>
            </a:endParaRPr>
          </a:p>
        </p:txBody>
      </p:sp>
      <p:sp>
        <p:nvSpPr>
          <p:cNvPr id="29" name="文本框 28"/>
          <p:cNvSpPr txBox="1"/>
          <p:nvPr>
            <p:custDataLst>
              <p:tags r:id="rId8"/>
            </p:custDataLst>
          </p:nvPr>
        </p:nvSpPr>
        <p:spPr>
          <a:xfrm>
            <a:off x="1530350" y="4015740"/>
            <a:ext cx="9323070" cy="6032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zh-CN" altLang="en-US" sz="3200" b="1"/>
              <a:t>问题：课程级报表 </a:t>
            </a:r>
            <a:r>
              <a:rPr lang="en-US" altLang="zh-CN" sz="3200" b="1">
                <a:latin typeface="Times New Roman" panose="02020603050405020304" charset="0"/>
                <a:cs typeface="Times New Roman" panose="02020603050405020304" charset="0"/>
              </a:rPr>
              <a:t>PDF</a:t>
            </a:r>
            <a:r>
              <a:rPr lang="en-US" altLang="zh-CN" sz="3200" b="1"/>
              <a:t> </a:t>
            </a:r>
            <a:r>
              <a:rPr lang="zh-CN" altLang="en-US" sz="3200" b="1"/>
              <a:t>导出排版错乱、内容溢出</a:t>
            </a:r>
            <a:endParaRPr lang="zh-CN" altLang="en-US" sz="3200" b="1"/>
          </a:p>
        </p:txBody>
      </p:sp>
      <p:sp>
        <p:nvSpPr>
          <p:cNvPr id="30" name="文本框 29"/>
          <p:cNvSpPr txBox="1"/>
          <p:nvPr>
            <p:custDataLst>
              <p:tags r:id="rId9"/>
            </p:custDataLst>
          </p:nvPr>
        </p:nvSpPr>
        <p:spPr>
          <a:xfrm>
            <a:off x="1595120" y="4734560"/>
            <a:ext cx="9001760" cy="1776095"/>
          </a:xfrm>
          <a:prstGeom prst="rect">
            <a:avLst/>
          </a:prstGeom>
          <a:solidFill>
            <a:schemeClr val="bg1">
              <a:lumMod val="8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lIns="136525" tIns="136525" rIns="136525" bIns="136525" rtlCol="0">
            <a:noAutofit/>
          </a:bodyPr>
          <a:p>
            <a:r>
              <a:rPr lang="zh-CN" altLang="en-US" sz="1600" b="1"/>
              <a:t>问题场景：</a:t>
            </a:r>
            <a:r>
              <a:rPr lang="zh-CN" altLang="en-US" sz="1600"/>
              <a:t>课程级报表包含多项数据列，导出为 </a:t>
            </a:r>
            <a:r>
              <a:rPr lang="en-US" altLang="zh-CN" sz="1600"/>
              <a:t>PDF </a:t>
            </a:r>
            <a:r>
              <a:rPr lang="zh-CN" altLang="en-US" sz="1600"/>
              <a:t>格式后出现列布局错乱、长文本内容超出页面边界的问题，同时不同浏览器下导出的 </a:t>
            </a:r>
            <a:r>
              <a:rPr lang="en-US" altLang="zh-CN" sz="1600"/>
              <a:t>PDF </a:t>
            </a:r>
            <a:r>
              <a:rPr lang="zh-CN" altLang="en-US" sz="1600"/>
              <a:t>样式也存在明显差异。</a:t>
            </a:r>
            <a:endParaRPr lang="zh-CN" altLang="en-US" sz="1600"/>
          </a:p>
          <a:p>
            <a:endParaRPr lang="zh-CN" altLang="en-US" sz="1600"/>
          </a:p>
          <a:p>
            <a:r>
              <a:rPr lang="zh-CN" altLang="en-US" sz="1600" b="1"/>
              <a:t>解决经验：</a:t>
            </a:r>
            <a:r>
              <a:rPr lang="zh-CN" altLang="en-US" sz="1600"/>
              <a:t>选用成熟的前端导出组件，预设标准 </a:t>
            </a:r>
            <a:r>
              <a:rPr lang="en-US" altLang="zh-CN" sz="1600"/>
              <a:t>A4 </a:t>
            </a:r>
            <a:r>
              <a:rPr lang="zh-CN" altLang="en-US" sz="1600"/>
              <a:t>页面尺寸并合理分配每一列宽度，对课程目标等长文本内容做精简处理，统一报表字体、行高、页边距等基础样式，同时在多款主流浏览器中开展兼容性测试，优化渲染规则，保证不同环境下导出的 </a:t>
            </a:r>
            <a:r>
              <a:rPr lang="en-US" altLang="zh-CN" sz="1600"/>
              <a:t>PDF </a:t>
            </a:r>
            <a:r>
              <a:rPr lang="zh-CN" altLang="en-US" sz="1600"/>
              <a:t>排版规整。</a:t>
            </a:r>
            <a:endParaRPr lang="zh-CN" altLang="en-US" sz="1600"/>
          </a:p>
        </p:txBody>
      </p:sp>
      <p:sp>
        <p:nvSpPr>
          <p:cNvPr id="39" name="AutoShape 3"/>
          <p:cNvSpPr/>
          <p:nvPr/>
        </p:nvSpPr>
        <p:spPr>
          <a:xfrm>
            <a:off x="632460" y="382270"/>
            <a:ext cx="10744835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zh-CN" altLang="en-US" sz="3200" b="1" i="0" u="none" strike="noStrike" dirty="0" err="1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本周难点攻克</a:t>
            </a:r>
            <a:endParaRPr lang="zh-CN" altLang="en-US" sz="3200" b="1" i="0" u="none" strike="noStrike" dirty="0" err="1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2794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小组开源协作过程分享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4191000"/>
            <a:ext cx="10160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3"/>
          <p:cNvSpPr/>
          <p:nvPr/>
        </p:nvSpPr>
        <p:spPr>
          <a:xfrm>
            <a:off x="1016000" y="1778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64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02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代码合入 main 之后，发生了什么？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844550" y="1546860"/>
            <a:ext cx="4244340" cy="186309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68350" y="1546860"/>
            <a:ext cx="84455" cy="1863725"/>
          </a:xfrm>
          <a:prstGeom prst="roundRect">
            <a:avLst>
              <a:gd name="adj" fmla="val 0"/>
            </a:avLst>
          </a:prstGeom>
          <a:solidFill>
            <a:srgbClr val="6B72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1097915" y="1624965"/>
            <a:ext cx="3780790" cy="34861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/ 上周回顾：GitHub Flow</a:t>
            </a:r>
            <a:endParaRPr lang="en-US" sz="1100"/>
          </a:p>
        </p:txBody>
      </p:sp>
      <p:cxnSp>
        <p:nvCxnSpPr>
          <p:cNvPr id="7" name="Connector 7"/>
          <p:cNvCxnSpPr/>
          <p:nvPr>
            <p:custDataLst>
              <p:tags r:id="rId4"/>
            </p:custDataLst>
          </p:nvPr>
        </p:nvCxnSpPr>
        <p:spPr>
          <a:xfrm flipV="1">
            <a:off x="1097898" y="2084878"/>
            <a:ext cx="3788410" cy="33655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>
            <p:custDataLst>
              <p:tags r:id="rId5"/>
            </p:custDataLst>
          </p:nvPr>
        </p:nvSpPr>
        <p:spPr>
          <a:xfrm>
            <a:off x="1097915" y="2118995"/>
            <a:ext cx="3780790" cy="12058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我们分享了代码如何从个人分支有序合入主分支 (main) 的协作流程。这是团队开发的基石，确保了代码提交的规范性和安全性，解决了“代码怎么来”的问题。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6"/>
            </p:custDataLst>
          </p:nvPr>
        </p:nvSpPr>
        <p:spPr>
          <a:xfrm>
            <a:off x="869950" y="3625215"/>
            <a:ext cx="4244340" cy="1953895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7"/>
            </p:custDataLst>
          </p:nvPr>
        </p:nvSpPr>
        <p:spPr>
          <a:xfrm>
            <a:off x="801370" y="3625215"/>
            <a:ext cx="76200" cy="1953895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>
            <p:custDataLst>
              <p:tags r:id="rId8"/>
            </p:custDataLst>
          </p:nvPr>
        </p:nvSpPr>
        <p:spPr>
          <a:xfrm>
            <a:off x="1098550" y="3740150"/>
            <a:ext cx="4015740" cy="43624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6A34A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/ 本周主题：自动化交付 (CI/CD)</a:t>
            </a:r>
            <a:endParaRPr lang="en-US" sz="1100"/>
          </a:p>
        </p:txBody>
      </p:sp>
      <p:cxnSp>
        <p:nvCxnSpPr>
          <p:cNvPr id="13" name="Connector 13"/>
          <p:cNvCxnSpPr/>
          <p:nvPr>
            <p:custDataLst>
              <p:tags r:id="rId9"/>
            </p:custDataLst>
          </p:nvPr>
        </p:nvCxnSpPr>
        <p:spPr>
          <a:xfrm flipV="1">
            <a:off x="1098484" y="4268643"/>
            <a:ext cx="4023360" cy="33655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>
            <p:custDataLst>
              <p:tags r:id="rId10"/>
            </p:custDataLst>
          </p:nvPr>
        </p:nvSpPr>
        <p:spPr>
          <a:xfrm>
            <a:off x="1098550" y="4267835"/>
            <a:ext cx="3813175" cy="121856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当代码合入 main 后，自动化流程正式启动。我们将深入探讨代码如何自动构建、自动部署到生产环境，以及如何通过自动化测试和监控，确保每一次上线都平稳可靠，不“翻车”。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5773420"/>
            <a:ext cx="10858500" cy="762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1016000" y="5925820"/>
            <a:ext cx="3048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核心自动化链路：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5285450">
            <a:off x="4000500" y="6148176"/>
            <a:ext cx="38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66534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4445000" y="5925820"/>
            <a:ext cx="6731000" cy="457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自动构建代码 → 自动化运行测试 → 自动部署至目标环境 → 全链路监控告警</a:t>
            </a:r>
            <a:endParaRPr lang="en-US" sz="1100"/>
          </a:p>
        </p:txBody>
      </p:sp>
      <p:pic>
        <p:nvPicPr>
          <p:cNvPr id="19" name="图片 18" descr="359477975befd3dc52e0736782be3a11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882640" y="1548130"/>
            <a:ext cx="5738495" cy="397129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开发协作中的那些“经典”瞬间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429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2032000"/>
            <a:ext cx="3429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349500"/>
            <a:ext cx="457200" cy="4572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016000" y="3111500"/>
            <a:ext cx="292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“我本地能跑啊，你自己拉下来试试”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14946">
            <a:off x="1016014" y="4184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016000" y="4445000"/>
            <a:ext cx="2921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本地环境与服务器环境不一致，导致“在我这是好的”成为团队口头禅，问题复现和排查极其困难，浪费大量沟通成本。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381500" y="2032000"/>
            <a:ext cx="3429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4381500" y="2032000"/>
            <a:ext cx="3429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5500" y="2349500"/>
            <a:ext cx="457200" cy="457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4635500" y="3111500"/>
            <a:ext cx="292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“谁又把构建失败的代码合进 main 了？？”</a:t>
            </a:r>
            <a:endParaRPr lang="en-US" sz="1100"/>
          </a:p>
        </p:txBody>
      </p:sp>
      <p:cxnSp>
        <p:nvCxnSpPr>
          <p:cNvPr id="14" name="Connector 14"/>
          <p:cNvCxnSpPr/>
          <p:nvPr/>
        </p:nvCxnSpPr>
        <p:spPr>
          <a:xfrm rot="-14946">
            <a:off x="4635514" y="4184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/>
        </p:nvSpPr>
        <p:spPr>
          <a:xfrm>
            <a:off x="4635500" y="4445000"/>
            <a:ext cx="2921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缺乏自动化检查机制，代码质量无法保证，破坏主干分支的稳定性，导致团队成员频繁被打断工作，整体开发节奏被打乱。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001000" y="2032000"/>
            <a:ext cx="3429000" cy="3556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8001000" y="2032000"/>
            <a:ext cx="3429000" cy="508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55000" y="2349500"/>
            <a:ext cx="457200" cy="4572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8255000" y="3111500"/>
            <a:ext cx="292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“服务器上怎么部署的来着？文档呢？”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14946">
            <a:off x="8255014" y="4184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5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8255000" y="4445000"/>
            <a:ext cx="2921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部署流程过度依赖人工操作和文档说明，步骤繁琐易出错，不仅效率低下，还容易造成关键运维知识无法有效沉淀和传承。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我们的自动化“门卫”团队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588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我们在仓库的 .github/workflows/ 目录下定义了四条关键的流水线，它们像一个分工明确的团队，各司其职、紧密协作，共同构成了代码质量的坚实防线。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667000"/>
            <a:ext cx="5588000" cy="8636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762000" y="2667000"/>
            <a:ext cx="76200" cy="8636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2730500"/>
            <a:ext cx="52070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ci.yml — 合并检查的最终防线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代码合并前自动触发，联动前后端全量检查，确保主分支代码无集成冲突与潜在风险，是质量把关的核心关卡。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762000" y="3746500"/>
            <a:ext cx="5588000" cy="8636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762000" y="3746500"/>
            <a:ext cx="76200" cy="863600"/>
          </a:xfrm>
          <a:prstGeom prst="roundRect">
            <a:avLst>
              <a:gd name="adj" fmla="val 0"/>
            </a:avLst>
          </a:prstGeom>
          <a:solidFill>
            <a:srgbClr val="22C55E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016000" y="3810000"/>
            <a:ext cx="5207000" cy="736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backend-check.yml — 后端代码的专项守卫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精准监听 member/** 分支 Push 事件，自动执行单元测试与代码规范扫描，在代码提交初期快速拦截后端问题。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762000" y="4826000"/>
            <a:ext cx="2730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762000" y="4826000"/>
            <a:ext cx="762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5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1016000" y="4889500"/>
            <a:ext cx="2349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altLang="zh-CN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frontend-check.yml</a:t>
            </a:r>
            <a:endParaRPr lang="en-US" altLang="zh-CN" sz="15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前端代码专项校验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针对前端代码自动校验 ESLint 规范、执行构建流程，确保用户界面相关代码的规范性与可维护性。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3619500" y="4826000"/>
            <a:ext cx="27305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3619500" y="4826000"/>
            <a:ext cx="76200" cy="1397000"/>
          </a:xfrm>
          <a:prstGeom prst="roundRect">
            <a:avLst>
              <a:gd name="adj" fmla="val 0"/>
            </a:avLst>
          </a:prstGeom>
          <a:solidFill>
            <a:srgbClr val="22C55E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3873500" y="4889500"/>
            <a:ext cx="2349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altLang="zh-CN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deploy-dev.yml</a:t>
            </a:r>
            <a:endParaRPr lang="en-US" altLang="zh-CN" sz="1500" b="1" i="0" u="none" strike="noStrike">
              <a:solidFill>
                <a:srgbClr val="1F293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开发环境自动部署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仅监听 main 分支变更，自动触发 Dev 环境部署，实现主干代码的持续交付，让团队能即时验证最新功能。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7" name="Connector 17"/>
          <p:cNvCxnSpPr/>
          <p:nvPr/>
        </p:nvCxnSpPr>
        <p:spPr>
          <a:xfrm flipH="1">
            <a:off x="6604000" y="1541706"/>
            <a:ext cx="23914" cy="4681314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6858000" y="1640205"/>
            <a:ext cx="5113655" cy="3693795"/>
          </a:xfrm>
          <a:prstGeom prst="roundRect">
            <a:avLst>
              <a:gd name="adj" fmla="val 0"/>
            </a:avLst>
          </a:prstGeom>
          <a:solidFill>
            <a:srgbClr val="E5E7EB">
              <a:alpha val="8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/>
        </p:nvSpPr>
        <p:spPr>
          <a:xfrm>
            <a:off x="7148830" y="5601970"/>
            <a:ext cx="4572000" cy="83185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GitHub Actions 流水线运行看板</a:t>
            </a:r>
            <a:endParaRPr lang="en-US" sz="1100"/>
          </a:p>
          <a:p>
            <a:pPr marL="0" indent="0" algn="ctr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实时可视化展示四条核心 workflow 的执行状态、历史记录与成功率，让每一次代码变更都可追踪、可监控。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3" name="图片 2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42760" y="1640205"/>
            <a:ext cx="5128895" cy="4012565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流水线什么时候跑？触发器设计</a:t>
            </a:r>
            <a:endParaRPr lang="en-US" sz="1100"/>
          </a:p>
        </p:txBody>
      </p:sp>
      <p:graphicFrame>
        <p:nvGraphicFramePr>
          <p:cNvPr id="4" name="Table 4"/>
          <p:cNvGraphicFramePr>
            <a:graphicFrameLocks noGrp="1"/>
          </p:cNvGraphicFramePr>
          <p:nvPr>
            <p:custDataLst>
              <p:tags r:id="rId1"/>
            </p:custDataLst>
          </p:nvPr>
        </p:nvGraphicFramePr>
        <p:xfrm>
          <a:off x="1007110" y="4265295"/>
          <a:ext cx="9699625" cy="2286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2540635"/>
                <a:gridCol w="3348355"/>
                <a:gridCol w="3810635"/>
              </a:tblGrid>
              <a:tr h="487680"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流水线名称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22C5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>
                        <a:alpha val="1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触发条件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22C5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>
                        <a:alpha val="15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marL="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500" b="1" i="0" u="none" strike="noStrike">
                          <a:solidFill>
                            <a:srgbClr val="1F2937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设计意图与目标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 cap="flat" cmpd="sng" algn="ctr">
                      <a:solidFill>
                        <a:srgbClr val="22C5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>
                        <a:alpha val="15000"/>
                      </a:srgbClr>
                    </a:solidFill>
                  </a:tcPr>
                </a:tc>
              </a:tr>
              <a:tr h="599440">
                <a:tc>
                  <a:txBody>
                    <a:bodyPr rtlCol="0"/>
                    <a:lstStyle/>
                    <a:p>
                      <a:pPr marL="12700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backend-check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22C5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12700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B556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main 分支及 member/** 分支的 push 操作与 PR 请求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22C5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12700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B556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个人分支每一次提交都自动检查，确保代码问题在开发阶段暴露，绝不留到次日。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25400" cap="flat" cmpd="sng" algn="ctr">
                      <a:solidFill>
                        <a:srgbClr val="22C5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99440">
                <a:tc>
                  <a:txBody>
                    <a:bodyPr rtlCol="0"/>
                    <a:lstStyle/>
                    <a:p>
                      <a:pPr marL="12700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frontend-check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12700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B556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main 分支及 member/** 分支的 push 操作与 PR 请求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12700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B556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前后端流水线完全独立运行，任务解耦，互不阻塞，最大化提升代码检查的反馈速度。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99440">
                <a:tc>
                  <a:txBody>
                    <a:bodyPr rtlCol="0"/>
                    <a:lstStyle/>
                    <a:p>
                      <a:pPr marL="12700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1" i="0" u="none" strike="noStrike">
                          <a:solidFill>
                            <a:srgbClr val="374151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ci (集成检查)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12700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B556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仅针对 main 分支的 push 操作与 PR 请求触发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 rtlCol="0"/>
                    <a:lstStyle/>
                    <a:p>
                      <a:pPr marL="127000"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300" b="0" i="0" u="none" strike="noStrike">
                          <a:solidFill>
                            <a:srgbClr val="4B5563"/>
                          </a:solidFill>
                          <a:latin typeface="Noto Sans SC" panose="020B0200000000000000" charset="-122"/>
                          <a:ea typeface="Noto Sans SC" panose="020B0200000000000000" charset="-122"/>
                          <a:cs typeface="Noto Sans SC" panose="020B0200000000000000" charset="-122"/>
                          <a:sym typeface="Noto Sans SC" panose="020B0200000000000000" charset="-122"/>
                        </a:rPr>
                        <a:t>代码合并入主分支前的最终质量防线，执行最全面的集成测试，确保主干代码绝对稳定。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1F293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  <p:pic>
        <p:nvPicPr>
          <p:cNvPr id="18" name="图片 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7110" y="1628140"/>
            <a:ext cx="9700260" cy="242316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自动化检查的核心步骤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715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76200" cy="1714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6256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后端构建 (backend-check.yml)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8384">
            <a:off x="1016008" y="2089150"/>
            <a:ext cx="520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2222500"/>
            <a:ext cx="520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拉取代码后，先校验 pom.xml 文件是否存在；若存在，配置 Temurin JDK 21 环境，执行 `mvn clean package -DskipTests` 完成编译打包，跳过测试以提升流水线速度。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3429000"/>
            <a:ext cx="5715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762000" y="3429000"/>
            <a:ext cx="76200" cy="1714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1016000" y="35306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前端构建 (frontend-check.yml)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8384">
            <a:off x="1016008" y="3994150"/>
            <a:ext cx="520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1016000" y="4127500"/>
            <a:ext cx="5207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检出代码并确认 package.json 存在后，Setup Node.js 22；关键步骤使用 `npm ci` 而非 `install` 以严格匹配 lock 文件版本，最后执行 `npm run build` 完成静态资源构建。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62000" y="5461000"/>
            <a:ext cx="1841500" cy="1143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9000" y="55880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270000" y="5562600"/>
            <a:ext cx="1270000" cy="939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依赖一致性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 npm ci 严格遵循 lock 文件，杜绝环境差异导致的构建失败。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2755900" y="5461000"/>
            <a:ext cx="1841500" cy="1143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82900" y="55880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3263900" y="5562600"/>
            <a:ext cx="1270000" cy="939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条件式执行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前置检测项目特征文件，避免空项目或非相关分支触发流程报错。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4749800" y="5461000"/>
            <a:ext cx="1841500" cy="1143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876800" y="55880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5257800" y="5562600"/>
            <a:ext cx="1270000" cy="939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环境标准化</a:t>
            </a:r>
            <a:endParaRPr lang="en-US" sz="1100"/>
          </a:p>
          <a:p>
            <a:pPr marL="0" indent="0" algn="l">
              <a:lnSpc>
                <a:spcPct val="100000"/>
              </a:lnSpc>
            </a:pPr>
            <a:r>
              <a:rPr lang="en-US" sz="11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统一使用 Temurin JDK 21，与本地开发环境保持一致，减少兼容问题。</a:t>
            </a:r>
            <a:endParaRPr lang="en-US" sz="11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6985000" y="1524000"/>
            <a:ext cx="4445000" cy="3619500"/>
          </a:xfrm>
          <a:prstGeom prst="roundRect">
            <a:avLst>
              <a:gd name="adj" fmla="val 0"/>
            </a:avLst>
          </a:prstGeom>
          <a:solidFill>
            <a:srgbClr val="F3F4F6">
              <a:alpha val="9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699500" y="2667000"/>
            <a:ext cx="1016000" cy="10160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7112000" y="3937000"/>
            <a:ext cx="419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[图片占位符: 自动化流水线运行日志截图]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9CA3A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清晰展示 Set up job、Checkout、环境配置与构建执行的完整流程节点。</a:t>
            </a:r>
            <a:endParaRPr lang="en-US" sz="1200" b="0" i="0" u="none" strike="noStrike">
              <a:solidFill>
                <a:srgbClr val="9CA3A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6" name="AutoShape 26"/>
          <p:cNvSpPr/>
          <p:nvPr/>
        </p:nvSpPr>
        <p:spPr>
          <a:xfrm>
            <a:off x="6985000" y="5461000"/>
            <a:ext cx="4445000" cy="1143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7" name="AutoShape 27"/>
          <p:cNvSpPr/>
          <p:nvPr/>
        </p:nvSpPr>
        <p:spPr>
          <a:xfrm>
            <a:off x="7112000" y="5562600"/>
            <a:ext cx="4191000" cy="939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流程可视化与可追溯性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通过日志截图可直观回溯每一步执行状态，无论是成功构建还是异常报错，都能快速定位问题环节，确保自动化检查过程透明、可控。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8" name="图片 27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985000" y="1524000"/>
            <a:ext cx="4796155" cy="362712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 GitHub 到服务器的旅程：部署架构总览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762000" y="2032000"/>
            <a:ext cx="33020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 l="4843" r="4843"/>
          <a:stretch>
            <a:fillRect/>
          </a:stretch>
        </p:blipFill>
        <p:spPr>
          <a:xfrm>
            <a:off x="952500" y="2222500"/>
            <a:ext cx="1270000" cy="1270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>
            <p:custDataLst>
              <p:tags r:id="rId4"/>
            </p:custDataLst>
          </p:nvPr>
        </p:nvSpPr>
        <p:spPr>
          <a:xfrm>
            <a:off x="2349500" y="2222500"/>
            <a:ext cx="1587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代码源头发起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开发者 Push 代码至 GitHub main 分支，触发自动化流水线的起点。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7" name="Connector 7"/>
          <p:cNvCxnSpPr/>
          <p:nvPr>
            <p:custDataLst>
              <p:tags r:id="rId5"/>
            </p:custDataLst>
          </p:nvPr>
        </p:nvCxnSpPr>
        <p:spPr>
          <a:xfrm rot="-14946">
            <a:off x="952514" y="3803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>
            <p:custDataLst>
              <p:tags r:id="rId6"/>
            </p:custDataLst>
          </p:nvPr>
        </p:nvSpPr>
        <p:spPr>
          <a:xfrm>
            <a:off x="952500" y="3937000"/>
            <a:ext cx="292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核心机制：基于 Git 版本控制的 Webhook 自动触发，确保代码变更即时同步。</a:t>
            </a:r>
            <a:endParaRPr lang="en-US" sz="1100"/>
          </a:p>
        </p:txBody>
      </p:sp>
      <p:cxnSp>
        <p:nvCxnSpPr>
          <p:cNvPr id="9" name="Connector 9"/>
          <p:cNvCxnSpPr/>
          <p:nvPr>
            <p:custDataLst>
              <p:tags r:id="rId7"/>
            </p:custDataLst>
          </p:nvPr>
        </p:nvCxnSpPr>
        <p:spPr>
          <a:xfrm rot="-171744">
            <a:off x="4254659" y="3549650"/>
            <a:ext cx="25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2C55E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sp>
        <p:nvSpPr>
          <p:cNvPr id="10" name="AutoShape 10"/>
          <p:cNvSpPr/>
          <p:nvPr>
            <p:custDataLst>
              <p:tags r:id="rId8"/>
            </p:custDataLst>
          </p:nvPr>
        </p:nvSpPr>
        <p:spPr>
          <a:xfrm>
            <a:off x="4572000" y="2032000"/>
            <a:ext cx="33020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/>
          <a:srcRect l="23750" r="23749"/>
          <a:stretch>
            <a:fillRect/>
          </a:stretch>
        </p:blipFill>
        <p:spPr>
          <a:xfrm>
            <a:off x="4762500" y="2222500"/>
            <a:ext cx="1270000" cy="1270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2" name="AutoShape 12"/>
          <p:cNvSpPr/>
          <p:nvPr>
            <p:custDataLst>
              <p:tags r:id="rId11"/>
            </p:custDataLst>
          </p:nvPr>
        </p:nvSpPr>
        <p:spPr>
          <a:xfrm>
            <a:off x="6159500" y="2221865"/>
            <a:ext cx="1659890" cy="106807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自动化构建传输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云端运行预定义工作流，完成编译构建，并安全传输产物至目标服务器。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3" name="Connector 13"/>
          <p:cNvCxnSpPr/>
          <p:nvPr>
            <p:custDataLst>
              <p:tags r:id="rId12"/>
            </p:custDataLst>
          </p:nvPr>
        </p:nvCxnSpPr>
        <p:spPr>
          <a:xfrm rot="-14946">
            <a:off x="4762514" y="3803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>
            <p:custDataLst>
              <p:tags r:id="rId13"/>
            </p:custDataLst>
          </p:nvPr>
        </p:nvSpPr>
        <p:spPr>
          <a:xfrm>
            <a:off x="4762500" y="3937000"/>
            <a:ext cx="292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关键步骤：前端 Build 打包、后端 Package 编译、SCP 加密传输应用产物。</a:t>
            </a:r>
            <a:endParaRPr lang="en-US" sz="1100"/>
          </a:p>
        </p:txBody>
      </p:sp>
      <p:cxnSp>
        <p:nvCxnSpPr>
          <p:cNvPr id="15" name="Connector 15"/>
          <p:cNvCxnSpPr/>
          <p:nvPr>
            <p:custDataLst>
              <p:tags r:id="rId14"/>
            </p:custDataLst>
          </p:nvPr>
        </p:nvCxnSpPr>
        <p:spPr>
          <a:xfrm rot="-171744">
            <a:off x="8064659" y="3549650"/>
            <a:ext cx="254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2C55E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sp>
        <p:nvSpPr>
          <p:cNvPr id="16" name="AutoShape 16"/>
          <p:cNvSpPr/>
          <p:nvPr>
            <p:custDataLst>
              <p:tags r:id="rId15"/>
            </p:custDataLst>
          </p:nvPr>
        </p:nvSpPr>
        <p:spPr>
          <a:xfrm>
            <a:off x="8382000" y="2032000"/>
            <a:ext cx="3302000" cy="304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>
            <p:custDataLst>
              <p:tags r:id="rId16"/>
            </p:custDataLst>
          </p:nvPr>
        </p:nvPicPr>
        <p:blipFill>
          <a:blip r:embed="rId17"/>
          <a:srcRect l="21875" r="21875"/>
          <a:stretch>
            <a:fillRect/>
          </a:stretch>
        </p:blipFill>
        <p:spPr>
          <a:xfrm>
            <a:off x="8572500" y="2222500"/>
            <a:ext cx="1270000" cy="1270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8" name="AutoShape 18"/>
          <p:cNvSpPr/>
          <p:nvPr>
            <p:custDataLst>
              <p:tags r:id="rId18"/>
            </p:custDataLst>
          </p:nvPr>
        </p:nvSpPr>
        <p:spPr>
          <a:xfrm>
            <a:off x="9969500" y="2222500"/>
            <a:ext cx="1587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服务器端部署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接收构建产物，通过容器化技术部署服务，实现高可用的线上运行环境。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9" name="Connector 19"/>
          <p:cNvCxnSpPr/>
          <p:nvPr>
            <p:custDataLst>
              <p:tags r:id="rId19"/>
            </p:custDataLst>
          </p:nvPr>
        </p:nvCxnSpPr>
        <p:spPr>
          <a:xfrm rot="-14946">
            <a:off x="8572514" y="3803650"/>
            <a:ext cx="292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0" name="AutoShape 20"/>
          <p:cNvSpPr/>
          <p:nvPr>
            <p:custDataLst>
              <p:tags r:id="rId20"/>
            </p:custDataLst>
          </p:nvPr>
        </p:nvSpPr>
        <p:spPr>
          <a:xfrm>
            <a:off x="8572500" y="3937000"/>
            <a:ext cx="2921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架构细节：Nginx 监听 80 端口做反向代理，Docker 容器隔离前后端服务进程。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5588000"/>
            <a:ext cx="10922000" cy="8255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016000" y="5740400"/>
            <a:ext cx="406400" cy="4064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1651000" y="5689600"/>
            <a:ext cx="9779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通过全自动化的 CI/CD 流水线，实现了从代码提交到线上服务更新的无缝衔接，Nginx 与 Docker 的组合保障了服务的稳定性与扩展性，极大降低了人工部署的风险与成本。</a:t>
            </a:r>
            <a:endParaRPr lang="en-US"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自动化部署的五个阶段 (阶段1&amp;2)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762000" y="1651000"/>
            <a:ext cx="5715635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62000" y="1651000"/>
            <a:ext cx="76200" cy="2222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1016000" y="17780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构建：基于 GitHub Actions 流水线</a:t>
            </a:r>
            <a:endParaRPr lang="en-US" sz="1100"/>
          </a:p>
        </p:txBody>
      </p:sp>
      <p:cxnSp>
        <p:nvCxnSpPr>
          <p:cNvPr id="7" name="Connector 7"/>
          <p:cNvCxnSpPr/>
          <p:nvPr>
            <p:custDataLst>
              <p:tags r:id="rId4"/>
            </p:custDataLst>
          </p:nvPr>
        </p:nvCxnSpPr>
        <p:spPr>
          <a:xfrm rot="-8384">
            <a:off x="1016008" y="2279650"/>
            <a:ext cx="520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>
            <p:custDataLst>
              <p:tags r:id="rId5"/>
            </p:custDataLst>
          </p:nvPr>
        </p:nvSpPr>
        <p:spPr>
          <a:xfrm>
            <a:off x="1016000" y="2413000"/>
            <a:ext cx="2540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标准化构建命令：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前端执行 `npm ci &amp;&amp; npm run build`，后端通过 `mvnw` 跳过测试打包，确保环境一致性。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9" name="Connector 9"/>
          <p:cNvCxnSpPr/>
          <p:nvPr>
            <p:custDataLst>
              <p:tags r:id="rId6"/>
            </p:custDataLst>
          </p:nvPr>
        </p:nvCxnSpPr>
        <p:spPr>
          <a:xfrm rot="5363814">
            <a:off x="3079750" y="3009933"/>
            <a:ext cx="1206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>
            <p:custDataLst>
              <p:tags r:id="rId7"/>
            </p:custDataLst>
          </p:nvPr>
        </p:nvSpPr>
        <p:spPr>
          <a:xfrm>
            <a:off x="3810000" y="2413000"/>
            <a:ext cx="2476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设计考量：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利用云端算力，避免占用服务器资源；构建日志全量留存于 GitHub，便于故障回溯与审计。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>
            <p:custDataLst>
              <p:tags r:id="rId8"/>
            </p:custDataLst>
          </p:nvPr>
        </p:nvSpPr>
        <p:spPr>
          <a:xfrm>
            <a:off x="762000" y="4191000"/>
            <a:ext cx="57150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8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>
            <p:custDataLst>
              <p:tags r:id="rId9"/>
            </p:custDataLst>
          </p:nvPr>
        </p:nvSpPr>
        <p:spPr>
          <a:xfrm>
            <a:off x="762000" y="4191000"/>
            <a:ext cx="76200" cy="2222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>
            <p:custDataLst>
              <p:tags r:id="rId10"/>
            </p:custDataLst>
          </p:nvPr>
        </p:nvSpPr>
        <p:spPr>
          <a:xfrm>
            <a:off x="1016000" y="4318000"/>
            <a:ext cx="5207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传输：SCP 混合传输策略</a:t>
            </a:r>
            <a:endParaRPr lang="en-US" sz="1100"/>
          </a:p>
        </p:txBody>
      </p:sp>
      <p:cxnSp>
        <p:nvCxnSpPr>
          <p:cNvPr id="14" name="Connector 14"/>
          <p:cNvCxnSpPr/>
          <p:nvPr>
            <p:custDataLst>
              <p:tags r:id="rId11"/>
            </p:custDataLst>
          </p:nvPr>
        </p:nvCxnSpPr>
        <p:spPr>
          <a:xfrm rot="-8384">
            <a:off x="1016008" y="4819650"/>
            <a:ext cx="5207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5" name="AutoShape 15"/>
          <p:cNvSpPr/>
          <p:nvPr>
            <p:custDataLst>
              <p:tags r:id="rId12"/>
            </p:custDataLst>
          </p:nvPr>
        </p:nvSpPr>
        <p:spPr>
          <a:xfrm>
            <a:off x="1016000" y="4953000"/>
            <a:ext cx="25400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双轨同步机制：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源码通过 `git fetch + reset` 保证版本基线；构建产物直接 `scp` 覆盖，避免服务端二次编译耗时。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6" name="Connector 16"/>
          <p:cNvCxnSpPr/>
          <p:nvPr>
            <p:custDataLst>
              <p:tags r:id="rId13"/>
            </p:custDataLst>
          </p:nvPr>
        </p:nvCxnSpPr>
        <p:spPr>
          <a:xfrm rot="5363814">
            <a:off x="3079750" y="5549933"/>
            <a:ext cx="1206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>
            <p:custDataLst>
              <p:tags r:id="rId14"/>
            </p:custDataLst>
          </p:nvPr>
        </p:nvSpPr>
        <p:spPr>
          <a:xfrm>
            <a:off x="3810000" y="4953000"/>
            <a:ext cx="2476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核心优势：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分离传输最大化效率，既保证了服务器上代码仓库的整洁，又通过二进制传输加速了部署交付流程。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3" name="直接箭头连接符 22"/>
          <p:cNvCxnSpPr>
            <a:endCxn id="30" idx="1"/>
          </p:cNvCxnSpPr>
          <p:nvPr/>
        </p:nvCxnSpPr>
        <p:spPr>
          <a:xfrm flipV="1">
            <a:off x="6477635" y="1943100"/>
            <a:ext cx="1064260" cy="81915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27" name="直接箭头连接符 26"/>
          <p:cNvCxnSpPr>
            <a:stCxn id="4" idx="3"/>
            <a:endCxn id="28" idx="1"/>
          </p:cNvCxnSpPr>
          <p:nvPr/>
        </p:nvCxnSpPr>
        <p:spPr>
          <a:xfrm>
            <a:off x="6477635" y="2762250"/>
            <a:ext cx="1064260" cy="75120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28" name="图片 27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541895" y="2927350"/>
            <a:ext cx="3524250" cy="1171575"/>
          </a:xfrm>
          <a:prstGeom prst="rect">
            <a:avLst/>
          </a:prstGeom>
        </p:spPr>
      </p:pic>
      <p:pic>
        <p:nvPicPr>
          <p:cNvPr id="30" name="图片 29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7541895" y="1123950"/>
            <a:ext cx="3657600" cy="1638300"/>
          </a:xfrm>
          <a:prstGeom prst="rect">
            <a:avLst/>
          </a:prstGeom>
        </p:spPr>
      </p:pic>
      <p:pic>
        <p:nvPicPr>
          <p:cNvPr id="31" name="图片 30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6948805" y="5045710"/>
            <a:ext cx="5106035" cy="819150"/>
          </a:xfrm>
          <a:prstGeom prst="rect">
            <a:avLst/>
          </a:prstGeom>
        </p:spPr>
      </p:pic>
      <p:cxnSp>
        <p:nvCxnSpPr>
          <p:cNvPr id="32" name="直接箭头连接符 31"/>
          <p:cNvCxnSpPr>
            <a:stCxn id="11" idx="3"/>
            <a:endCxn id="31" idx="1"/>
          </p:cNvCxnSpPr>
          <p:nvPr/>
        </p:nvCxnSpPr>
        <p:spPr>
          <a:xfrm>
            <a:off x="6477000" y="5302250"/>
            <a:ext cx="471805" cy="153035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自动化部署的核心亮点：安全与可靠 (阶段3&amp;4)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762000" y="1651000"/>
            <a:ext cx="52705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>
            <p:custDataLst>
              <p:tags r:id="rId2"/>
            </p:custDataLst>
          </p:nvPr>
        </p:nvSpPr>
        <p:spPr>
          <a:xfrm>
            <a:off x="762000" y="1651000"/>
            <a:ext cx="76200" cy="2286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>
            <p:custDataLst>
              <p:tags r:id="rId3"/>
            </p:custDataLst>
          </p:nvPr>
        </p:nvSpPr>
        <p:spPr>
          <a:xfrm>
            <a:off x="1016000" y="1841500"/>
            <a:ext cx="476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阶段 3：环境校验</a:t>
            </a:r>
            <a:endParaRPr lang="en-US" sz="1100"/>
          </a:p>
        </p:txBody>
      </p:sp>
      <p:cxnSp>
        <p:nvCxnSpPr>
          <p:cNvPr id="7" name="Connector 7"/>
          <p:cNvCxnSpPr/>
          <p:nvPr>
            <p:custDataLst>
              <p:tags r:id="rId4"/>
            </p:custDataLst>
          </p:nvPr>
        </p:nvCxnSpPr>
        <p:spPr>
          <a:xfrm rot="-9167">
            <a:off x="1016008" y="2343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>
            <p:custDataLst>
              <p:tags r:id="rId5"/>
            </p:custDataLst>
          </p:nvPr>
        </p:nvSpPr>
        <p:spPr>
          <a:xfrm>
            <a:off x="1016000" y="2540000"/>
            <a:ext cx="4762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关键动作：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强制校验 .env 文件完整性，逐项检查 SPRING_DATASOURCE_URL、JWT_SECRET 等核心变量。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部署前置关卡，彻底杜绝因配置缺失或错误导致的应用启动崩溃，从源头保障运行环境合规。</a:t>
            </a:r>
            <a:endParaRPr lang="en-US" sz="14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>
            <p:custDataLst>
              <p:tags r:id="rId6"/>
            </p:custDataLst>
          </p:nvPr>
        </p:nvSpPr>
        <p:spPr>
          <a:xfrm>
            <a:off x="6286500" y="1651000"/>
            <a:ext cx="5270500" cy="2286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>
            <p:custDataLst>
              <p:tags r:id="rId7"/>
            </p:custDataLst>
          </p:nvPr>
        </p:nvSpPr>
        <p:spPr>
          <a:xfrm>
            <a:off x="6286500" y="1651000"/>
            <a:ext cx="76200" cy="2286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>
            <p:custDataLst>
              <p:tags r:id="rId8"/>
            </p:custDataLst>
          </p:nvPr>
        </p:nvSpPr>
        <p:spPr>
          <a:xfrm>
            <a:off x="6540500" y="1841500"/>
            <a:ext cx="4762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阶段 4：启动 + 健康检查闭环</a:t>
            </a:r>
            <a:endParaRPr lang="en-US" sz="1100"/>
          </a:p>
        </p:txBody>
      </p:sp>
      <p:cxnSp>
        <p:nvCxnSpPr>
          <p:cNvPr id="12" name="Connector 12"/>
          <p:cNvCxnSpPr/>
          <p:nvPr>
            <p:custDataLst>
              <p:tags r:id="rId9"/>
            </p:custDataLst>
          </p:nvPr>
        </p:nvCxnSpPr>
        <p:spPr>
          <a:xfrm rot="-9167">
            <a:off x="6540508" y="2343150"/>
            <a:ext cx="4762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1F2937">
                <a:alpha val="1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>
            <p:custDataLst>
              <p:tags r:id="rId10"/>
            </p:custDataLst>
          </p:nvPr>
        </p:nvSpPr>
        <p:spPr>
          <a:xfrm>
            <a:off x="6540500" y="2540000"/>
            <a:ext cx="4762500" cy="1206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执行流程：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平滑替换新旧进程后，启动主动健康检查机制，以2秒为间隔循环探测30次（60秒超时），成功则继续，失败则自动打印诊断日志并终止流程。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设计优势：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超时兜底防止无限等待，失败自动留痕让问题排查有据可依，确保服务上线状态可控。</a:t>
            </a:r>
            <a:endParaRPr lang="en-US" sz="14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29" name="图片 28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268605" y="4271010"/>
            <a:ext cx="4068445" cy="1618615"/>
          </a:xfrm>
          <a:prstGeom prst="rect">
            <a:avLst/>
          </a:prstGeom>
        </p:spPr>
      </p:pic>
      <p:cxnSp>
        <p:nvCxnSpPr>
          <p:cNvPr id="30" name="直接箭头连接符 29"/>
          <p:cNvCxnSpPr>
            <a:stCxn id="4" idx="2"/>
            <a:endCxn id="29" idx="0"/>
          </p:cNvCxnSpPr>
          <p:nvPr>
            <p:custDataLst>
              <p:tags r:id="rId13"/>
            </p:custDataLst>
          </p:nvPr>
        </p:nvCxnSpPr>
        <p:spPr>
          <a:xfrm flipH="1">
            <a:off x="2303145" y="3937000"/>
            <a:ext cx="1094105" cy="33401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2" name="图片 31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442075" y="4445000"/>
            <a:ext cx="4860925" cy="2162175"/>
          </a:xfrm>
          <a:prstGeom prst="rect">
            <a:avLst/>
          </a:prstGeom>
        </p:spPr>
      </p:pic>
      <p:cxnSp>
        <p:nvCxnSpPr>
          <p:cNvPr id="33" name="直接箭头连接符 32"/>
          <p:cNvCxnSpPr>
            <a:stCxn id="9" idx="2"/>
            <a:endCxn id="32" idx="0"/>
          </p:cNvCxnSpPr>
          <p:nvPr/>
        </p:nvCxnSpPr>
        <p:spPr>
          <a:xfrm flipH="1">
            <a:off x="8872855" y="3937000"/>
            <a:ext cx="48895" cy="508000"/>
          </a:xfrm>
          <a:prstGeom prst="straightConnector1">
            <a:avLst/>
          </a:prstGeom>
          <a:ln>
            <a:tailEnd type="arrow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自动化部署的收尾：容器编排 (阶段5)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588000" cy="1651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76200" cy="16510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1016000" y="1651000"/>
            <a:ext cx="5080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核心操作指令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docker compose up -d --build --remove-orphans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374151"/>
                </a:solidFill>
                <a:latin typeface="Consolas" panose="020B0609020204030204"/>
                <a:ea typeface="Consolas" panose="020B0609020204030204"/>
                <a:cs typeface="Consolas" panose="020B0609020204030204"/>
                <a:sym typeface="Consolas" panose="020B0609020204030204"/>
              </a:rPr>
              <a:t>docker compose restart nginx</a:t>
            </a:r>
            <a:endParaRPr lang="en-US" sz="1300" b="0" i="0" u="none" strike="noStrike">
              <a:solidFill>
                <a:srgbClr val="374151"/>
              </a:solidFill>
              <a:latin typeface="Consolas" panose="020B0609020204030204"/>
              <a:ea typeface="Consolas" panose="020B0609020204030204"/>
              <a:cs typeface="Consolas" panose="020B0609020204030204"/>
              <a:sym typeface="Consolas" panose="020B0609020204030204"/>
            </a:endParaRPr>
          </a:p>
          <a:p>
            <a:pPr marL="0" indent="0" algn="l">
              <a:lnSpc>
                <a:spcPct val="100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 Compose 一键构建并启动服务，重启 Nginx 确保配置生效，实现服务的快速编排与管理。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762000" y="3556000"/>
            <a:ext cx="17526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89000" y="3683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270000" y="3657600"/>
            <a:ext cx="114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后端服务</a:t>
            </a:r>
            <a:endParaRPr lang="en-US" sz="1100"/>
          </a:p>
        </p:txBody>
      </p:sp>
      <p:cxnSp>
        <p:nvCxnSpPr>
          <p:cNvPr id="10" name="Connector 10"/>
          <p:cNvCxnSpPr/>
          <p:nvPr/>
        </p:nvCxnSpPr>
        <p:spPr>
          <a:xfrm rot="-29132">
            <a:off x="889027" y="4184650"/>
            <a:ext cx="149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1" name="AutoShape 11"/>
          <p:cNvSpPr/>
          <p:nvPr/>
        </p:nvSpPr>
        <p:spPr>
          <a:xfrm>
            <a:off x="889000" y="4318000"/>
            <a:ext cx="14986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直接运行 Fat Jar，日志输出更直观，调试与排查问题更高效，无需容器封装的额外开销。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2679700" y="3556000"/>
            <a:ext cx="17526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806700" y="36830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3187700" y="3657600"/>
            <a:ext cx="114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前端/Nginx</a:t>
            </a:r>
            <a:endParaRPr lang="en-US" sz="1100"/>
          </a:p>
        </p:txBody>
      </p:sp>
      <p:cxnSp>
        <p:nvCxnSpPr>
          <p:cNvPr id="15" name="Connector 15"/>
          <p:cNvCxnSpPr/>
          <p:nvPr/>
        </p:nvCxnSpPr>
        <p:spPr>
          <a:xfrm rot="-29132">
            <a:off x="2806727" y="4184650"/>
            <a:ext cx="149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" name="AutoShape 16"/>
          <p:cNvSpPr/>
          <p:nvPr/>
        </p:nvSpPr>
        <p:spPr>
          <a:xfrm>
            <a:off x="2806700" y="4318000"/>
            <a:ext cx="14986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容器化部署静态资源服务，实现网关与应用的网络隔离，提升服务的安全性和可维护性。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4597400" y="3556000"/>
            <a:ext cx="17526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24400" y="36830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5105400" y="3657600"/>
            <a:ext cx="1143000" cy="3556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MySQL 数据库</a:t>
            </a:r>
            <a:endParaRPr lang="en-US" sz="1100"/>
          </a:p>
        </p:txBody>
      </p:sp>
      <p:cxnSp>
        <p:nvCxnSpPr>
          <p:cNvPr id="20" name="Connector 20"/>
          <p:cNvCxnSpPr/>
          <p:nvPr/>
        </p:nvCxnSpPr>
        <p:spPr>
          <a:xfrm rot="-29132">
            <a:off x="4724427" y="4184650"/>
            <a:ext cx="14986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1" name="AutoShape 21"/>
          <p:cNvSpPr/>
          <p:nvPr/>
        </p:nvSpPr>
        <p:spPr>
          <a:xfrm>
            <a:off x="4724400" y="4318000"/>
            <a:ext cx="14986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完全独立部署，不纳入容器生命周期，彻底避免因容器销毁或重启导致的数据丢失风险。</a:t>
            </a:r>
            <a:endParaRPr lang="en-US" sz="110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762000" y="5588000"/>
            <a:ext cx="889000" cy="889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3" name="AutoShape 23"/>
          <p:cNvSpPr/>
          <p:nvPr/>
        </p:nvSpPr>
        <p:spPr>
          <a:xfrm>
            <a:off x="1905000" y="5651500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Docker 容器化引擎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标准化的应用打包与交付方案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4" name="Connector 24"/>
          <p:cNvCxnSpPr/>
          <p:nvPr/>
        </p:nvCxnSpPr>
        <p:spPr>
          <a:xfrm rot="5331254">
            <a:off x="3873500" y="6026213"/>
            <a:ext cx="635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9CA3A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5" name="Picture 25"/>
          <p:cNvPicPr>
            <a:picLocks noChangeAspect="1"/>
          </p:cNvPicPr>
          <p:nvPr/>
        </p:nvPicPr>
        <p:blipFill>
          <a:blip r:embed="rId8"/>
          <a:srcRect t="6431" b="6431"/>
          <a:stretch>
            <a:fillRect/>
          </a:stretch>
        </p:blipFill>
        <p:spPr>
          <a:xfrm>
            <a:off x="4445000" y="5588000"/>
            <a:ext cx="889000" cy="889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6" name="AutoShape 26"/>
          <p:cNvSpPr/>
          <p:nvPr/>
        </p:nvSpPr>
        <p:spPr>
          <a:xfrm>
            <a:off x="5461000" y="5651500"/>
            <a:ext cx="203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Nginx 高性能网关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轻量级、高并发的 HTTP 和反向代理服务器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7" name="Connector 27"/>
          <p:cNvCxnSpPr/>
          <p:nvPr/>
        </p:nvCxnSpPr>
        <p:spPr>
          <a:xfrm rot="5390953">
            <a:off x="4572000" y="3930658"/>
            <a:ext cx="482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1D5DB">
                <a:alpha val="8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7366000" y="1816100"/>
            <a:ext cx="4064000" cy="3390900"/>
          </a:xfrm>
          <a:prstGeom prst="roundRect">
            <a:avLst>
              <a:gd name="adj" fmla="val 0"/>
            </a:avLst>
          </a:prstGeom>
          <a:solidFill>
            <a:srgbClr val="F3F4F6">
              <a:alpha val="80000"/>
            </a:srgbClr>
          </a:solidFill>
          <a:ln w="12700" cap="flat" cmpd="sng">
            <a:solidFill>
              <a:srgbClr val="D1D5DB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9" name="Picture 29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839200" y="2667000"/>
            <a:ext cx="1117600" cy="1117600"/>
          </a:xfrm>
          <a:prstGeom prst="rect">
            <a:avLst/>
          </a:prstGeom>
        </p:spPr>
      </p:pic>
      <p:sp>
        <p:nvSpPr>
          <p:cNvPr id="30" name="AutoShape 30"/>
          <p:cNvSpPr/>
          <p:nvPr/>
        </p:nvSpPr>
        <p:spPr>
          <a:xfrm>
            <a:off x="7948930" y="4397375"/>
            <a:ext cx="3063875" cy="682625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ctr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部署日志监控示意</a:t>
            </a:r>
            <a:endParaRPr lang="en-US" sz="1100"/>
          </a:p>
          <a:p>
            <a:pPr marL="0" indent="0" algn="ctr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[ Deploy Dev 成功运行日志中 docker compose up 相关步骤的截图]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31" name="AutoShape 31"/>
          <p:cNvSpPr/>
          <p:nvPr/>
        </p:nvSpPr>
        <p:spPr>
          <a:xfrm>
            <a:off x="7366000" y="5461000"/>
            <a:ext cx="4064000" cy="10160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2" name="Picture 32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493000" y="5651500"/>
            <a:ext cx="304800" cy="304800"/>
          </a:xfrm>
          <a:prstGeom prst="rect">
            <a:avLst/>
          </a:prstGeom>
        </p:spPr>
      </p:pic>
      <p:sp>
        <p:nvSpPr>
          <p:cNvPr id="33" name="AutoShape 33"/>
          <p:cNvSpPr/>
          <p:nvPr/>
        </p:nvSpPr>
        <p:spPr>
          <a:xfrm>
            <a:off x="7874000" y="5588000"/>
            <a:ext cx="3429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通过混合部署模式，我们既利用了容器的便捷性，又保障了核心数据与服务的稳定性，是中小型项目落地的高效选择。</a:t>
            </a:r>
            <a:endParaRPr lang="en-US" sz="1100"/>
          </a:p>
        </p:txBody>
      </p:sp>
      <p:pic>
        <p:nvPicPr>
          <p:cNvPr id="34" name="图片 33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66000" y="1816100"/>
            <a:ext cx="4079875" cy="23622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请求在服务器内部的旅程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2540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22C55E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19685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87500" y="1968500"/>
            <a:ext cx="15875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用户浏览器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发起HTTP/HTTPS请求，作为整个系统的访问起点。</a:t>
            </a:r>
            <a:endParaRPr lang="en-US" sz="12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7" name="Connector 7"/>
          <p:cNvCxnSpPr/>
          <p:nvPr/>
        </p:nvCxnSpPr>
        <p:spPr>
          <a:xfrm rot="-57290">
            <a:off x="3429053" y="2470150"/>
            <a:ext cx="762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22C55E">
                <a:alpha val="100000"/>
              </a:srgbClr>
            </a:solidFill>
            <a:prstDash val="solid"/>
            <a:round/>
            <a:headEnd type="none" w="lg" len="lg"/>
            <a:tailEnd type="arrow" w="med" len="med"/>
          </a:ln>
        </p:spPr>
      </p:cxnSp>
      <p:sp>
        <p:nvSpPr>
          <p:cNvPr id="8" name="AutoShape 8"/>
          <p:cNvSpPr/>
          <p:nvPr/>
        </p:nvSpPr>
        <p:spPr>
          <a:xfrm>
            <a:off x="4318000" y="1778000"/>
            <a:ext cx="7112000" cy="1397000"/>
          </a:xfrm>
          <a:prstGeom prst="roundRect">
            <a:avLst>
              <a:gd name="adj" fmla="val 0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22C55E">
                <a:alpha val="8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3"/>
          <a:srcRect t="6431" b="6431"/>
          <a:stretch>
            <a:fillRect/>
          </a:stretch>
        </p:blipFill>
        <p:spPr>
          <a:xfrm>
            <a:off x="4508500" y="1905000"/>
            <a:ext cx="1016000" cy="1016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10" name="AutoShape 10"/>
          <p:cNvSpPr/>
          <p:nvPr/>
        </p:nvSpPr>
        <p:spPr>
          <a:xfrm>
            <a:off x="5715000" y="1905000"/>
            <a:ext cx="55245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Nginx (Docker) :80 —— 流量总入口</a:t>
            </a:r>
            <a:endParaRPr lang="en-US" sz="1100"/>
          </a:p>
          <a:p>
            <a:pPr marL="0"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作为反向代理服务器，统一接收外部请求，基于路径规则进行流量分发，实现动静分离与负载均衡，保障服务高可用。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11" name="Connector 11"/>
          <p:cNvCxnSpPr/>
          <p:nvPr/>
        </p:nvCxnSpPr>
        <p:spPr>
          <a:xfrm rot="-4092">
            <a:off x="762004" y="3613150"/>
            <a:ext cx="10668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/>
        </p:nvSpPr>
        <p:spPr>
          <a:xfrm>
            <a:off x="762000" y="3937000"/>
            <a:ext cx="2603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89000" y="4064000"/>
            <a:ext cx="355600" cy="355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333500" y="4064000"/>
            <a:ext cx="190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前端静态资源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直接返回HTML/CSS/JS文件，减轻后端压力，提升加载速度。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3530600" y="3937000"/>
            <a:ext cx="2603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657600" y="4064000"/>
            <a:ext cx="355600" cy="3556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4102100" y="4064000"/>
            <a:ext cx="190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后端服务 /api/*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转发至后端应用端口:8080，处理核心业务逻辑与数据交互。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8" name="AutoShape 18"/>
          <p:cNvSpPr/>
          <p:nvPr/>
        </p:nvSpPr>
        <p:spPr>
          <a:xfrm>
            <a:off x="6299200" y="3937000"/>
            <a:ext cx="2603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26200" y="4064000"/>
            <a:ext cx="355600" cy="3556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870700" y="4064000"/>
            <a:ext cx="190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健康检查 /health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定期监控服务状态，快速感知异常，为服务治理提供依据。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1" name="AutoShape 21"/>
          <p:cNvSpPr/>
          <p:nvPr/>
        </p:nvSpPr>
        <p:spPr>
          <a:xfrm>
            <a:off x="9067800" y="3937000"/>
            <a:ext cx="2603500" cy="12065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22C55E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194800" y="4064000"/>
            <a:ext cx="355600" cy="3556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9639300" y="4064000"/>
            <a:ext cx="1905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文档服务 /swagger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B72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提供可视化的API接口文档，便于开发调试与对接工作。</a:t>
            </a:r>
            <a:endParaRPr lang="en-US" sz="1200" b="0" i="0" u="none" strike="noStrike">
              <a:solidFill>
                <a:srgbClr val="6B7280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4" name="AutoShape 24"/>
          <p:cNvSpPr/>
          <p:nvPr/>
        </p:nvSpPr>
        <p:spPr>
          <a:xfrm>
            <a:off x="762000" y="5461000"/>
            <a:ext cx="10922000" cy="1079500"/>
          </a:xfrm>
          <a:prstGeom prst="roundRect">
            <a:avLst>
              <a:gd name="adj" fmla="val 0"/>
            </a:avLst>
          </a:prstGeom>
          <a:solidFill>
            <a:srgbClr val="ECFDF5">
              <a:alpha val="90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2"/>
          <a:srcRect t="4999" b="5000"/>
          <a:stretch>
            <a:fillRect/>
          </a:stretch>
        </p:blipFill>
        <p:spPr>
          <a:xfrm>
            <a:off x="952500" y="5613400"/>
            <a:ext cx="1270000" cy="762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26" name="AutoShape 26"/>
          <p:cNvSpPr/>
          <p:nvPr/>
        </p:nvSpPr>
        <p:spPr>
          <a:xfrm>
            <a:off x="2540000" y="5588000"/>
            <a:ext cx="8763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数据持久化层：MySQL (独立服务)</a:t>
            </a:r>
            <a:endParaRPr lang="en-US" sz="1100"/>
          </a:p>
          <a:p>
            <a:pPr marL="0"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后端应用通过JDBC等驱动连接独立部署的MySQL数据库，负责业务数据的存储、查询与事务管理，保障数据一致性与安全性。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Nginx 反向代理的“坑”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838200" y="1255395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在配置 Nginx 反向代理时，我们需要保留 `/api` 前缀以确保请求正确转发给后端服务，而指令末尾的斜杠往往是最容易被忽视的关键细节。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3784600"/>
            <a:ext cx="5270500" cy="1651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12700" cap="flat" cmpd="sng">
            <a:solidFill>
              <a:srgbClr val="22C55E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39751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60500" y="3937000"/>
            <a:ext cx="4381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22C55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正确写法：保留前缀转发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8929">
            <a:off x="952508" y="4476750"/>
            <a:ext cx="488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952500" y="4610100"/>
            <a:ext cx="4889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指令：proxy_pass http://backend_server;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效果：URL 保持不变，`/api/auth/login` 完整转发至后端，服务可正常匹配路由。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86500" y="3784600"/>
            <a:ext cx="5270500" cy="1651000"/>
          </a:xfrm>
          <a:prstGeom prst="roundRect">
            <a:avLst>
              <a:gd name="adj" fmla="val 0"/>
            </a:avLst>
          </a:prstGeom>
          <a:solidFill>
            <a:srgbClr val="EF4444">
              <a:alpha val="8000"/>
            </a:srgbClr>
          </a:solidFill>
          <a:ln w="12700" cap="flat" cmpd="sng">
            <a:solidFill>
              <a:srgbClr val="EF4444">
                <a:alpha val="5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3975100"/>
            <a:ext cx="355600" cy="355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6985000" y="3937000"/>
            <a:ext cx="43815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EF444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错误写法：丢失前缀导致404</a:t>
            </a:r>
            <a:endParaRPr lang="en-US" sz="1100"/>
          </a:p>
        </p:txBody>
      </p:sp>
      <p:cxnSp>
        <p:nvCxnSpPr>
          <p:cNvPr id="13" name="Connector 13"/>
          <p:cNvCxnSpPr/>
          <p:nvPr/>
        </p:nvCxnSpPr>
        <p:spPr>
          <a:xfrm rot="-8929">
            <a:off x="6477008" y="4476750"/>
            <a:ext cx="488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F4444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AutoShape 14"/>
          <p:cNvSpPr/>
          <p:nvPr/>
        </p:nvSpPr>
        <p:spPr>
          <a:xfrm>
            <a:off x="6477000" y="4610100"/>
            <a:ext cx="48895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指令：proxy_pass http://backend_server/;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效果：前缀被截断，`/api/auth/login` 变为 `/auth/login`，后端因路由不存在返回404错误。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5689600"/>
            <a:ext cx="10668000" cy="825500"/>
          </a:xfrm>
          <a:prstGeom prst="roundRect">
            <a:avLst>
              <a:gd name="adj" fmla="val 0"/>
            </a:avLst>
          </a:prstGeom>
          <a:solidFill>
            <a:srgbClr val="22C55E">
              <a:alpha val="12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6" name="AutoShape 16"/>
          <p:cNvSpPr/>
          <p:nvPr/>
        </p:nvSpPr>
        <p:spPr>
          <a:xfrm>
            <a:off x="762000" y="5689600"/>
            <a:ext cx="76200" cy="825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1016000" y="5689600"/>
            <a:ext cx="10160000" cy="825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核心警示：</a:t>
            </a:r>
            <a:r>
              <a:rPr lang="en-US" sz="15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proxy_pass 末尾的斜杠 `/` 决定了是否重写 URL。这个微小的细节差异，直接导致服务可用或报错，是我们在生产环境中真实踩过的“坑”，配置时需格外谨慎。</a:t>
            </a:r>
            <a:endParaRPr lang="en-US" sz="1100"/>
          </a:p>
        </p:txBody>
      </p:sp>
      <p:pic>
        <p:nvPicPr>
          <p:cNvPr id="21" name="图片 20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81655" y="1734185"/>
            <a:ext cx="6181090" cy="184277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6985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我们的自动化演进之路</a:t>
            </a:r>
            <a:endParaRPr lang="en-US" sz="1100"/>
          </a:p>
        </p:txBody>
      </p:sp>
      <p:sp>
        <p:nvSpPr>
          <p:cNvPr id="4" name="AutoShape 4"/>
          <p:cNvSpPr/>
          <p:nvPr>
            <p:custDataLst>
              <p:tags r:id="rId1"/>
            </p:custDataLst>
          </p:nvPr>
        </p:nvSpPr>
        <p:spPr>
          <a:xfrm>
            <a:off x="762000" y="1524000"/>
            <a:ext cx="10541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524000"/>
            <a:ext cx="76200" cy="1079500"/>
          </a:xfrm>
          <a:prstGeom prst="roundRect">
            <a:avLst>
              <a:gd name="adj" fmla="val 0"/>
            </a:avLst>
          </a:prstGeom>
          <a:solidFill>
            <a:srgbClr val="9CA3A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>
            <p:custDataLst>
              <p:tags r:id="rId2"/>
            </p:custDataLst>
          </p:nvPr>
        </p:nvSpPr>
        <p:spPr>
          <a:xfrm>
            <a:off x="1016000" y="1587500"/>
            <a:ext cx="9956165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V1 (第1-2周)：纯手动部署阶段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操作流程为手动 SSH 登录服务器，执行 git pull、mvn/npm 构建及手动启动。该方式最直接但效率极低，且构建过程消耗大量内存，频繁引发服务器 OOM 错误。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>
            <p:custDataLst>
              <p:tags r:id="rId3"/>
            </p:custDataLst>
          </p:nvPr>
        </p:nvSpPr>
        <p:spPr>
          <a:xfrm>
            <a:off x="762000" y="2794000"/>
            <a:ext cx="10541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762000" y="2794000"/>
            <a:ext cx="76200" cy="1079500"/>
          </a:xfrm>
          <a:prstGeom prst="roundRect">
            <a:avLst>
              <a:gd name="adj" fmla="val 0"/>
            </a:avLst>
          </a:prstGeom>
          <a:solidFill>
            <a:srgbClr val="6E6E6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>
            <p:custDataLst>
              <p:tags r:id="rId4"/>
            </p:custDataLst>
          </p:nvPr>
        </p:nvSpPr>
        <p:spPr>
          <a:xfrm>
            <a:off x="1016000" y="2857500"/>
            <a:ext cx="9956165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V2 (第3周)：CI 构建 + 手动同步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 GitHub Actions 完成自动化构建，通过手动 rsync 将产物同步至服务器。虽然解决了构建资源占用问题，但部署步骤依然繁琐，人工操作环节极易出现文件遗漏或同步错误。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>
            <p:custDataLst>
              <p:tags r:id="rId5"/>
            </p:custDataLst>
          </p:nvPr>
        </p:nvSpPr>
        <p:spPr>
          <a:xfrm>
            <a:off x="762000" y="3937000"/>
            <a:ext cx="10541000" cy="10795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762000" y="3937000"/>
            <a:ext cx="76200" cy="1079500"/>
          </a:xfrm>
          <a:prstGeom prst="roundRect">
            <a:avLst>
              <a:gd name="adj" fmla="val 0"/>
            </a:avLst>
          </a:prstGeom>
          <a:solidFill>
            <a:srgbClr val="4B556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>
            <p:custDataLst>
              <p:tags r:id="rId6"/>
            </p:custDataLst>
          </p:nvPr>
        </p:nvSpPr>
        <p:spPr>
          <a:xfrm>
            <a:off x="1016000" y="4000500"/>
            <a:ext cx="9956165" cy="952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V3 (第4周)：初版自动部署脚本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编写 deploy-dev.yml 实现全流程自动化触发。但初期版本存在缺陷：缺乏环境变量校验机制，git reset 逻辑有偶发 Bug，且服务健康检查策略不稳定，导致部署成功率不高。</a:t>
            </a:r>
            <a:endParaRPr lang="en-US" sz="1300" b="0" i="0" u="none" strike="noStrike">
              <a:solidFill>
                <a:srgbClr val="4B5563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>
            <p:custDataLst>
              <p:tags r:id="rId7"/>
            </p:custDataLst>
          </p:nvPr>
        </p:nvSpPr>
        <p:spPr>
          <a:xfrm>
            <a:off x="762000" y="5143500"/>
            <a:ext cx="6604000" cy="1206500"/>
          </a:xfrm>
          <a:prstGeom prst="roundRect">
            <a:avLst>
              <a:gd name="adj" fmla="val 0"/>
            </a:avLst>
          </a:prstGeom>
          <a:solidFill>
            <a:srgbClr val="22C55E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762000" y="5143500"/>
            <a:ext cx="76200" cy="1206500"/>
          </a:xfrm>
          <a:prstGeom prst="roundRect">
            <a:avLst>
              <a:gd name="adj" fmla="val 0"/>
            </a:avLst>
          </a:prstGeom>
          <a:solidFill>
            <a:srgbClr val="22C55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>
            <p:custDataLst>
              <p:tags r:id="rId8"/>
            </p:custDataLst>
          </p:nvPr>
        </p:nvSpPr>
        <p:spPr>
          <a:xfrm>
            <a:off x="1016000" y="5207000"/>
            <a:ext cx="6096000" cy="1079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0000"/>
              </a:lnSpc>
              <a:defRPr/>
            </a:pPr>
            <a:r>
              <a:rPr lang="en-US" sz="1600" b="1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V4 (第5周至今)：成熟稳定的自动化体系</a:t>
            </a:r>
            <a:endParaRPr lang="en-US" sz="1100"/>
          </a:p>
          <a:p>
            <a:pPr marL="0"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完善环境变量强制校验，增加30次健康检查重试机制；部署失败时自动 Dump 关键日志，配合 docker compose 实现服务联动重启，保障了系统的高可用性与可维护性。</a:t>
            </a:r>
            <a:endParaRPr lang="en-US" sz="1300" b="0" i="0" u="none" strike="noStrike">
              <a:solidFill>
                <a:srgbClr val="37415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9" name="AutoShape 19"/>
          <p:cNvSpPr/>
          <p:nvPr>
            <p:custDataLst>
              <p:tags r:id="rId9"/>
            </p:custDataLst>
          </p:nvPr>
        </p:nvSpPr>
        <p:spPr>
          <a:xfrm>
            <a:off x="7747000" y="5207000"/>
            <a:ext cx="3556000" cy="1143000"/>
          </a:xfrm>
          <a:prstGeom prst="roundRect">
            <a:avLst>
              <a:gd name="adj" fmla="val 0"/>
            </a:avLst>
          </a:prstGeom>
          <a:solidFill>
            <a:srgbClr val="22C55E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0" name="AutoShape 20"/>
          <p:cNvSpPr/>
          <p:nvPr>
            <p:custDataLst>
              <p:tags r:id="rId10"/>
            </p:custDataLst>
          </p:nvPr>
        </p:nvSpPr>
        <p:spPr>
          <a:xfrm>
            <a:off x="7874000" y="5290820"/>
            <a:ext cx="3429000" cy="99568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16653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持续迭代的价值：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每一个版本的改进都针对实际痛点，从解决“能不能用”到追求“稳不稳、好不好用”，逐步构建了可靠的自动化底座。</a:t>
            </a:r>
            <a:endParaRPr lang="en-US" sz="110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从个人分支到生产环境，全链路自动化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782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52500" y="18415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1803400"/>
            <a:ext cx="2413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01. 个人分支开发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4628">
            <a:off x="952514" y="2406650"/>
            <a:ext cx="298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952500" y="2540000"/>
            <a:ext cx="2997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开发者在独立分支进行功能迭代与代码编写，确保开发环境隔离，互不干扰，专注实现业务逻辑。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394200" y="1651000"/>
            <a:ext cx="33782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84700" y="1841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156200" y="1803400"/>
            <a:ext cx="2413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02. 代码自动预检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4628">
            <a:off x="4584714" y="2406650"/>
            <a:ext cx="298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584700" y="2540000"/>
            <a:ext cx="2997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Push代码后自动触发backend/frontend-check流水线，执行语法检查、单元测试，拦截低级错误。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026400" y="1651000"/>
            <a:ext cx="33782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16900" y="18415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788400" y="1803400"/>
            <a:ext cx="2413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03. 代码评审与合并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4628">
            <a:off x="8216914" y="2406650"/>
            <a:ext cx="298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8216900" y="2540000"/>
            <a:ext cx="2997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创建PR提交Reviewer审核，通过后合并至主分支，触发CI流水线进行最终集成检查，确保主干质量。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3810000"/>
            <a:ext cx="33782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52500" y="4000500"/>
            <a:ext cx="406400" cy="4064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524000" y="3962400"/>
            <a:ext cx="2413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04. 生产自动部署</a:t>
            </a:r>
            <a:endParaRPr lang="en-US" sz="1100"/>
          </a:p>
        </p:txBody>
      </p:sp>
      <p:cxnSp>
        <p:nvCxnSpPr>
          <p:cNvPr id="22" name="Connector 22"/>
          <p:cNvCxnSpPr/>
          <p:nvPr/>
        </p:nvCxnSpPr>
        <p:spPr>
          <a:xfrm rot="-14628">
            <a:off x="952514" y="4565650"/>
            <a:ext cx="298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3" name="AutoShape 23"/>
          <p:cNvSpPr/>
          <p:nvPr/>
        </p:nvSpPr>
        <p:spPr>
          <a:xfrm>
            <a:off x="952500" y="4699000"/>
            <a:ext cx="2997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Main分支更新后自动触发Deploy流程，无需人工干预，实现从代码合并到生产交付的无缝衔接。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4394200" y="3810000"/>
            <a:ext cx="3378200" cy="177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12700" cap="flat" cmpd="sng">
            <a:solidFill>
              <a:srgbClr val="22C55E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84700" y="4000500"/>
            <a:ext cx="406400" cy="4064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5156200" y="3962400"/>
            <a:ext cx="2413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1F293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05. 持续健康检查</a:t>
            </a:r>
            <a:endParaRPr lang="en-US" sz="1100"/>
          </a:p>
        </p:txBody>
      </p:sp>
      <p:cxnSp>
        <p:nvCxnSpPr>
          <p:cNvPr id="27" name="Connector 27"/>
          <p:cNvCxnSpPr/>
          <p:nvPr/>
        </p:nvCxnSpPr>
        <p:spPr>
          <a:xfrm rot="-14628">
            <a:off x="4584714" y="4565650"/>
            <a:ext cx="298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22C55E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28" name="AutoShape 28"/>
          <p:cNvSpPr/>
          <p:nvPr/>
        </p:nvSpPr>
        <p:spPr>
          <a:xfrm>
            <a:off x="4584700" y="4699000"/>
            <a:ext cx="2997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系统执行30次关键指标健康检查，验证服务可用性。通过则确认上线成功，进入稳定运行状态。</a:t>
            </a:r>
            <a:endParaRPr lang="en-US" sz="1100"/>
          </a:p>
        </p:txBody>
      </p:sp>
      <p:sp>
        <p:nvSpPr>
          <p:cNvPr id="29" name="AutoShape 29"/>
          <p:cNvSpPr/>
          <p:nvPr/>
        </p:nvSpPr>
        <p:spPr>
          <a:xfrm>
            <a:off x="8026400" y="3810000"/>
            <a:ext cx="3378200" cy="1778000"/>
          </a:xfrm>
          <a:prstGeom prst="roundRect">
            <a:avLst>
              <a:gd name="adj" fmla="val 0"/>
            </a:avLst>
          </a:prstGeom>
          <a:solidFill>
            <a:srgbClr val="FEF2F2">
              <a:alpha val="85000"/>
            </a:srgbClr>
          </a:solidFill>
          <a:ln w="12700" cap="flat" cmpd="sng">
            <a:solidFill>
              <a:srgbClr val="EF4444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30" name="Picture 30"/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8216900" y="4000500"/>
            <a:ext cx="406400" cy="406400"/>
          </a:xfrm>
          <a:prstGeom prst="rect">
            <a:avLst/>
          </a:prstGeom>
        </p:spPr>
      </p:pic>
      <p:sp>
        <p:nvSpPr>
          <p:cNvPr id="31" name="AutoShape 31"/>
          <p:cNvSpPr/>
          <p:nvPr/>
        </p:nvSpPr>
        <p:spPr>
          <a:xfrm>
            <a:off x="8788400" y="3962400"/>
            <a:ext cx="2413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B91C1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06. 异常熔断与告警</a:t>
            </a:r>
            <a:endParaRPr lang="en-US" sz="1100"/>
          </a:p>
        </p:txBody>
      </p:sp>
      <p:cxnSp>
        <p:nvCxnSpPr>
          <p:cNvPr id="32" name="Connector 32"/>
          <p:cNvCxnSpPr/>
          <p:nvPr/>
        </p:nvCxnSpPr>
        <p:spPr>
          <a:xfrm rot="-14628">
            <a:off x="8216914" y="4565650"/>
            <a:ext cx="2984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EF4444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sp>
        <p:nvSpPr>
          <p:cNvPr id="33" name="AutoShape 33"/>
          <p:cNvSpPr/>
          <p:nvPr/>
        </p:nvSpPr>
        <p:spPr>
          <a:xfrm>
            <a:off x="8216900" y="4699000"/>
            <a:ext cx="29972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08000"/>
              </a:lnSpc>
              <a:defRPr/>
            </a:pPr>
            <a:r>
              <a:rPr lang="en-US" sz="13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若健康检查失败，自动dump关键日志，并通过GitHub Issue即时通知维护团队，快速介入排查。</a:t>
            </a:r>
            <a:endParaRPr lang="en-US" sz="1100"/>
          </a:p>
        </p:txBody>
      </p:sp>
      <p:sp>
        <p:nvSpPr>
          <p:cNvPr id="34" name="AutoShape 34"/>
          <p:cNvSpPr/>
          <p:nvPr/>
        </p:nvSpPr>
        <p:spPr>
          <a:xfrm>
            <a:off x="762000" y="5842000"/>
            <a:ext cx="10668000" cy="698500"/>
          </a:xfrm>
          <a:prstGeom prst="roundRect">
            <a:avLst>
              <a:gd name="adj" fmla="val 0"/>
            </a:avLst>
          </a:prstGeom>
          <a:solidFill>
            <a:srgbClr val="22C55E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5" name="AutoShape 35"/>
          <p:cNvSpPr/>
          <p:nvPr/>
        </p:nvSpPr>
        <p:spPr>
          <a:xfrm>
            <a:off x="952500" y="5943600"/>
            <a:ext cx="1028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15803D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全链路闭环总结：</a:t>
            </a:r>
            <a:r>
              <a:rPr lang="en-US" sz="14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从个人分支开发到生产环境部署，我们打通了代码提交、自动检查、人工审核、自动部署、健康监测的完整链路，实现了开发流程的标准化与质量保障的自动化。</a:t>
            </a:r>
            <a:endParaRPr lang="en-US" sz="110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016000" y="2794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000" b="1" dirty="0" err="1">
                <a:solidFill>
                  <a:schemeClr val="bg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组间交流与总结</a:t>
            </a:r>
            <a:endParaRPr lang="en-US" sz="4000" b="1" dirty="0" err="1">
              <a:solidFill>
                <a:schemeClr val="bg1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5" name="AutoShape 5"/>
          <p:cNvSpPr/>
          <p:nvPr/>
        </p:nvSpPr>
        <p:spPr>
          <a:xfrm>
            <a:off x="1016000" y="4191000"/>
            <a:ext cx="10160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3"/>
          <p:cNvSpPr/>
          <p:nvPr/>
        </p:nvSpPr>
        <p:spPr>
          <a:xfrm>
            <a:off x="1016000" y="1778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6400" b="1" i="0" u="none" strike="noStrike">
                <a:solidFill>
                  <a:srgbClr val="4ADE8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PART 03</a:t>
            </a:r>
            <a:endParaRPr lang="en-US" sz="110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AutoShape 3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Q&amp;A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17000"/>
              </a:lnSpc>
              <a:defRPr/>
            </a:pPr>
            <a:r>
              <a:rPr lang="en-US" sz="1800" b="0" i="0" u="none" strike="noStrike">
                <a:solidFill>
                  <a:srgbClr val="4B556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非常感谢大家的聆听，现在进入提问与交流环节。无论您对技术方案细节、团队协作流程，还是下一阶段规划有任何疑问或建议，都欢迎随时提出，我们期待与您深入探讨。</a:t>
            </a:r>
            <a:endParaRPr lang="en-US" sz="1100"/>
          </a:p>
        </p:txBody>
      </p:sp>
      <p:cxnSp>
        <p:nvCxnSpPr>
          <p:cNvPr id="5" name="Connector 5"/>
          <p:cNvCxnSpPr/>
          <p:nvPr/>
        </p:nvCxnSpPr>
        <p:spPr>
          <a:xfrm rot="-4092">
            <a:off x="762004" y="31686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4ADE80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1016000" y="3048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Thank You!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4445000"/>
            <a:ext cx="1270000" cy="50800"/>
          </a:xfrm>
          <a:prstGeom prst="roundRect">
            <a:avLst>
              <a:gd name="adj" fmla="val 0"/>
            </a:avLst>
          </a:prstGeom>
          <a:solidFill>
            <a:srgbClr val="4ADE8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5080000"/>
            <a:ext cx="1016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0" indent="0" algn="l">
              <a:lnSpc>
                <a:spcPct val="125000"/>
              </a:lnSpc>
              <a:defRPr/>
            </a:pPr>
            <a:r>
              <a:rPr lang="en-US" sz="1600" b="0" i="0" u="none" strike="noStrike" dirty="0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 dirty="0"/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40,&quot;left&quot;:60,&quot;top&quot;:180,&quot;width&quot;:840}"/>
</p:tagLst>
</file>

<file path=ppt/tags/tag2.xml><?xml version="1.0" encoding="utf-8"?>
<p:tagLst xmlns:p="http://schemas.openxmlformats.org/presentationml/2006/main">
  <p:tag name="KSO_WM_DIAGRAM_VIRTUALLY_FRAME" val="{&quot;height&quot;:240,&quot;left&quot;:60,&quot;top&quot;:180,&quot;width&quot;:840}"/>
</p:tagLst>
</file>

<file path=ppt/tags/tag3.xml><?xml version="1.0" encoding="utf-8"?>
<p:tagLst xmlns:p="http://schemas.openxmlformats.org/presentationml/2006/main">
  <p:tag name="KSO_WM_DIAGRAM_VIRTUALLY_FRAME" val="{&quot;height&quot;:240,&quot;left&quot;:60,&quot;top&quot;:180,&quot;width&quot;:840}"/>
</p:tagLst>
</file>

<file path=ppt/tags/tag4.xml><?xml version="1.0" encoding="utf-8"?>
<p:tagLst xmlns:p="http://schemas.openxmlformats.org/presentationml/2006/main">
  <p:tag name="KSO_WM_DIAGRAM_VIRTUALLY_FRAME" val="{&quot;height&quot;:240,&quot;left&quot;:60,&quot;top&quot;:180,&quot;width&quot;:840}"/>
</p:tagLst>
</file>

<file path=ppt/tags/tag5.xml><?xml version="1.0" encoding="utf-8"?>
<p:tagLst xmlns:p="http://schemas.openxmlformats.org/presentationml/2006/main">
  <p:tag name="KSO_WM_DIAGRAM_VIRTUALLY_FRAME" val="{&quot;height&quot;:240,&quot;left&quot;:60,&quot;top&quot;:180,&quot;width&quot;:840}"/>
</p:tagLst>
</file>

<file path=ppt/tags/tag6.xml><?xml version="1.0" encoding="utf-8"?>
<p:tagLst xmlns:p="http://schemas.openxmlformats.org/presentationml/2006/main">
  <p:tag name="KSO_WM_DIAGRAM_VIRTUALLY_FRAME" val="{&quot;height&quot;:240,&quot;left&quot;:60,&quot;top&quot;:180,&quot;width&quot;:840}"/>
</p:tagLst>
</file>

<file path=ppt/tags/tag7.xml><?xml version="1.0" encoding="utf-8"?>
<p:tagLst xmlns:p="http://schemas.openxmlformats.org/presentationml/2006/main">
  <p:tag name="KSO_WM_DIAGRAM_VIRTUALLY_FRAME" val="{&quot;height&quot;:240,&quot;left&quot;:60,&quot;top&quot;:180,&quot;width&quot;:840}"/>
</p:tagLst>
</file>

<file path=ppt/tags/tag8.xml><?xml version="1.0" encoding="utf-8"?>
<p:tagLst xmlns:p="http://schemas.openxmlformats.org/presentationml/2006/main">
  <p:tag name="KSO_WM_DIAGRAM_VIRTUALLY_FRAME" val="{&quot;height&quot;:240,&quot;left&quot;:60,&quot;top&quot;:180,&quot;width&quot;:840}"/>
</p:tagLst>
</file>

<file path=ppt/tags/tag9.xml><?xml version="1.0" encoding="utf-8"?>
<p:tagLst xmlns:p="http://schemas.openxmlformats.org/presentationml/2006/main">
  <p:tag name="KSO_WM_DIAGRAM_VIRTUALLY_FRAME" val="{&quot;height&quot;:240,&quot;left&quot;:60,&quot;top&quot;:180,&quot;width&quot;:840}"/>
</p:tagLst>
</file>

<file path=ppt/tags/tag10.xml><?xml version="1.0" encoding="utf-8"?>
<p:tagLst xmlns:p="http://schemas.openxmlformats.org/presentationml/2006/main">
  <p:tag name="KSO_WM_DIAGRAM_VIRTUALLY_FRAME" val="{&quot;height&quot;:240,&quot;left&quot;:60,&quot;top&quot;:180,&quot;width&quot;:840}"/>
</p:tagLst>
</file>

<file path=ppt/tags/tag11.xml><?xml version="1.0" encoding="utf-8"?>
<p:tagLst xmlns:p="http://schemas.openxmlformats.org/presentationml/2006/main">
  <p:tag name="KSO_WM_DIAGRAM_VIRTUALLY_FRAME" val="{&quot;height&quot;:240,&quot;left&quot;:60,&quot;top&quot;:180,&quot;width&quot;:840}"/>
</p:tagLst>
</file>

<file path=ppt/tags/tag12.xml><?xml version="1.0" encoding="utf-8"?>
<p:tagLst xmlns:p="http://schemas.openxmlformats.org/presentationml/2006/main">
  <p:tag name="KSO_WM_DIAGRAM_VIRTUALLY_FRAME" val="{&quot;height&quot;:240,&quot;left&quot;:60,&quot;top&quot;:180,&quot;width&quot;:840}"/>
</p:tagLst>
</file>

<file path=ppt/tags/tag13.xml><?xml version="1.0" encoding="utf-8"?>
<p:tagLst xmlns:p="http://schemas.openxmlformats.org/presentationml/2006/main">
  <p:tag name="KSO_WM_DIAGRAM_VIRTUALLY_FRAME" val="{&quot;height&quot;:240,&quot;left&quot;:60,&quot;top&quot;:180,&quot;width&quot;:840}"/>
</p:tagLst>
</file>

<file path=ppt/tags/tag14.xml><?xml version="1.0" encoding="utf-8"?>
<p:tagLst xmlns:p="http://schemas.openxmlformats.org/presentationml/2006/main">
  <p:tag name="KSO_WM_DIAGRAM_VIRTUALLY_FRAME" val="{&quot;height&quot;:240,&quot;left&quot;:60,&quot;top&quot;:180,&quot;width&quot;:840}"/>
</p:tagLst>
</file>

<file path=ppt/tags/tag15.xml><?xml version="1.0" encoding="utf-8"?>
<p:tagLst xmlns:p="http://schemas.openxmlformats.org/presentationml/2006/main">
  <p:tag name="KSO_WM_DIAGRAM_VIRTUALLY_FRAME" val="{&quot;height&quot;:240,&quot;left&quot;:60,&quot;top&quot;:180,&quot;width&quot;:840}"/>
</p:tagLst>
</file>

<file path=ppt/tags/tag16.xml><?xml version="1.0" encoding="utf-8"?>
<p:tagLst xmlns:p="http://schemas.openxmlformats.org/presentationml/2006/main">
  <p:tag name="KSO_WM_DIAGRAM_VIRTUALLY_FRAME" val="{&quot;height&quot;:428.8,&quot;left&quot;:28,&quot;top&quot;:83.85,&quot;width&quot;:849.453011200593}"/>
</p:tagLst>
</file>

<file path=ppt/tags/tag17.xml><?xml version="1.0" encoding="utf-8"?>
<p:tagLst xmlns:p="http://schemas.openxmlformats.org/presentationml/2006/main">
  <p:tag name="KSO_WM_DIAGRAM_VIRTUALLY_FRAME" val="{&quot;height&quot;:428.8,&quot;left&quot;:28,&quot;top&quot;:83.85,&quot;width&quot;:849.453011200593}"/>
</p:tagLst>
</file>

<file path=ppt/tags/tag18.xml><?xml version="1.0" encoding="utf-8"?>
<p:tagLst xmlns:p="http://schemas.openxmlformats.org/presentationml/2006/main">
  <p:tag name="KSO_WM_DIAGRAM_VIRTUALLY_FRAME" val="{&quot;height&quot;:428.8,&quot;left&quot;:28,&quot;top&quot;:83.85,&quot;width&quot;:849.453011200593}"/>
</p:tagLst>
</file>

<file path=ppt/tags/tag19.xml><?xml version="1.0" encoding="utf-8"?>
<p:tagLst xmlns:p="http://schemas.openxmlformats.org/presentationml/2006/main">
  <p:tag name="KSO_WM_DIAGRAM_VIRTUALLY_FRAME" val="{&quot;height&quot;:428.8,&quot;left&quot;:28,&quot;top&quot;:83.85,&quot;width&quot;:849.453011200593}"/>
</p:tagLst>
</file>

<file path=ppt/tags/tag20.xml><?xml version="1.0" encoding="utf-8"?>
<p:tagLst xmlns:p="http://schemas.openxmlformats.org/presentationml/2006/main">
  <p:tag name="KSO_WM_DIAGRAM_VIRTUALLY_FRAME" val="{&quot;height&quot;:428.8,&quot;left&quot;:28,&quot;top&quot;:83.85,&quot;width&quot;:849.453011200593}"/>
</p:tagLst>
</file>

<file path=ppt/tags/tag21.xml><?xml version="1.0" encoding="utf-8"?>
<p:tagLst xmlns:p="http://schemas.openxmlformats.org/presentationml/2006/main">
  <p:tag name="KSO_WM_DIAGRAM_VIRTUALLY_FRAME" val="{&quot;height&quot;:428.8,&quot;left&quot;:28,&quot;top&quot;:83.85,&quot;width&quot;:849.453011200593}"/>
</p:tagLst>
</file>

<file path=ppt/tags/tag22.xml><?xml version="1.0" encoding="utf-8"?>
<p:tagLst xmlns:p="http://schemas.openxmlformats.org/presentationml/2006/main">
  <p:tag name="KSO_WM_DIAGRAM_VIRTUALLY_FRAME" val="{&quot;height&quot;:428.8,&quot;left&quot;:28,&quot;top&quot;:83.85,&quot;width&quot;:849.453011200593}"/>
</p:tagLst>
</file>

<file path=ppt/tags/tag23.xml><?xml version="1.0" encoding="utf-8"?>
<p:tagLst xmlns:p="http://schemas.openxmlformats.org/presentationml/2006/main">
  <p:tag name="KSO_WM_DIAGRAM_VIRTUALLY_FRAME" val="{&quot;height&quot;:428.8,&quot;left&quot;:28,&quot;top&quot;:83.85,&quot;width&quot;:849.453011200593}"/>
</p:tagLst>
</file>

<file path=ppt/tags/tag24.xml><?xml version="1.0" encoding="utf-8"?>
<p:tagLst xmlns:p="http://schemas.openxmlformats.org/presentationml/2006/main">
  <p:tag name="KSO_WM_DIAGRAM_VIRTUALLY_FRAME" val="{&quot;height&quot;:428.8,&quot;left&quot;:28,&quot;top&quot;:83.85,&quot;width&quot;:849.453011200593}"/>
</p:tagLst>
</file>

<file path=ppt/tags/tag25.xml><?xml version="1.0" encoding="utf-8"?>
<p:tagLst xmlns:p="http://schemas.openxmlformats.org/presentationml/2006/main">
  <p:tag name="KSO_WM_DIAGRAM_VIRTUALLY_FRAME" val="{&quot;height&quot;:206.9,&quot;left&quot;:108.4,&quot;top&quot;:160,&quot;width&quot;:791.6}"/>
</p:tagLst>
</file>

<file path=ppt/tags/tag26.xml><?xml version="1.0" encoding="utf-8"?>
<p:tagLst xmlns:p="http://schemas.openxmlformats.org/presentationml/2006/main">
  <p:tag name="KSO_WM_DIAGRAM_VIRTUALLY_FRAME" val="{&quot;height&quot;:206.9,&quot;left&quot;:108.4,&quot;top&quot;:160,&quot;width&quot;:791.6}"/>
</p:tagLst>
</file>

<file path=ppt/tags/tag27.xml><?xml version="1.0" encoding="utf-8"?>
<p:tagLst xmlns:p="http://schemas.openxmlformats.org/presentationml/2006/main">
  <p:tag name="KSO_WM_DIAGRAM_VIRTUALLY_FRAME" val="{&quot;height&quot;:206.9,&quot;left&quot;:108.4,&quot;top&quot;:160,&quot;width&quot;:791.6}"/>
</p:tagLst>
</file>

<file path=ppt/tags/tag28.xml><?xml version="1.0" encoding="utf-8"?>
<p:tagLst xmlns:p="http://schemas.openxmlformats.org/presentationml/2006/main">
  <p:tag name="KSO_WM_DIAGRAM_VIRTUALLY_FRAME" val="{&quot;height&quot;:206.9,&quot;left&quot;:108.4,&quot;top&quot;:160,&quot;width&quot;:791.6}"/>
</p:tagLst>
</file>

<file path=ppt/tags/tag29.xml><?xml version="1.0" encoding="utf-8"?>
<p:tagLst xmlns:p="http://schemas.openxmlformats.org/presentationml/2006/main">
  <p:tag name="KSO_WM_DIAGRAM_VIRTUALLY_FRAME" val="{&quot;height&quot;:206.9,&quot;left&quot;:108.4,&quot;top&quot;:160,&quot;width&quot;:791.6}"/>
</p:tagLst>
</file>

<file path=ppt/tags/tag30.xml><?xml version="1.0" encoding="utf-8"?>
<p:tagLst xmlns:p="http://schemas.openxmlformats.org/presentationml/2006/main">
  <p:tag name="KSO_WM_DIAGRAM_VIRTUALLY_FRAME" val="{&quot;height&quot;:206.9,&quot;left&quot;:108.4,&quot;top&quot;:160,&quot;width&quot;:791.6}"/>
</p:tagLst>
</file>

<file path=ppt/tags/tag31.xml><?xml version="1.0" encoding="utf-8"?>
<p:tagLst xmlns:p="http://schemas.openxmlformats.org/presentationml/2006/main">
  <p:tag name="KSO_WM_DIAGRAM_VIRTUALLY_FRAME" val="{&quot;height&quot;:206.9,&quot;left&quot;:108.4,&quot;top&quot;:160,&quot;width&quot;:791.6}"/>
</p:tagLst>
</file>

<file path=ppt/tags/tag32.xml><?xml version="1.0" encoding="utf-8"?>
<p:tagLst xmlns:p="http://schemas.openxmlformats.org/presentationml/2006/main">
  <p:tag name="KSO_WM_DIAGRAM_VIRTUALLY_FRAME" val="{&quot;height&quot;:206.9,&quot;left&quot;:108.4,&quot;top&quot;:160,&quot;width&quot;:791.6}"/>
</p:tagLst>
</file>

<file path=ppt/tags/tag33.xml><?xml version="1.0" encoding="utf-8"?>
<p:tagLst xmlns:p="http://schemas.openxmlformats.org/presentationml/2006/main">
  <p:tag name="KSO_WM_DIAGRAM_VIRTUALLY_FRAME" val="{&quot;height&quot;:206.9,&quot;left&quot;:108.4,&quot;top&quot;:160,&quot;width&quot;:791.6}"/>
</p:tagLst>
</file>

<file path=ppt/tags/tag34.xml><?xml version="1.0" encoding="utf-8"?>
<p:tagLst xmlns:p="http://schemas.openxmlformats.org/presentationml/2006/main">
  <p:tag name="KSO_WM_DIAGRAM_VIRTUALLY_FRAME" val="{&quot;height&quot;:206.9,&quot;left&quot;:108.4,&quot;top&quot;:160,&quot;width&quot;:791.6}"/>
</p:tagLst>
</file>

<file path=ppt/tags/tag35.xml><?xml version="1.0" encoding="utf-8"?>
<p:tagLst xmlns:p="http://schemas.openxmlformats.org/presentationml/2006/main">
  <p:tag name="TABLE_ENDDRAG_ORIGIN_RECT" val="763*179"/>
  <p:tag name="TABLE_ENDDRAG_RECT" val="79*336*763*179"/>
</p:tagLst>
</file>

<file path=ppt/tags/tag36.xml><?xml version="1.0" encoding="utf-8"?>
<p:tagLst xmlns:p="http://schemas.openxmlformats.org/presentationml/2006/main">
  <p:tag name="KSO_WM_DIAGRAM_VIRTUALLY_FRAME" val="{&quot;height&quot;:240,&quot;left&quot;:60,&quot;top&quot;:160,&quot;width&quot;:860}"/>
</p:tagLst>
</file>

<file path=ppt/tags/tag37.xml><?xml version="1.0" encoding="utf-8"?>
<p:tagLst xmlns:p="http://schemas.openxmlformats.org/presentationml/2006/main">
  <p:tag name="KSO_WM_DIAGRAM_VIRTUALLY_FRAME" val="{&quot;height&quot;:240,&quot;left&quot;:60,&quot;top&quot;:160,&quot;width&quot;:860}"/>
</p:tagLst>
</file>

<file path=ppt/tags/tag38.xml><?xml version="1.0" encoding="utf-8"?>
<p:tagLst xmlns:p="http://schemas.openxmlformats.org/presentationml/2006/main">
  <p:tag name="KSO_WM_DIAGRAM_VIRTUALLY_FRAME" val="{&quot;height&quot;:240,&quot;left&quot;:60,&quot;top&quot;:160,&quot;width&quot;:860}"/>
</p:tagLst>
</file>

<file path=ppt/tags/tag39.xml><?xml version="1.0" encoding="utf-8"?>
<p:tagLst xmlns:p="http://schemas.openxmlformats.org/presentationml/2006/main">
  <p:tag name="KSO_WM_DIAGRAM_VIRTUALLY_FRAME" val="{&quot;height&quot;:240,&quot;left&quot;:60,&quot;top&quot;:160,&quot;width&quot;:860}"/>
</p:tagLst>
</file>

<file path=ppt/tags/tag40.xml><?xml version="1.0" encoding="utf-8"?>
<p:tagLst xmlns:p="http://schemas.openxmlformats.org/presentationml/2006/main">
  <p:tag name="KSO_WM_DIAGRAM_VIRTUALLY_FRAME" val="{&quot;height&quot;:240,&quot;left&quot;:60,&quot;top&quot;:160,&quot;width&quot;:860}"/>
</p:tagLst>
</file>

<file path=ppt/tags/tag41.xml><?xml version="1.0" encoding="utf-8"?>
<p:tagLst xmlns:p="http://schemas.openxmlformats.org/presentationml/2006/main">
  <p:tag name="KSO_WM_DIAGRAM_VIRTUALLY_FRAME" val="{&quot;height&quot;:240,&quot;left&quot;:60,&quot;top&quot;:160,&quot;width&quot;:860}"/>
</p:tagLst>
</file>

<file path=ppt/tags/tag42.xml><?xml version="1.0" encoding="utf-8"?>
<p:tagLst xmlns:p="http://schemas.openxmlformats.org/presentationml/2006/main">
  <p:tag name="KSO_WM_DIAGRAM_VIRTUALLY_FRAME" val="{&quot;height&quot;:240,&quot;left&quot;:60,&quot;top&quot;:160,&quot;width&quot;:860}"/>
</p:tagLst>
</file>

<file path=ppt/tags/tag43.xml><?xml version="1.0" encoding="utf-8"?>
<p:tagLst xmlns:p="http://schemas.openxmlformats.org/presentationml/2006/main">
  <p:tag name="KSO_WM_DIAGRAM_VIRTUALLY_FRAME" val="{&quot;height&quot;:240,&quot;left&quot;:60,&quot;top&quot;:160,&quot;width&quot;:860}"/>
</p:tagLst>
</file>

<file path=ppt/tags/tag44.xml><?xml version="1.0" encoding="utf-8"?>
<p:tagLst xmlns:p="http://schemas.openxmlformats.org/presentationml/2006/main">
  <p:tag name="KSO_WM_DIAGRAM_VIRTUALLY_FRAME" val="{&quot;height&quot;:240,&quot;left&quot;:60,&quot;top&quot;:160,&quot;width&quot;:860}"/>
</p:tagLst>
</file>

<file path=ppt/tags/tag45.xml><?xml version="1.0" encoding="utf-8"?>
<p:tagLst xmlns:p="http://schemas.openxmlformats.org/presentationml/2006/main">
  <p:tag name="KSO_WM_DIAGRAM_VIRTUALLY_FRAME" val="{&quot;height&quot;:240,&quot;left&quot;:60,&quot;top&quot;:160,&quot;width&quot;:860}"/>
</p:tagLst>
</file>

<file path=ppt/tags/tag46.xml><?xml version="1.0" encoding="utf-8"?>
<p:tagLst xmlns:p="http://schemas.openxmlformats.org/presentationml/2006/main">
  <p:tag name="KSO_WM_DIAGRAM_VIRTUALLY_FRAME" val="{&quot;height&quot;:240,&quot;left&quot;:60,&quot;top&quot;:160,&quot;width&quot;:860}"/>
</p:tagLst>
</file>

<file path=ppt/tags/tag47.xml><?xml version="1.0" encoding="utf-8"?>
<p:tagLst xmlns:p="http://schemas.openxmlformats.org/presentationml/2006/main">
  <p:tag name="KSO_WM_DIAGRAM_VIRTUALLY_FRAME" val="{&quot;height&quot;:240,&quot;left&quot;:60,&quot;top&quot;:160,&quot;width&quot;:860}"/>
</p:tagLst>
</file>

<file path=ppt/tags/tag48.xml><?xml version="1.0" encoding="utf-8"?>
<p:tagLst xmlns:p="http://schemas.openxmlformats.org/presentationml/2006/main">
  <p:tag name="KSO_WM_DIAGRAM_VIRTUALLY_FRAME" val="{&quot;height&quot;:240,&quot;left&quot;:60,&quot;top&quot;:160,&quot;width&quot;:860}"/>
</p:tagLst>
</file>

<file path=ppt/tags/tag49.xml><?xml version="1.0" encoding="utf-8"?>
<p:tagLst xmlns:p="http://schemas.openxmlformats.org/presentationml/2006/main">
  <p:tag name="KSO_WM_DIAGRAM_VIRTUALLY_FRAME" val="{&quot;height&quot;:240,&quot;left&quot;:60,&quot;top&quot;:160,&quot;width&quot;:860}"/>
</p:tagLst>
</file>

<file path=ppt/tags/tag50.xml><?xml version="1.0" encoding="utf-8"?>
<p:tagLst xmlns:p="http://schemas.openxmlformats.org/presentationml/2006/main">
  <p:tag name="KSO_WM_DIAGRAM_VIRTUALLY_FRAME" val="{&quot;height&quot;:240,&quot;left&quot;:60,&quot;top&quot;:160,&quot;width&quot;:860}"/>
</p:tagLst>
</file>

<file path=ppt/tags/tag51.xml><?xml version="1.0" encoding="utf-8"?>
<p:tagLst xmlns:p="http://schemas.openxmlformats.org/presentationml/2006/main">
  <p:tag name="KSO_WM_DIAGRAM_VIRTUALLY_FRAME" val="{&quot;height&quot;:240,&quot;left&quot;:60,&quot;top&quot;:160,&quot;width&quot;:860}"/>
</p:tagLst>
</file>

<file path=ppt/tags/tag52.xml><?xml version="1.0" encoding="utf-8"?>
<p:tagLst xmlns:p="http://schemas.openxmlformats.org/presentationml/2006/main">
  <p:tag name="KSO_WM_DIAGRAM_VIRTUALLY_FRAME" val="{&quot;height&quot;:240,&quot;left&quot;:60,&quot;top&quot;:160,&quot;width&quot;:860}"/>
</p:tagLst>
</file>

<file path=ppt/tags/tag53.xml><?xml version="1.0" encoding="utf-8"?>
<p:tagLst xmlns:p="http://schemas.openxmlformats.org/presentationml/2006/main">
  <p:tag name="KSO_WM_DIAGRAM_VIRTUALLY_FRAME" val="{&quot;height&quot;:375,&quot;left&quot;:60,&quot;top&quot;:130,&quot;width&quot;:450.05}"/>
</p:tagLst>
</file>

<file path=ppt/tags/tag54.xml><?xml version="1.0" encoding="utf-8"?>
<p:tagLst xmlns:p="http://schemas.openxmlformats.org/presentationml/2006/main">
  <p:tag name="KSO_WM_DIAGRAM_VIRTUALLY_FRAME" val="{&quot;height&quot;:375,&quot;left&quot;:60,&quot;top&quot;:130,&quot;width&quot;:450.05}"/>
</p:tagLst>
</file>

<file path=ppt/tags/tag55.xml><?xml version="1.0" encoding="utf-8"?>
<p:tagLst xmlns:p="http://schemas.openxmlformats.org/presentationml/2006/main">
  <p:tag name="KSO_WM_DIAGRAM_VIRTUALLY_FRAME" val="{&quot;height&quot;:375,&quot;left&quot;:60,&quot;top&quot;:130,&quot;width&quot;:450.05}"/>
</p:tagLst>
</file>

<file path=ppt/tags/tag56.xml><?xml version="1.0" encoding="utf-8"?>
<p:tagLst xmlns:p="http://schemas.openxmlformats.org/presentationml/2006/main">
  <p:tag name="KSO_WM_DIAGRAM_VIRTUALLY_FRAME" val="{&quot;height&quot;:375,&quot;left&quot;:60,&quot;top&quot;:130,&quot;width&quot;:450.05}"/>
</p:tagLst>
</file>

<file path=ppt/tags/tag57.xml><?xml version="1.0" encoding="utf-8"?>
<p:tagLst xmlns:p="http://schemas.openxmlformats.org/presentationml/2006/main">
  <p:tag name="KSO_WM_DIAGRAM_VIRTUALLY_FRAME" val="{&quot;height&quot;:375,&quot;left&quot;:60,&quot;top&quot;:130,&quot;width&quot;:450.05}"/>
</p:tagLst>
</file>

<file path=ppt/tags/tag58.xml><?xml version="1.0" encoding="utf-8"?>
<p:tagLst xmlns:p="http://schemas.openxmlformats.org/presentationml/2006/main">
  <p:tag name="KSO_WM_DIAGRAM_VIRTUALLY_FRAME" val="{&quot;height&quot;:375,&quot;left&quot;:60,&quot;top&quot;:130,&quot;width&quot;:450.05}"/>
</p:tagLst>
</file>

<file path=ppt/tags/tag59.xml><?xml version="1.0" encoding="utf-8"?>
<p:tagLst xmlns:p="http://schemas.openxmlformats.org/presentationml/2006/main">
  <p:tag name="KSO_WM_DIAGRAM_VIRTUALLY_FRAME" val="{&quot;height&quot;:375,&quot;left&quot;:60,&quot;top&quot;:130,&quot;width&quot;:450.05}"/>
</p:tagLst>
</file>

<file path=ppt/tags/tag60.xml><?xml version="1.0" encoding="utf-8"?>
<p:tagLst xmlns:p="http://schemas.openxmlformats.org/presentationml/2006/main">
  <p:tag name="KSO_WM_DIAGRAM_VIRTUALLY_FRAME" val="{&quot;height&quot;:375,&quot;left&quot;:60,&quot;top&quot;:130,&quot;width&quot;:450.05}"/>
</p:tagLst>
</file>

<file path=ppt/tags/tag61.xml><?xml version="1.0" encoding="utf-8"?>
<p:tagLst xmlns:p="http://schemas.openxmlformats.org/presentationml/2006/main">
  <p:tag name="KSO_WM_DIAGRAM_VIRTUALLY_FRAME" val="{&quot;height&quot;:375,&quot;left&quot;:60,&quot;top&quot;:130,&quot;width&quot;:450.05}"/>
</p:tagLst>
</file>

<file path=ppt/tags/tag62.xml><?xml version="1.0" encoding="utf-8"?>
<p:tagLst xmlns:p="http://schemas.openxmlformats.org/presentationml/2006/main">
  <p:tag name="KSO_WM_DIAGRAM_VIRTUALLY_FRAME" val="{&quot;height&quot;:375,&quot;left&quot;:60,&quot;top&quot;:130,&quot;width&quot;:450.05}"/>
</p:tagLst>
</file>

<file path=ppt/tags/tag63.xml><?xml version="1.0" encoding="utf-8"?>
<p:tagLst xmlns:p="http://schemas.openxmlformats.org/presentationml/2006/main">
  <p:tag name="KSO_WM_DIAGRAM_VIRTUALLY_FRAME" val="{&quot;height&quot;:375,&quot;left&quot;:60,&quot;top&quot;:130,&quot;width&quot;:450.05}"/>
</p:tagLst>
</file>

<file path=ppt/tags/tag64.xml><?xml version="1.0" encoding="utf-8"?>
<p:tagLst xmlns:p="http://schemas.openxmlformats.org/presentationml/2006/main">
  <p:tag name="KSO_WM_DIAGRAM_VIRTUALLY_FRAME" val="{&quot;height&quot;:375,&quot;left&quot;:60,&quot;top&quot;:130,&quot;width&quot;:450.05}"/>
</p:tagLst>
</file>

<file path=ppt/tags/tag65.xml><?xml version="1.0" encoding="utf-8"?>
<p:tagLst xmlns:p="http://schemas.openxmlformats.org/presentationml/2006/main">
  <p:tag name="KSO_WM_DIAGRAM_VIRTUALLY_FRAME" val="{&quot;height&quot;:375,&quot;left&quot;:60,&quot;top&quot;:130,&quot;width&quot;:450.05}"/>
</p:tagLst>
</file>

<file path=ppt/tags/tag66.xml><?xml version="1.0" encoding="utf-8"?>
<p:tagLst xmlns:p="http://schemas.openxmlformats.org/presentationml/2006/main">
  <p:tag name="KSO_WM_DIAGRAM_VIRTUALLY_FRAME" val="{&quot;height&quot;:375,&quot;left&quot;:60,&quot;top&quot;:130,&quot;width&quot;:450.05}"/>
</p:tagLst>
</file>

<file path=ppt/tags/tag67.xml><?xml version="1.0" encoding="utf-8"?>
<p:tagLst xmlns:p="http://schemas.openxmlformats.org/presentationml/2006/main">
  <p:tag name="KSO_WM_DIAGRAM_VIRTUALLY_FRAME" val="{&quot;height&quot;:350,&quot;left&quot;:21.15,&quot;top&quot;:130,&quot;width&quot;:888.85}"/>
</p:tagLst>
</file>

<file path=ppt/tags/tag68.xml><?xml version="1.0" encoding="utf-8"?>
<p:tagLst xmlns:p="http://schemas.openxmlformats.org/presentationml/2006/main">
  <p:tag name="KSO_WM_DIAGRAM_VIRTUALLY_FRAME" val="{&quot;height&quot;:350,&quot;left&quot;:21.15,&quot;top&quot;:130,&quot;width&quot;:888.85}"/>
</p:tagLst>
</file>

<file path=ppt/tags/tag69.xml><?xml version="1.0" encoding="utf-8"?>
<p:tagLst xmlns:p="http://schemas.openxmlformats.org/presentationml/2006/main">
  <p:tag name="KSO_WM_DIAGRAM_VIRTUALLY_FRAME" val="{&quot;height&quot;:350,&quot;left&quot;:21.15,&quot;top&quot;:130,&quot;width&quot;:888.85}"/>
</p:tagLst>
</file>

<file path=ppt/tags/tag70.xml><?xml version="1.0" encoding="utf-8"?>
<p:tagLst xmlns:p="http://schemas.openxmlformats.org/presentationml/2006/main">
  <p:tag name="KSO_WM_DIAGRAM_VIRTUALLY_FRAME" val="{&quot;height&quot;:350,&quot;left&quot;:21.15,&quot;top&quot;:130,&quot;width&quot;:888.85}"/>
</p:tagLst>
</file>

<file path=ppt/tags/tag71.xml><?xml version="1.0" encoding="utf-8"?>
<p:tagLst xmlns:p="http://schemas.openxmlformats.org/presentationml/2006/main">
  <p:tag name="KSO_WM_DIAGRAM_VIRTUALLY_FRAME" val="{&quot;height&quot;:350,&quot;left&quot;:21.15,&quot;top&quot;:130,&quot;width&quot;:888.85}"/>
</p:tagLst>
</file>

<file path=ppt/tags/tag72.xml><?xml version="1.0" encoding="utf-8"?>
<p:tagLst xmlns:p="http://schemas.openxmlformats.org/presentationml/2006/main">
  <p:tag name="KSO_WM_DIAGRAM_VIRTUALLY_FRAME" val="{&quot;height&quot;:350,&quot;left&quot;:21.15,&quot;top&quot;:130,&quot;width&quot;:888.85}"/>
</p:tagLst>
</file>

<file path=ppt/tags/tag73.xml><?xml version="1.0" encoding="utf-8"?>
<p:tagLst xmlns:p="http://schemas.openxmlformats.org/presentationml/2006/main">
  <p:tag name="KSO_WM_DIAGRAM_VIRTUALLY_FRAME" val="{&quot;height&quot;:350,&quot;left&quot;:21.15,&quot;top&quot;:130,&quot;width&quot;:888.85}"/>
</p:tagLst>
</file>

<file path=ppt/tags/tag74.xml><?xml version="1.0" encoding="utf-8"?>
<p:tagLst xmlns:p="http://schemas.openxmlformats.org/presentationml/2006/main">
  <p:tag name="KSO_WM_DIAGRAM_VIRTUALLY_FRAME" val="{&quot;height&quot;:350,&quot;left&quot;:21.15,&quot;top&quot;:130,&quot;width&quot;:888.85}"/>
</p:tagLst>
</file>

<file path=ppt/tags/tag75.xml><?xml version="1.0" encoding="utf-8"?>
<p:tagLst xmlns:p="http://schemas.openxmlformats.org/presentationml/2006/main">
  <p:tag name="KSO_WM_DIAGRAM_VIRTUALLY_FRAME" val="{&quot;height&quot;:350,&quot;left&quot;:21.15,&quot;top&quot;:130,&quot;width&quot;:888.85}"/>
</p:tagLst>
</file>

<file path=ppt/tags/tag76.xml><?xml version="1.0" encoding="utf-8"?>
<p:tagLst xmlns:p="http://schemas.openxmlformats.org/presentationml/2006/main">
  <p:tag name="KSO_WM_DIAGRAM_VIRTUALLY_FRAME" val="{&quot;height&quot;:350,&quot;left&quot;:21.15,&quot;top&quot;:130,&quot;width&quot;:888.85}"/>
</p:tagLst>
</file>

<file path=ppt/tags/tag77.xml><?xml version="1.0" encoding="utf-8"?>
<p:tagLst xmlns:p="http://schemas.openxmlformats.org/presentationml/2006/main">
  <p:tag name="KSO_WM_DIAGRAM_VIRTUALLY_FRAME" val="{&quot;height&quot;:350,&quot;left&quot;:21.15,&quot;top&quot;:130,&quot;width&quot;:888.85}"/>
</p:tagLst>
</file>

<file path=ppt/tags/tag78.xml><?xml version="1.0" encoding="utf-8"?>
<p:tagLst xmlns:p="http://schemas.openxmlformats.org/presentationml/2006/main">
  <p:tag name="KSO_WM_DIAGRAM_VIRTUALLY_FRAME" val="{&quot;height&quot;:350,&quot;left&quot;:21.15,&quot;top&quot;:130,&quot;width&quot;:888.85}"/>
</p:tagLst>
</file>

<file path=ppt/tags/tag79.xml><?xml version="1.0" encoding="utf-8"?>
<p:tagLst xmlns:p="http://schemas.openxmlformats.org/presentationml/2006/main">
  <p:tag name="KSO_WM_DIAGRAM_VIRTUALLY_FRAME" val="{&quot;height&quot;:380,&quot;left&quot;:60,&quot;top&quot;:120,&quot;width&quot;:840}"/>
</p:tagLst>
</file>

<file path=ppt/tags/tag80.xml><?xml version="1.0" encoding="utf-8"?>
<p:tagLst xmlns:p="http://schemas.openxmlformats.org/presentationml/2006/main">
  <p:tag name="KSO_WM_DIAGRAM_VIRTUALLY_FRAME" val="{&quot;height&quot;:380,&quot;left&quot;:60,&quot;top&quot;:120,&quot;width&quot;:840}"/>
</p:tagLst>
</file>

<file path=ppt/tags/tag81.xml><?xml version="1.0" encoding="utf-8"?>
<p:tagLst xmlns:p="http://schemas.openxmlformats.org/presentationml/2006/main">
  <p:tag name="KSO_WM_DIAGRAM_VIRTUALLY_FRAME" val="{&quot;height&quot;:380,&quot;left&quot;:60,&quot;top&quot;:120,&quot;width&quot;:840}"/>
</p:tagLst>
</file>

<file path=ppt/tags/tag82.xml><?xml version="1.0" encoding="utf-8"?>
<p:tagLst xmlns:p="http://schemas.openxmlformats.org/presentationml/2006/main">
  <p:tag name="KSO_WM_DIAGRAM_VIRTUALLY_FRAME" val="{&quot;height&quot;:380,&quot;left&quot;:60,&quot;top&quot;:120,&quot;width&quot;:840}"/>
</p:tagLst>
</file>

<file path=ppt/tags/tag83.xml><?xml version="1.0" encoding="utf-8"?>
<p:tagLst xmlns:p="http://schemas.openxmlformats.org/presentationml/2006/main">
  <p:tag name="KSO_WM_DIAGRAM_VIRTUALLY_FRAME" val="{&quot;height&quot;:380,&quot;left&quot;:60,&quot;top&quot;:120,&quot;width&quot;:840}"/>
</p:tagLst>
</file>

<file path=ppt/tags/tag84.xml><?xml version="1.0" encoding="utf-8"?>
<p:tagLst xmlns:p="http://schemas.openxmlformats.org/presentationml/2006/main">
  <p:tag name="KSO_WM_DIAGRAM_VIRTUALLY_FRAME" val="{&quot;height&quot;:380,&quot;left&quot;:60,&quot;top&quot;:120,&quot;width&quot;:840}"/>
</p:tagLst>
</file>

<file path=ppt/tags/tag85.xml><?xml version="1.0" encoding="utf-8"?>
<p:tagLst xmlns:p="http://schemas.openxmlformats.org/presentationml/2006/main">
  <p:tag name="KSO_WM_DIAGRAM_VIRTUALLY_FRAME" val="{&quot;height&quot;:380,&quot;left&quot;:60,&quot;top&quot;:120,&quot;width&quot;:840}"/>
</p:tagLst>
</file>

<file path=ppt/tags/tag86.xml><?xml version="1.0" encoding="utf-8"?>
<p:tagLst xmlns:p="http://schemas.openxmlformats.org/presentationml/2006/main">
  <p:tag name="KSO_WM_DIAGRAM_VIRTUALLY_FRAME" val="{&quot;height&quot;:380,&quot;left&quot;:60,&quot;top&quot;:120,&quot;width&quot;:840}"/>
</p:tagLst>
</file>

<file path=ppt/tags/tag87.xml><?xml version="1.0" encoding="utf-8"?>
<p:tagLst xmlns:p="http://schemas.openxmlformats.org/presentationml/2006/main">
  <p:tag name="KSO_WM_DIAGRAM_VIRTUALLY_FRAME" val="{&quot;height&quot;:380,&quot;left&quot;:60,&quot;top&quot;:120,&quot;width&quot;:840}"/>
</p:tagLst>
</file>

<file path=ppt/tags/tag88.xml><?xml version="1.0" encoding="utf-8"?>
<p:tagLst xmlns:p="http://schemas.openxmlformats.org/presentationml/2006/main">
  <p:tag name="KSO_WM_DIAGRAM_VIRTUALLY_FRAME" val="{&quot;height&quot;:380,&quot;left&quot;:60,&quot;top&quot;:120,&quot;width&quot;:840}"/>
</p:tagLst>
</file>

<file path=ppt/tags/tag89.xml><?xml version="1.0" encoding="utf-8"?>
<p:tagLst xmlns:p="http://schemas.openxmlformats.org/presentationml/2006/main">
  <p:tag name="resource_record_key" val="{&quot;10&quot;:[50062609,50059464]}"/>
</p:tagLst>
</file>

<file path=ppt/theme/theme1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4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5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7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8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9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1.xml><?xml version="1.0" encoding="utf-8"?>
<a:theme xmlns:a="http://schemas.openxmlformats.org/drawingml/2006/main" name="10_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2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7697</Words>
  <Application>WPS 演示</Application>
  <PresentationFormat>宽屏</PresentationFormat>
  <Paragraphs>475</Paragraphs>
  <Slides>32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11</vt:i4>
      </vt:variant>
      <vt:variant>
        <vt:lpstr>幻灯片标题</vt:lpstr>
      </vt:variant>
      <vt:variant>
        <vt:i4>32</vt:i4>
      </vt:variant>
    </vt:vector>
  </HeadingPairs>
  <TitlesOfParts>
    <vt:vector size="53" baseType="lpstr">
      <vt:lpstr>Arial</vt:lpstr>
      <vt:lpstr>宋体</vt:lpstr>
      <vt:lpstr>Wingdings</vt:lpstr>
      <vt:lpstr>Arial</vt:lpstr>
      <vt:lpstr>Noto Sans SC</vt:lpstr>
      <vt:lpstr>Wingdings</vt:lpstr>
      <vt:lpstr>微软雅黑</vt:lpstr>
      <vt:lpstr>Arial Unicode MS</vt:lpstr>
      <vt:lpstr>Times New Roman</vt:lpstr>
      <vt:lpstr>Consolas</vt:lpstr>
      <vt:lpstr>默认主题</vt:lpstr>
      <vt:lpstr>1_默认主题</vt:lpstr>
      <vt:lpstr>2_默认主题</vt:lpstr>
      <vt:lpstr>3_默认主题</vt:lpstr>
      <vt:lpstr>4_默认主题</vt:lpstr>
      <vt:lpstr>5_默认主题</vt:lpstr>
      <vt:lpstr>6_默认主题</vt:lpstr>
      <vt:lpstr>7_默认主题</vt:lpstr>
      <vt:lpstr>8_默认主题</vt:lpstr>
      <vt:lpstr>9_默认主题</vt:lpstr>
      <vt:lpstr>10_默认主题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RivenYe</dc:creator>
  <cp:lastModifiedBy>刘欢</cp:lastModifiedBy>
  <cp:revision>15</cp:revision>
  <dcterms:created xsi:type="dcterms:W3CDTF">2026-06-15T06:05:00Z</dcterms:created>
  <dcterms:modified xsi:type="dcterms:W3CDTF">2026-06-16T09:50:46Z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{"Label":"1","ContentProducer":"001191110102MACQD9K64010000","ProduceID":"7648940936239844316","ReservedCode1":"","ContentPropagator":"","PropagateID":"","ReservedCode2":""}</vt:lpwstr>
  </property>
  <property fmtid="{D5CDD505-2E9C-101B-9397-08002B2CF9AE}" pid="3" name="KSOProductBuildVer">
    <vt:lpwstr>2052-12.1.0.26895</vt:lpwstr>
  </property>
  <property fmtid="{D5CDD505-2E9C-101B-9397-08002B2CF9AE}" pid="4" name="ICV">
    <vt:lpwstr>2D209015CB344F628E5AF788A7075636_12</vt:lpwstr>
  </property>
</Properties>
</file>